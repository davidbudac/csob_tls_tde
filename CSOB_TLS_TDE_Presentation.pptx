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76" r:id="rId27"/>
    <p:sldId id="277" r:id="rId28"/>
    <p:sldId id="267" r:id="rId13"/>
    <p:sldId id="268" r:id="rId14"/>
    <p:sldId id="269" r:id="rId15"/>
    <p:sldId id="270" r:id="rId16"/>
    <p:sldId id="271" r:id="rId17"/>
    <p:sldId id="272" r:id="rId18"/>
    <p:sldId id="273" r:id="rId19"/>
    <p:sldId id="278" r:id="rId29"/>
    <p:sldId id="279" r:id="rId30"/>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4.xml"/><Relationship Id="rId14" Type="http://schemas.openxmlformats.org/officeDocument/2006/relationships/slide" Target="slides/slide15.xml"/><Relationship Id="rId15" Type="http://schemas.openxmlformats.org/officeDocument/2006/relationships/slide" Target="slides/slide16.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3.xml"/><Relationship Id="rId21" Type="http://schemas.openxmlformats.org/officeDocument/2006/relationships/slide" Target="slides/slide24.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21.xml"/><Relationship Id="rId30"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frame: this is a greenfield rollout of two encryption controls across a large Oracle 19c estate. No TLS and no TDE anywhere today. Both are regulatory-driven (DORA, PCI). The key message I'll repeat: TLS and TDE are run as two separate tracks. ~30 minutes, roughly half TLS, half TDE, then rollout and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roadmap. I'll spend a couple of minutes on shared context, then go deep on TLS, then TDE, then close with the rollout plan and the concrete actions I need from this group. If you only remember one structural point: these are two independent workstreams that happen to run at the same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constraints that shape every decision downstream. Two matter most technically: AIX on POWER, because the crypto acceleration story is different from x86 and we must measure TDE overhead rather than assume it; and Data Guard everywhere, because wallet sync and encrypted redo apply drive both tracks. Licensing: ASO is already paid for, so TDE has no cost barrier — OKV is a separate business case we'll come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most important design decision, so I give it its own slide. TLS and TDE share almost nothing operationally. If we bundle them into one change we double the blast radius and make rollback ambiguous. Note the asymmetry at the bottom of each card: TLS is fully reversible during coexistence; TDE must be planned as forward-only because any backup taken after encryption needs the key forever. Keep that distinction in mind for the rest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TLS track. I'll cover what TLS gives us versus what we have today, the key design choices, exactly what's been built in the runbook and scripts, the pitfalls we hit and verified live, the native-encryption interim option, and then the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'what': TLS encrypts the SQL*Net wire AND authenticates the server via a CA-issued certificate — that second half is what native encryption can't give us, and what regulators increasingly expect. The 'how' at the bottom is dual-port coexistence: we don't do a big-bang cutover. We stand up 2484 alongside 1521 and let apps move one at a time. The gate to close 1521 is evidence of zero cleartext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conventions baked into the scripts so every DB is configured identically. The two I'd flag to a security reviewer: we pin TLS 1.2 by default because native 1.3 support in the DB stack only landed around 19.23 and can fail the handshake on lower RUs — we enable 1.3 per host only after verifying. And the wallet separation rule: TLS certificates and TDE master keys live in different wallets, different directories, different lifecycles. Never merged.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coverage of the TLS runbook plus the script templates. The point I want to land: it's not just 'turn on TCPS on the server' — the whole client surface is documented. Java thin via a JKS truststore is the recommended, wallet-free path. OCI, ORDS, DB links and Data Guard redo transport each have their own recipe. Rotation is zero-downtime for the listener via lsnrctl reload, with expiry monitoring so a cert never lapses silently. Everything is backed by the three tls scripts.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cost real time in testing, and they're now written down so no one on the fleet re-discovers them. The first is the classic: everything looks configured, the handshake succeeds, then the session dies with ORA-28865 — because the dedicated server process, not the listener, holds the session up and it reads sqlnet.ora. The SEPS conflict is a landmine on Data Guard hosts that already use a password store. These were verified live, not theory.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pragmatic point for the sponsors. Migrating hundreds of connect strings takes months. Native network encryption is free and needs only a server-side change to encrypt every session in AES256 — it closes the cleartext finding almost immediately. But it authenticates nothing, so it is explicitly an interim, not the destination. If TLS can move fast enough we skip it entirely; otherwise it buys us cover while the PKI work proceeds.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concrete TLS asks. Two are dependencies on other teams and are on the critical path: the CA process must support SANs, and app teams must start migrating early because that's the long pole. The sqlnet.ora audit is cheap insurance against the SEPS landmine. And we need a sponsor decision on whether to switch on native encryption as an immediate stopgap.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TDE track — data at rest. The stakes here are different from TLS: TLS is reversible and low-risk; TDE is forward-only and the keys are catastrophic to lose. So key management gets its own decision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mental model for TDE is two tiers. The data keys — one per tablespace — live inside the datafile headers and actually encrypt the blocks. The master key lives outside the database in the keystore and only wraps those data keys. That's the whole reason key management is separate: the data keys travel with the data, but the master key is the crown jewel. Two consequences drive every operational rule: lose the keystore and the data is gone, no exceptions; and rotating the master key is cheap because it re-wraps, it doesn't re-encrypt — but you can therefore never delete an old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decision that lets the whole track start. The correct end state for a regulated bank is Oracle Key Vault — central custody, audit, rotation, optional HSM root of trust. But OKV is a separate licence and an appliance we don't have yet. So we start with local software keystores, which are fully compliant as an at-rest control and have no procurement dependency. The critical enabler is at the bottom: because we standardise the WALLET_ROOT conventions now, moving to OKV later is a scripted one-liner per database, not hundreds of bespoke migrations. And it's reversible. So 'start local' is not a trap.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TDE deliverable is a five-script SQL chain plus the Data Guard sync helper, matching the runbook order: configure WALLET_ROOT, create the keystore and first key, encrypt tablespaces online, verify, rotate. Note script 03 doesn't auto-run — it generates the ALTER statements for review so we can throttle one tablespace at a time and watch standby lag. The bottom band is the fleet standard: united keystore with per-PDB keys, new tablespaces born encrypted, and documented paths for the system tablespaces so we get full coverage, not just app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Encrypting existing data isn't one method — it's a decision per database. Online is zero-downtime but generates redo equal to the whole tablespace, which on Data Guard means a big transport-and-apply spike. Offline is minimal-redo but takes the tablespace down; it's mandatory for SYSTEM/SYSAUX/UNDO. The starred row, standby-first, is our default for large DG databases: convert the standby offline, switch over, convert the old primary — near-zero downtime and no redo storm. Small databases can just be rebuilt via Data Pump.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Honesty slide. The full script chain was executed end-to-end on a 19.27 CDB, so the mechanics are proven — including a couple of real gotchas like FILE_NAME_CONVERT=NONE failing on OMF, and CONTAINER=ALL rotation leaving keys untagged, which matters for audit. What we deliberately have NOT proven is anything AIX- or RU-specific. The big one is performance: POWER's crypto path is different from x86 AES-NI and we must measure, not assume. These four open items feed straight into the pilot.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TDE asks. The custody and backup items are non-negotiable — the entire security value of TDE collapses if the key sits next to the ciphertext, or if we lose it. The pilot baseline is how we de-risk the AIX performance unknown. And we need a steer on the OKV business case: we can run compliant on local keystores indefinitely, but the central-audit story only fully arrives with OKV.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pilot-first, then environment waves, each gated by the last. Two things to internalise. First, the pilot's real job isn't just proving runbooks — it's capturing the AIX/POWER performance baseline before we commit the fleet. Second, on the TLS side the application migration is the long pole; it runs in parallel under coexistence but it, not the DBA work, sets the production timeline. The right-hand gates apply to every wave: DG health, keystore backups, cert monitoring.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Pull it together. Both tracks have documented runbooks and script templates; TLS is verified live and TDE's chain is verified on 19.27 with the AIX-specific items deliberately deferred to the pilot. The four next steps are what unblocks production: schedule the pilot on real POWER hardware, confirm the CA can do SANs, get sponsor decisions on the native-encryption interim and OKV, and get the app teams moving now because they're the long pole. Then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1.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1.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slideLayout" Target="../slideLayouts/slideLayout1.xml"/><Relationship Id="rId11"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slideLayout" Target="../slideLayouts/slideLayout1.xml"/><Relationship Id="rId9"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slideLayout" Target="../slideLayouts/slideLayout1.xml"/><Relationship Id="rId9"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slideLayout" Target="../slideLayouts/slideLayout1.xml"/><Relationship Id="rId1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slideLayout" Target="../slideLayouts/slideLayout1.xml"/><Relationship Id="rId10"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1.png"/></Relationships>
</file>

<file path=ppt/slides/_rels/slide23.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image" Target="../media/image-19-8.png"/><Relationship Id="rId9" Type="http://schemas.openxmlformats.org/officeDocument/2006/relationships/slideLayout" Target="../slideLayouts/slideLayout1.xml"/><Relationship Id="rId10"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23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2223F"/>
          </a:solidFill>
          <a:ln/>
        </p:spPr>
        <p:txBody>
          <a:bodyPr/>
          <a:p/>
        </p:txBody>
      </p:sp>
      <p:sp>
        <p:nvSpPr>
          <p:cNvPr id="3" name="Shape 1"/>
          <p:cNvSpPr/>
          <p:nvPr/>
        </p:nvSpPr>
        <p:spPr>
          <a:xfrm>
            <a:off x="566928" y="1234440"/>
            <a:ext cx="822960" cy="822960"/>
          </a:xfrm>
          <a:prstGeom prst="ellipse">
            <a:avLst/>
          </a:prstGeom>
          <a:solidFill>
            <a:srgbClr val="0F8B85"/>
          </a:solidFill>
          <a:ln/>
        </p:spPr>
        <p:txBody>
          <a:bodyPr/>
          <a:p/>
        </p:txBody>
      </p:sp>
      <p:pic>
        <p:nvPicPr>
          <p:cNvPr id="4" name="Image 0" descr="preencoded.png">    </p:cNvPr>
          <p:cNvPicPr>
            <a:picLocks noChangeAspect="1"/>
          </p:cNvPicPr>
          <p:nvPr/>
        </p:nvPicPr>
        <p:blipFill>
          <a:blip r:embed="rId1"/>
          <a:stretch>
            <a:fillRect/>
          </a:stretch>
        </p:blipFill>
        <p:spPr>
          <a:xfrm>
            <a:off x="780898" y="1448410"/>
            <a:ext cx="395021" cy="395021"/>
          </a:xfrm>
          <a:prstGeom prst="rect">
            <a:avLst/>
          </a:prstGeom>
        </p:spPr>
      </p:pic>
      <p:sp>
        <p:nvSpPr>
          <p:cNvPr id="5" name="Shape 2"/>
          <p:cNvSpPr/>
          <p:nvPr/>
        </p:nvSpPr>
        <p:spPr>
          <a:xfrm>
            <a:off x="1527048" y="1234440"/>
            <a:ext cx="822960" cy="822960"/>
          </a:xfrm>
          <a:prstGeom prst="ellipse">
            <a:avLst/>
          </a:prstGeom>
          <a:solidFill>
            <a:srgbClr val="C6881B"/>
          </a:solidFill>
          <a:ln/>
        </p:spPr>
        <p:txBody>
          <a:bodyPr/>
          <a:p/>
        </p:txBody>
      </p:sp>
      <p:pic>
        <p:nvPicPr>
          <p:cNvPr id="6" name="Image 1" descr="preencoded.png">    </p:cNvPr>
          <p:cNvPicPr>
            <a:picLocks noChangeAspect="1"/>
          </p:cNvPicPr>
          <p:nvPr/>
        </p:nvPicPr>
        <p:blipFill>
          <a:blip r:embed="rId2"/>
          <a:stretch>
            <a:fillRect/>
          </a:stretch>
        </p:blipFill>
        <p:spPr>
          <a:xfrm>
            <a:off x="1741018" y="1448410"/>
            <a:ext cx="395021" cy="395021"/>
          </a:xfrm>
          <a:prstGeom prst="rect">
            <a:avLst/>
          </a:prstGeom>
        </p:spPr>
      </p:pic>
      <p:sp>
        <p:nvSpPr>
          <p:cNvPr id="7" name="Text 3"/>
          <p:cNvSpPr/>
          <p:nvPr/>
        </p:nvSpPr>
        <p:spPr>
          <a:xfrm>
            <a:off x="566928" y="2331720"/>
            <a:ext cx="11057839" cy="320040"/>
          </a:xfrm>
          <a:prstGeom prst="rect">
            <a:avLst/>
          </a:prstGeom>
          <a:noFill/>
          <a:ln/>
        </p:spPr>
        <p:txBody>
          <a:bodyPr wrap="square" lIns="0" tIns="0" rIns="0" bIns="0" rtlCol="0" anchor="ctr"/>
          <a:lstStyle/>
          <a:p>
            <a:pPr indent="0" marL="0">
              <a:buNone/>
            </a:pPr>
            <a:r>
              <a:rPr lang="en-US" sz="1300" b="1" spc="200" kern="0" dirty="0">
                <a:solidFill>
                  <a:srgbClr val="0F8B85"/>
                </a:solidFill>
                <a:latin typeface="Calibri" pitchFamily="34" charset="0"/>
                <a:ea typeface="Calibri" pitchFamily="34" charset="-122"/>
                <a:cs typeface="Calibri" pitchFamily="34" charset="-120"/>
              </a:rPr>
              <a:t>ORACLE 19.30 EE FLEET  ·  AIX 7.2 / POWER  ·  NON-RAC  ·  DATA GUARD</a:t>
            </a:r>
            <a:endParaRPr lang="en-US" sz="1300" dirty="0"/>
          </a:p>
        </p:txBody>
      </p:sp>
      <p:sp>
        <p:nvSpPr>
          <p:cNvPr id="8" name="Text 4"/>
          <p:cNvSpPr/>
          <p:nvPr/>
        </p:nvSpPr>
        <p:spPr>
          <a:xfrm>
            <a:off x="566928" y="2651760"/>
            <a:ext cx="11057839"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Encrypting the Oracle Fleet</a:t>
            </a:r>
            <a:endParaRPr lang="en-US" sz="4800" dirty="0"/>
          </a:p>
        </p:txBody>
      </p:sp>
      <p:sp>
        <p:nvSpPr>
          <p:cNvPr id="9" name="Text 5"/>
          <p:cNvSpPr/>
          <p:nvPr/>
        </p:nvSpPr>
        <p:spPr>
          <a:xfrm>
            <a:off x="566928" y="3611880"/>
            <a:ext cx="11057839" cy="548640"/>
          </a:xfrm>
          <a:prstGeom prst="rect">
            <a:avLst/>
          </a:prstGeom>
          <a:noFill/>
          <a:ln/>
        </p:spPr>
        <p:txBody>
          <a:bodyPr wrap="square" lIns="0" tIns="0" rIns="0" bIns="0" rtlCol="0" anchor="ctr"/>
          <a:lstStyle/>
          <a:p>
            <a:pPr indent="0" marL="0">
              <a:buNone/>
            </a:pPr>
            <a:r>
              <a:rPr lang="en-US" sz="3000" b="1" i="1" dirty="0">
                <a:solidFill>
                  <a:srgbClr val="0F8B85"/>
                </a:solidFill>
                <a:latin typeface="Cambria" pitchFamily="34" charset="0"/>
                <a:ea typeface="Cambria" pitchFamily="34" charset="-122"/>
                <a:cs typeface="Cambria" pitchFamily="34" charset="-120"/>
              </a:rPr>
              <a:t>TLS in transit</a:t>
            </a:r>
            <a:pPr indent="0" marL="0">
              <a:buNone/>
            </a:pPr>
            <a:r>
              <a:rPr lang="en-US" sz="3000" i="1" dirty="0">
                <a:solidFill>
                  <a:srgbClr val="8194A8"/>
                </a:solidFill>
                <a:latin typeface="Cambria" pitchFamily="34" charset="0"/>
                <a:ea typeface="Cambria" pitchFamily="34" charset="-122"/>
                <a:cs typeface="Cambria" pitchFamily="34" charset="-120"/>
              </a:rPr>
              <a:t>   &amp;   </a:t>
            </a:r>
            <a:pPr indent="0" marL="0">
              <a:buNone/>
            </a:pPr>
            <a:r>
              <a:rPr lang="en-US" sz="3000" b="1" i="1" dirty="0">
                <a:solidFill>
                  <a:srgbClr val="C6881B"/>
                </a:solidFill>
                <a:latin typeface="Cambria" pitchFamily="34" charset="0"/>
                <a:ea typeface="Cambria" pitchFamily="34" charset="-122"/>
                <a:cs typeface="Cambria" pitchFamily="34" charset="-120"/>
              </a:rPr>
              <a:t>TDE at rest</a:t>
            </a:r>
            <a:endParaRPr lang="en-US" sz="3000" dirty="0"/>
          </a:p>
        </p:txBody>
      </p:sp>
      <p:sp>
        <p:nvSpPr>
          <p:cNvPr id="10" name="Text 6"/>
          <p:cNvSpPr/>
          <p:nvPr/>
        </p:nvSpPr>
        <p:spPr>
          <a:xfrm>
            <a:off x="566928" y="4343400"/>
            <a:ext cx="9601200" cy="822960"/>
          </a:xfrm>
          <a:prstGeom prst="rect">
            <a:avLst/>
          </a:prstGeom>
          <a:noFill/>
          <a:ln/>
        </p:spPr>
        <p:txBody>
          <a:bodyPr wrap="square" lIns="0" tIns="0" rIns="0" bIns="0" rtlCol="0" anchor="ctr"/>
          <a:lstStyle/>
          <a:p>
            <a:pPr indent="0" marL="0">
              <a:lnSpc>
                <a:spcPct val="115000"/>
              </a:lnSpc>
              <a:buNone/>
            </a:pPr>
            <a:r>
              <a:rPr lang="en-US" sz="1500" dirty="0">
                <a:solidFill>
                  <a:srgbClr val="C7D2E0"/>
                </a:solidFill>
                <a:latin typeface="Calibri" pitchFamily="34" charset="0"/>
                <a:ea typeface="Calibri" pitchFamily="34" charset="-122"/>
                <a:cs typeface="Calibri" pitchFamily="34" charset="-120"/>
              </a:rPr>
              <a:t>A fleet-wide programme to close the cleartext-network and unencrypted-datafile findings — two independent, parallel security tracks with runbooks, script templates and a phased rollout.</a:t>
            </a:r>
            <a:endParaRPr lang="en-US" sz="1500" dirty="0"/>
          </a:p>
        </p:txBody>
      </p:sp>
      <p:sp>
        <p:nvSpPr>
          <p:cNvPr id="11" name="Text 7"/>
          <p:cNvSpPr/>
          <p:nvPr/>
        </p:nvSpPr>
        <p:spPr>
          <a:xfrm>
            <a:off x="566928" y="6172200"/>
            <a:ext cx="11057839" cy="274320"/>
          </a:xfrm>
          <a:prstGeom prst="rect">
            <a:avLst/>
          </a:prstGeom>
          <a:noFill/>
          <a:ln/>
        </p:spPr>
        <p:txBody>
          <a:bodyPr wrap="square" lIns="0" tIns="0" rIns="0" bIns="0" rtlCol="0" anchor="ctr"/>
          <a:lstStyle/>
          <a:p>
            <a:pPr indent="0" marL="0">
              <a:buNone/>
            </a:pPr>
            <a:r>
              <a:rPr lang="en-US" sz="1200" dirty="0">
                <a:solidFill>
                  <a:srgbClr val="8194A8"/>
                </a:solidFill>
                <a:latin typeface="Calibri" pitchFamily="34" charset="0"/>
                <a:ea typeface="Calibri" pitchFamily="34" charset="-122"/>
                <a:cs typeface="Calibri" pitchFamily="34" charset="-120"/>
              </a:rPr>
              <a:t>Programme overview  ·  30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12223F"/>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12223F"/>
                </a:solidFill>
                <a:latin typeface="Calibri" pitchFamily="34" charset="0"/>
                <a:ea typeface="Calibri" pitchFamily="34" charset="-122"/>
                <a:cs typeface="Calibri" pitchFamily="34" charset="-120"/>
              </a:rPr>
              <a:t>HOW THIS SESSION IS STRUCTURED</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Agenda</a:t>
            </a:r>
            <a:endParaRPr lang="en-US" sz="2700" dirty="0"/>
          </a:p>
        </p:txBody>
      </p:sp>
      <p:sp>
        <p:nvSpPr>
          <p:cNvPr id="6" name="Shape 3"/>
          <p:cNvSpPr/>
          <p:nvPr/>
        </p:nvSpPr>
        <p:spPr>
          <a:xfrm>
            <a:off x="566928" y="1783080"/>
            <a:ext cx="11057839" cy="1060704"/>
          </a:xfrm>
          <a:prstGeom prst="roundRect">
            <a:avLst>
              <a:gd name="adj" fmla="val 689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Text 4"/>
          <p:cNvSpPr/>
          <p:nvPr/>
        </p:nvSpPr>
        <p:spPr>
          <a:xfrm>
            <a:off x="795528" y="1783080"/>
            <a:ext cx="822960" cy="1060704"/>
          </a:xfrm>
          <a:prstGeom prst="rect">
            <a:avLst/>
          </a:prstGeom>
          <a:noFill/>
          <a:ln/>
        </p:spPr>
        <p:txBody>
          <a:bodyPr wrap="square" lIns="0" tIns="0" rIns="0" bIns="0" rtlCol="0" anchor="ctr"/>
          <a:lstStyle/>
          <a:p>
            <a:pPr algn="ctr" indent="0" marL="0">
              <a:buNone/>
            </a:pPr>
            <a:r>
              <a:rPr lang="en-US" sz="4000" b="1" dirty="0">
                <a:solidFill>
                  <a:srgbClr val="12223F"/>
                </a:solidFill>
                <a:latin typeface="Cambria" pitchFamily="34" charset="0"/>
                <a:ea typeface="Cambria" pitchFamily="34" charset="-122"/>
                <a:cs typeface="Cambria" pitchFamily="34" charset="-120"/>
              </a:rPr>
              <a:t>1</a:t>
            </a:r>
            <a:endParaRPr lang="en-US" sz="4000" dirty="0"/>
          </a:p>
        </p:txBody>
      </p:sp>
      <p:sp>
        <p:nvSpPr>
          <p:cNvPr id="8" name="Shape 5"/>
          <p:cNvSpPr/>
          <p:nvPr/>
        </p:nvSpPr>
        <p:spPr>
          <a:xfrm>
            <a:off x="1709928" y="2011680"/>
            <a:ext cx="603504" cy="603504"/>
          </a:xfrm>
          <a:prstGeom prst="ellipse">
            <a:avLst/>
          </a:prstGeom>
          <a:solidFill>
            <a:srgbClr val="12223F"/>
          </a:solidFill>
          <a:ln/>
        </p:spPr>
        <p:txBody>
          <a:bodyPr/>
          <a:p/>
        </p:txBody>
      </p:sp>
      <p:pic>
        <p:nvPicPr>
          <p:cNvPr id="9" name="Image 1" descr="preencoded.png">    </p:cNvPr>
          <p:cNvPicPr>
            <a:picLocks noChangeAspect="1"/>
          </p:cNvPicPr>
          <p:nvPr/>
        </p:nvPicPr>
        <p:blipFill>
          <a:blip r:embed="rId2"/>
          <a:stretch>
            <a:fillRect/>
          </a:stretch>
        </p:blipFill>
        <p:spPr>
          <a:xfrm>
            <a:off x="1866839" y="2168591"/>
            <a:ext cx="289682" cy="289682"/>
          </a:xfrm>
          <a:prstGeom prst="rect">
            <a:avLst/>
          </a:prstGeom>
        </p:spPr>
      </p:pic>
      <p:sp>
        <p:nvSpPr>
          <p:cNvPr id="10" name="Text 6"/>
          <p:cNvSpPr/>
          <p:nvPr/>
        </p:nvSpPr>
        <p:spPr>
          <a:xfrm>
            <a:off x="2532888" y="1965960"/>
            <a:ext cx="8778240" cy="411480"/>
          </a:xfrm>
          <a:prstGeom prst="rect">
            <a:avLst/>
          </a:prstGeom>
          <a:noFill/>
          <a:ln/>
        </p:spPr>
        <p:txBody>
          <a:bodyPr wrap="square" lIns="0" tIns="0" rIns="0" bIns="0" rtlCol="0" anchor="ctr"/>
          <a:lstStyle/>
          <a:p>
            <a:pPr indent="0" marL="0">
              <a:buNone/>
            </a:pPr>
            <a:r>
              <a:rPr lang="en-US" sz="2000" b="1" dirty="0">
                <a:solidFill>
                  <a:srgbClr val="1C2A3E"/>
                </a:solidFill>
                <a:latin typeface="Cambria" pitchFamily="34" charset="0"/>
                <a:ea typeface="Cambria" pitchFamily="34" charset="-122"/>
                <a:cs typeface="Cambria" pitchFamily="34" charset="-120"/>
              </a:rPr>
              <a:t>Programme context</a:t>
            </a:r>
            <a:endParaRPr lang="en-US" sz="2000" dirty="0"/>
          </a:p>
        </p:txBody>
      </p:sp>
      <p:sp>
        <p:nvSpPr>
          <p:cNvPr id="11" name="Text 7"/>
          <p:cNvSpPr/>
          <p:nvPr/>
        </p:nvSpPr>
        <p:spPr>
          <a:xfrm>
            <a:off x="2532888" y="2350008"/>
            <a:ext cx="8778240" cy="365760"/>
          </a:xfrm>
          <a:prstGeom prst="rect">
            <a:avLst/>
          </a:prstGeom>
          <a:noFill/>
          <a:ln/>
        </p:spPr>
        <p:txBody>
          <a:bodyPr wrap="square" lIns="0" tIns="0" rIns="0" bIns="0" rtlCol="0" anchor="ctr"/>
          <a:lstStyle/>
          <a:p>
            <a:pPr indent="0" marL="0">
              <a:buNone/>
            </a:pPr>
            <a:r>
              <a:rPr lang="en-US" sz="1350" dirty="0">
                <a:solidFill>
                  <a:srgbClr val="44586E"/>
                </a:solidFill>
                <a:latin typeface="Calibri" pitchFamily="34" charset="0"/>
                <a:ea typeface="Calibri" pitchFamily="34" charset="-122"/>
                <a:cs typeface="Calibri" pitchFamily="34" charset="-120"/>
              </a:rPr>
              <a:t>Drivers, environment, the two-track principle</a:t>
            </a:r>
            <a:endParaRPr lang="en-US" sz="1350" dirty="0"/>
          </a:p>
        </p:txBody>
      </p:sp>
      <p:sp>
        <p:nvSpPr>
          <p:cNvPr id="12" name="Shape 8"/>
          <p:cNvSpPr/>
          <p:nvPr/>
        </p:nvSpPr>
        <p:spPr>
          <a:xfrm>
            <a:off x="566928" y="2990088"/>
            <a:ext cx="11057839" cy="1060704"/>
          </a:xfrm>
          <a:prstGeom prst="roundRect">
            <a:avLst>
              <a:gd name="adj" fmla="val 689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3" name="Text 9"/>
          <p:cNvSpPr/>
          <p:nvPr/>
        </p:nvSpPr>
        <p:spPr>
          <a:xfrm>
            <a:off x="795528" y="2990088"/>
            <a:ext cx="822960" cy="1060704"/>
          </a:xfrm>
          <a:prstGeom prst="rect">
            <a:avLst/>
          </a:prstGeom>
          <a:noFill/>
          <a:ln/>
        </p:spPr>
        <p:txBody>
          <a:bodyPr wrap="square" lIns="0" tIns="0" rIns="0" bIns="0" rtlCol="0" anchor="ctr"/>
          <a:lstStyle/>
          <a:p>
            <a:pPr algn="ctr" indent="0" marL="0">
              <a:buNone/>
            </a:pPr>
            <a:r>
              <a:rPr lang="en-US" sz="4000" b="1" dirty="0">
                <a:solidFill>
                  <a:srgbClr val="0F8B85"/>
                </a:solidFill>
                <a:latin typeface="Cambria" pitchFamily="34" charset="0"/>
                <a:ea typeface="Cambria" pitchFamily="34" charset="-122"/>
                <a:cs typeface="Cambria" pitchFamily="34" charset="-120"/>
              </a:rPr>
              <a:t>2</a:t>
            </a:r>
            <a:endParaRPr lang="en-US" sz="4000" dirty="0"/>
          </a:p>
        </p:txBody>
      </p:sp>
      <p:sp>
        <p:nvSpPr>
          <p:cNvPr id="14" name="Shape 10"/>
          <p:cNvSpPr/>
          <p:nvPr/>
        </p:nvSpPr>
        <p:spPr>
          <a:xfrm>
            <a:off x="1709928" y="3218688"/>
            <a:ext cx="603504" cy="603504"/>
          </a:xfrm>
          <a:prstGeom prst="ellipse">
            <a:avLst/>
          </a:prstGeom>
          <a:solidFill>
            <a:srgbClr val="0F8B85"/>
          </a:solidFill>
          <a:ln/>
        </p:spPr>
        <p:txBody>
          <a:bodyPr/>
          <a:p/>
        </p:txBody>
      </p:sp>
      <p:pic>
        <p:nvPicPr>
          <p:cNvPr id="15" name="Image 2" descr="preencoded.png">    </p:cNvPr>
          <p:cNvPicPr>
            <a:picLocks noChangeAspect="1"/>
          </p:cNvPicPr>
          <p:nvPr/>
        </p:nvPicPr>
        <p:blipFill>
          <a:blip r:embed="rId3"/>
          <a:stretch>
            <a:fillRect/>
          </a:stretch>
        </p:blipFill>
        <p:spPr>
          <a:xfrm>
            <a:off x="1866839" y="3375599"/>
            <a:ext cx="289682" cy="289682"/>
          </a:xfrm>
          <a:prstGeom prst="rect">
            <a:avLst/>
          </a:prstGeom>
        </p:spPr>
      </p:pic>
      <p:sp>
        <p:nvSpPr>
          <p:cNvPr id="16" name="Text 11"/>
          <p:cNvSpPr/>
          <p:nvPr/>
        </p:nvSpPr>
        <p:spPr>
          <a:xfrm>
            <a:off x="2532888" y="3172968"/>
            <a:ext cx="8778240" cy="411480"/>
          </a:xfrm>
          <a:prstGeom prst="rect">
            <a:avLst/>
          </a:prstGeom>
          <a:noFill/>
          <a:ln/>
        </p:spPr>
        <p:txBody>
          <a:bodyPr wrap="square" lIns="0" tIns="0" rIns="0" bIns="0" rtlCol="0" anchor="ctr"/>
          <a:lstStyle/>
          <a:p>
            <a:pPr indent="0" marL="0">
              <a:buNone/>
            </a:pPr>
            <a:r>
              <a:rPr lang="en-US" sz="2000" b="1" dirty="0">
                <a:solidFill>
                  <a:srgbClr val="1C2A3E"/>
                </a:solidFill>
                <a:latin typeface="Cambria" pitchFamily="34" charset="0"/>
                <a:ea typeface="Cambria" pitchFamily="34" charset="-122"/>
                <a:cs typeface="Cambria" pitchFamily="34" charset="-120"/>
              </a:rPr>
              <a:t>TLS — data in transit</a:t>
            </a:r>
            <a:endParaRPr lang="en-US" sz="2000" dirty="0"/>
          </a:p>
        </p:txBody>
      </p:sp>
      <p:sp>
        <p:nvSpPr>
          <p:cNvPr id="17" name="Text 12"/>
          <p:cNvSpPr/>
          <p:nvPr/>
        </p:nvSpPr>
        <p:spPr>
          <a:xfrm>
            <a:off x="2532888" y="3557016"/>
            <a:ext cx="8778240" cy="365760"/>
          </a:xfrm>
          <a:prstGeom prst="rect">
            <a:avLst/>
          </a:prstGeom>
          <a:noFill/>
          <a:ln/>
        </p:spPr>
        <p:txBody>
          <a:bodyPr wrap="square" lIns="0" tIns="0" rIns="0" bIns="0" rtlCol="0" anchor="ctr"/>
          <a:lstStyle/>
          <a:p>
            <a:pPr indent="0" marL="0">
              <a:buNone/>
            </a:pPr>
            <a:r>
              <a:rPr lang="en-US" sz="1350" dirty="0">
                <a:solidFill>
                  <a:srgbClr val="44586E"/>
                </a:solidFill>
                <a:latin typeface="Calibri" pitchFamily="34" charset="0"/>
                <a:ea typeface="Calibri" pitchFamily="34" charset="-122"/>
                <a:cs typeface="Calibri" pitchFamily="34" charset="-120"/>
              </a:rPr>
              <a:t>What it is · what's built · lessons · actions</a:t>
            </a:r>
            <a:endParaRPr lang="en-US" sz="1350" dirty="0"/>
          </a:p>
        </p:txBody>
      </p:sp>
      <p:sp>
        <p:nvSpPr>
          <p:cNvPr id="18" name="Shape 13"/>
          <p:cNvSpPr/>
          <p:nvPr/>
        </p:nvSpPr>
        <p:spPr>
          <a:xfrm>
            <a:off x="566928" y="4197096"/>
            <a:ext cx="11057839" cy="1060704"/>
          </a:xfrm>
          <a:prstGeom prst="roundRect">
            <a:avLst>
              <a:gd name="adj" fmla="val 689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9" name="Text 14"/>
          <p:cNvSpPr/>
          <p:nvPr/>
        </p:nvSpPr>
        <p:spPr>
          <a:xfrm>
            <a:off x="795528" y="4197096"/>
            <a:ext cx="822960" cy="1060704"/>
          </a:xfrm>
          <a:prstGeom prst="rect">
            <a:avLst/>
          </a:prstGeom>
          <a:noFill/>
          <a:ln/>
        </p:spPr>
        <p:txBody>
          <a:bodyPr wrap="square" lIns="0" tIns="0" rIns="0" bIns="0" rtlCol="0" anchor="ctr"/>
          <a:lstStyle/>
          <a:p>
            <a:pPr algn="ctr" indent="0" marL="0">
              <a:buNone/>
            </a:pPr>
            <a:r>
              <a:rPr lang="en-US" sz="4000" b="1" dirty="0">
                <a:solidFill>
                  <a:srgbClr val="C6881B"/>
                </a:solidFill>
                <a:latin typeface="Cambria" pitchFamily="34" charset="0"/>
                <a:ea typeface="Cambria" pitchFamily="34" charset="-122"/>
                <a:cs typeface="Cambria" pitchFamily="34" charset="-120"/>
              </a:rPr>
              <a:t>3</a:t>
            </a:r>
            <a:endParaRPr lang="en-US" sz="4000" dirty="0"/>
          </a:p>
        </p:txBody>
      </p:sp>
      <p:sp>
        <p:nvSpPr>
          <p:cNvPr id="20" name="Shape 15"/>
          <p:cNvSpPr/>
          <p:nvPr/>
        </p:nvSpPr>
        <p:spPr>
          <a:xfrm>
            <a:off x="1709928" y="4425696"/>
            <a:ext cx="603504" cy="603504"/>
          </a:xfrm>
          <a:prstGeom prst="ellipse">
            <a:avLst/>
          </a:prstGeom>
          <a:solidFill>
            <a:srgbClr val="C6881B"/>
          </a:solidFill>
          <a:ln/>
        </p:spPr>
        <p:txBody>
          <a:bodyPr/>
          <a:p/>
        </p:txBody>
      </p:sp>
      <p:pic>
        <p:nvPicPr>
          <p:cNvPr id="21" name="Image 3" descr="preencoded.png">    </p:cNvPr>
          <p:cNvPicPr>
            <a:picLocks noChangeAspect="1"/>
          </p:cNvPicPr>
          <p:nvPr/>
        </p:nvPicPr>
        <p:blipFill>
          <a:blip r:embed="rId4"/>
          <a:stretch>
            <a:fillRect/>
          </a:stretch>
        </p:blipFill>
        <p:spPr>
          <a:xfrm>
            <a:off x="1866839" y="4582607"/>
            <a:ext cx="289682" cy="289682"/>
          </a:xfrm>
          <a:prstGeom prst="rect">
            <a:avLst/>
          </a:prstGeom>
        </p:spPr>
      </p:pic>
      <p:sp>
        <p:nvSpPr>
          <p:cNvPr id="22" name="Text 16"/>
          <p:cNvSpPr/>
          <p:nvPr/>
        </p:nvSpPr>
        <p:spPr>
          <a:xfrm>
            <a:off x="2532888" y="4379976"/>
            <a:ext cx="8778240" cy="411480"/>
          </a:xfrm>
          <a:prstGeom prst="rect">
            <a:avLst/>
          </a:prstGeom>
          <a:noFill/>
          <a:ln/>
        </p:spPr>
        <p:txBody>
          <a:bodyPr wrap="square" lIns="0" tIns="0" rIns="0" bIns="0" rtlCol="0" anchor="ctr"/>
          <a:lstStyle/>
          <a:p>
            <a:pPr indent="0" marL="0">
              <a:buNone/>
            </a:pPr>
            <a:r>
              <a:rPr lang="en-US" sz="2000" b="1" dirty="0">
                <a:solidFill>
                  <a:srgbClr val="1C2A3E"/>
                </a:solidFill>
                <a:latin typeface="Cambria" pitchFamily="34" charset="0"/>
                <a:ea typeface="Cambria" pitchFamily="34" charset="-122"/>
                <a:cs typeface="Cambria" pitchFamily="34" charset="-120"/>
              </a:rPr>
              <a:t>TDE — data at rest</a:t>
            </a:r>
            <a:endParaRPr lang="en-US" sz="2000" dirty="0"/>
          </a:p>
        </p:txBody>
      </p:sp>
      <p:sp>
        <p:nvSpPr>
          <p:cNvPr id="23" name="Text 17"/>
          <p:cNvSpPr/>
          <p:nvPr/>
        </p:nvSpPr>
        <p:spPr>
          <a:xfrm>
            <a:off x="2532888" y="4764024"/>
            <a:ext cx="8778240" cy="365760"/>
          </a:xfrm>
          <a:prstGeom prst="rect">
            <a:avLst/>
          </a:prstGeom>
          <a:noFill/>
          <a:ln/>
        </p:spPr>
        <p:txBody>
          <a:bodyPr wrap="square" lIns="0" tIns="0" rIns="0" bIns="0" rtlCol="0" anchor="ctr"/>
          <a:lstStyle/>
          <a:p>
            <a:pPr indent="0" marL="0">
              <a:buNone/>
            </a:pPr>
            <a:r>
              <a:rPr lang="en-US" sz="1350" dirty="0">
                <a:solidFill>
                  <a:srgbClr val="44586E"/>
                </a:solidFill>
                <a:latin typeface="Calibri" pitchFamily="34" charset="0"/>
                <a:ea typeface="Calibri" pitchFamily="34" charset="-122"/>
                <a:cs typeface="Calibri" pitchFamily="34" charset="-120"/>
              </a:rPr>
              <a:t>What it is · key management · what's built · actions</a:t>
            </a:r>
            <a:endParaRPr lang="en-US" sz="1350" dirty="0"/>
          </a:p>
        </p:txBody>
      </p:sp>
      <p:sp>
        <p:nvSpPr>
          <p:cNvPr id="24" name="Shape 18"/>
          <p:cNvSpPr/>
          <p:nvPr/>
        </p:nvSpPr>
        <p:spPr>
          <a:xfrm>
            <a:off x="566928" y="5404104"/>
            <a:ext cx="11057839" cy="1060704"/>
          </a:xfrm>
          <a:prstGeom prst="roundRect">
            <a:avLst>
              <a:gd name="adj" fmla="val 689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5" name="Text 19"/>
          <p:cNvSpPr/>
          <p:nvPr/>
        </p:nvSpPr>
        <p:spPr>
          <a:xfrm>
            <a:off x="795528" y="5404104"/>
            <a:ext cx="822960" cy="1060704"/>
          </a:xfrm>
          <a:prstGeom prst="rect">
            <a:avLst/>
          </a:prstGeom>
          <a:noFill/>
          <a:ln/>
        </p:spPr>
        <p:txBody>
          <a:bodyPr wrap="square" lIns="0" tIns="0" rIns="0" bIns="0" rtlCol="0" anchor="ctr"/>
          <a:lstStyle/>
          <a:p>
            <a:pPr algn="ctr" indent="0" marL="0">
              <a:buNone/>
            </a:pPr>
            <a:r>
              <a:rPr lang="en-US" sz="4000" b="1" dirty="0">
                <a:solidFill>
                  <a:srgbClr val="12223F"/>
                </a:solidFill>
                <a:latin typeface="Cambria" pitchFamily="34" charset="0"/>
                <a:ea typeface="Cambria" pitchFamily="34" charset="-122"/>
                <a:cs typeface="Cambria" pitchFamily="34" charset="-120"/>
              </a:rPr>
              <a:t>4</a:t>
            </a:r>
            <a:endParaRPr lang="en-US" sz="4000" dirty="0"/>
          </a:p>
        </p:txBody>
      </p:sp>
      <p:sp>
        <p:nvSpPr>
          <p:cNvPr id="26" name="Shape 20"/>
          <p:cNvSpPr/>
          <p:nvPr/>
        </p:nvSpPr>
        <p:spPr>
          <a:xfrm>
            <a:off x="1709928" y="5632704"/>
            <a:ext cx="603504" cy="603504"/>
          </a:xfrm>
          <a:prstGeom prst="ellipse">
            <a:avLst/>
          </a:prstGeom>
          <a:solidFill>
            <a:srgbClr val="12223F"/>
          </a:solidFill>
          <a:ln/>
        </p:spPr>
        <p:txBody>
          <a:bodyPr/>
          <a:p/>
        </p:txBody>
      </p:sp>
      <p:pic>
        <p:nvPicPr>
          <p:cNvPr id="27" name="Image 4" descr="preencoded.png">    </p:cNvPr>
          <p:cNvPicPr>
            <a:picLocks noChangeAspect="1"/>
          </p:cNvPicPr>
          <p:nvPr/>
        </p:nvPicPr>
        <p:blipFill>
          <a:blip r:embed="rId5"/>
          <a:stretch>
            <a:fillRect/>
          </a:stretch>
        </p:blipFill>
        <p:spPr>
          <a:xfrm>
            <a:off x="1866839" y="5789615"/>
            <a:ext cx="289682" cy="289682"/>
          </a:xfrm>
          <a:prstGeom prst="rect">
            <a:avLst/>
          </a:prstGeom>
        </p:spPr>
      </p:pic>
      <p:sp>
        <p:nvSpPr>
          <p:cNvPr id="28" name="Text 21"/>
          <p:cNvSpPr/>
          <p:nvPr/>
        </p:nvSpPr>
        <p:spPr>
          <a:xfrm>
            <a:off x="2532888" y="5586984"/>
            <a:ext cx="8778240" cy="411480"/>
          </a:xfrm>
          <a:prstGeom prst="rect">
            <a:avLst/>
          </a:prstGeom>
          <a:noFill/>
          <a:ln/>
        </p:spPr>
        <p:txBody>
          <a:bodyPr wrap="square" lIns="0" tIns="0" rIns="0" bIns="0" rtlCol="0" anchor="ctr"/>
          <a:lstStyle/>
          <a:p>
            <a:pPr indent="0" marL="0">
              <a:buNone/>
            </a:pPr>
            <a:r>
              <a:rPr lang="en-US" sz="2000" b="1" dirty="0">
                <a:solidFill>
                  <a:srgbClr val="1C2A3E"/>
                </a:solidFill>
                <a:latin typeface="Cambria" pitchFamily="34" charset="0"/>
                <a:ea typeface="Cambria" pitchFamily="34" charset="-122"/>
                <a:cs typeface="Cambria" pitchFamily="34" charset="-120"/>
              </a:rPr>
              <a:t>Rollout &amp; next steps</a:t>
            </a:r>
            <a:endParaRPr lang="en-US" sz="2000" dirty="0"/>
          </a:p>
        </p:txBody>
      </p:sp>
      <p:sp>
        <p:nvSpPr>
          <p:cNvPr id="29" name="Text 22"/>
          <p:cNvSpPr/>
          <p:nvPr/>
        </p:nvSpPr>
        <p:spPr>
          <a:xfrm>
            <a:off x="2532888" y="5971032"/>
            <a:ext cx="8778240" cy="365760"/>
          </a:xfrm>
          <a:prstGeom prst="rect">
            <a:avLst/>
          </a:prstGeom>
          <a:noFill/>
          <a:ln/>
        </p:spPr>
        <p:txBody>
          <a:bodyPr wrap="square" lIns="0" tIns="0" rIns="0" bIns="0" rtlCol="0" anchor="ctr"/>
          <a:lstStyle/>
          <a:p>
            <a:pPr indent="0" marL="0">
              <a:buNone/>
            </a:pPr>
            <a:r>
              <a:rPr lang="en-US" sz="1350" dirty="0">
                <a:solidFill>
                  <a:srgbClr val="44586E"/>
                </a:solidFill>
                <a:latin typeface="Calibri" pitchFamily="34" charset="0"/>
                <a:ea typeface="Calibri" pitchFamily="34" charset="-122"/>
                <a:cs typeface="Calibri" pitchFamily="34" charset="-120"/>
              </a:rPr>
              <a:t>Wave model, pilot, consolidated action points</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12223F"/>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12223F"/>
                </a:solidFill>
                <a:latin typeface="Calibri" pitchFamily="34" charset="0"/>
                <a:ea typeface="Calibri" pitchFamily="34" charset="-122"/>
                <a:cs typeface="Calibri" pitchFamily="34" charset="-120"/>
              </a:rPr>
              <a:t>WHY NOW, AND WHAT WE'RE WORKING WITH</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Programme context</a:t>
            </a:r>
            <a:endParaRPr lang="en-US" sz="2700" dirty="0"/>
          </a:p>
        </p:txBody>
      </p:sp>
      <p:sp>
        <p:nvSpPr>
          <p:cNvPr id="6" name="Shape 3"/>
          <p:cNvSpPr/>
          <p:nvPr/>
        </p:nvSpPr>
        <p:spPr>
          <a:xfrm>
            <a:off x="566928" y="1783080"/>
            <a:ext cx="5212080" cy="4480560"/>
          </a:xfrm>
          <a:prstGeom prst="roundRect">
            <a:avLst>
              <a:gd name="adj" fmla="val 1633"/>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822960" y="2011680"/>
            <a:ext cx="512064" cy="512064"/>
          </a:xfrm>
          <a:prstGeom prst="ellipse">
            <a:avLst/>
          </a:prstGeom>
          <a:solidFill>
            <a:srgbClr val="12223F"/>
          </a:solidFill>
          <a:ln/>
        </p:spPr>
        <p:txBody>
          <a:bodyPr/>
          <a:p/>
        </p:txBody>
      </p:sp>
      <p:pic>
        <p:nvPicPr>
          <p:cNvPr id="8" name="Image 1" descr="preencoded.png">    </p:cNvPr>
          <p:cNvPicPr>
            <a:picLocks noChangeAspect="1"/>
          </p:cNvPicPr>
          <p:nvPr/>
        </p:nvPicPr>
        <p:blipFill>
          <a:blip r:embed="rId2"/>
          <a:stretch>
            <a:fillRect/>
          </a:stretch>
        </p:blipFill>
        <p:spPr>
          <a:xfrm>
            <a:off x="956097" y="2144817"/>
            <a:ext cx="245791" cy="245791"/>
          </a:xfrm>
          <a:prstGeom prst="rect">
            <a:avLst/>
          </a:prstGeom>
        </p:spPr>
      </p:pic>
      <p:sp>
        <p:nvSpPr>
          <p:cNvPr id="9" name="Text 5"/>
          <p:cNvSpPr/>
          <p:nvPr/>
        </p:nvSpPr>
        <p:spPr>
          <a:xfrm>
            <a:off x="1435608" y="2011680"/>
            <a:ext cx="4206240" cy="512064"/>
          </a:xfrm>
          <a:prstGeom prst="rect">
            <a:avLst/>
          </a:prstGeom>
          <a:noFill/>
          <a:ln/>
        </p:spPr>
        <p:txBody>
          <a:bodyPr wrap="square" lIns="0" tIns="0" rIns="0" bIns="0" rtlCol="0" anchor="ctr"/>
          <a:lstStyle/>
          <a:p>
            <a:pPr indent="0" marL="0">
              <a:buNone/>
            </a:pPr>
            <a:r>
              <a:rPr lang="en-US" sz="1900" b="1" dirty="0">
                <a:solidFill>
                  <a:srgbClr val="1C2A3E"/>
                </a:solidFill>
                <a:latin typeface="Cambria" pitchFamily="34" charset="0"/>
                <a:ea typeface="Cambria" pitchFamily="34" charset="-122"/>
                <a:cs typeface="Cambria" pitchFamily="34" charset="-120"/>
              </a:rPr>
              <a:t>Drivers</a:t>
            </a:r>
            <a:endParaRPr lang="en-US" sz="1900" dirty="0"/>
          </a:p>
        </p:txBody>
      </p:sp>
      <p:pic>
        <p:nvPicPr>
          <p:cNvPr id="10" name="Image 2" descr="preencoded.png">    </p:cNvPr>
          <p:cNvPicPr>
            <a:picLocks noChangeAspect="1"/>
          </p:cNvPicPr>
          <p:nvPr/>
        </p:nvPicPr>
        <p:blipFill>
          <a:blip r:embed="rId3"/>
          <a:stretch>
            <a:fillRect/>
          </a:stretch>
        </p:blipFill>
        <p:spPr>
          <a:xfrm>
            <a:off x="841248" y="2724912"/>
            <a:ext cx="219456" cy="219456"/>
          </a:xfrm>
          <a:prstGeom prst="rect">
            <a:avLst/>
          </a:prstGeom>
        </p:spPr>
      </p:pic>
      <p:sp>
        <p:nvSpPr>
          <p:cNvPr id="11" name="Text 6"/>
          <p:cNvSpPr/>
          <p:nvPr/>
        </p:nvSpPr>
        <p:spPr>
          <a:xfrm>
            <a:off x="1170432" y="2651760"/>
            <a:ext cx="4343400" cy="822960"/>
          </a:xfrm>
          <a:prstGeom prst="rect">
            <a:avLst/>
          </a:prstGeom>
          <a:noFill/>
          <a:ln/>
        </p:spPr>
        <p:txBody>
          <a:bodyPr wrap="square" lIns="0" tIns="0" rIns="0" bIns="0" rtlCol="0" anchor="t"/>
          <a:lstStyle/>
          <a:p>
            <a:pPr indent="0" marL="0">
              <a:lnSpc>
                <a:spcPct val="102000"/>
              </a:lnSpc>
              <a:buNone/>
            </a:pPr>
            <a:r>
              <a:rPr lang="en-US" sz="1250" b="1" dirty="0">
                <a:solidFill>
                  <a:srgbClr val="1C2A3E"/>
                </a:solidFill>
                <a:latin typeface="Calibri" pitchFamily="34" charset="0"/>
                <a:ea typeface="Calibri" pitchFamily="34" charset="-122"/>
                <a:cs typeface="Calibri" pitchFamily="34" charset="-120"/>
              </a:rPr>
              <a:t>DORA  </a:t>
            </a:r>
            <a:pPr indent="0" marL="0">
              <a:lnSpc>
                <a:spcPct val="102000"/>
              </a:lnSpc>
              <a:buNone/>
            </a:pPr>
            <a:r>
              <a:rPr lang="en-US" sz="1250" dirty="0">
                <a:solidFill>
                  <a:srgbClr val="44586E"/>
                </a:solidFill>
                <a:latin typeface="Calibri" pitchFamily="34" charset="0"/>
                <a:ea typeface="Calibri" pitchFamily="34" charset="-122"/>
                <a:cs typeface="Calibri" pitchFamily="34" charset="-120"/>
              </a:rPr>
              <a:t>Encryption of data at rest &amp; in transit; demonstrable key management and resilience</a:t>
            </a:r>
            <a:endParaRPr lang="en-US" sz="1250" dirty="0"/>
          </a:p>
        </p:txBody>
      </p:sp>
      <p:pic>
        <p:nvPicPr>
          <p:cNvPr id="12" name="Image 3" descr="preencoded.png">    </p:cNvPr>
          <p:cNvPicPr>
            <a:picLocks noChangeAspect="1"/>
          </p:cNvPicPr>
          <p:nvPr/>
        </p:nvPicPr>
        <p:blipFill>
          <a:blip r:embed="rId4"/>
          <a:stretch>
            <a:fillRect/>
          </a:stretch>
        </p:blipFill>
        <p:spPr>
          <a:xfrm>
            <a:off x="841248" y="3611880"/>
            <a:ext cx="219456" cy="219456"/>
          </a:xfrm>
          <a:prstGeom prst="rect">
            <a:avLst/>
          </a:prstGeom>
        </p:spPr>
      </p:pic>
      <p:sp>
        <p:nvSpPr>
          <p:cNvPr id="13" name="Text 7"/>
          <p:cNvSpPr/>
          <p:nvPr/>
        </p:nvSpPr>
        <p:spPr>
          <a:xfrm>
            <a:off x="1170432" y="3538728"/>
            <a:ext cx="4343400" cy="822960"/>
          </a:xfrm>
          <a:prstGeom prst="rect">
            <a:avLst/>
          </a:prstGeom>
          <a:noFill/>
          <a:ln/>
        </p:spPr>
        <p:txBody>
          <a:bodyPr wrap="square" lIns="0" tIns="0" rIns="0" bIns="0" rtlCol="0" anchor="t"/>
          <a:lstStyle/>
          <a:p>
            <a:pPr indent="0" marL="0">
              <a:lnSpc>
                <a:spcPct val="102000"/>
              </a:lnSpc>
              <a:buNone/>
            </a:pPr>
            <a:r>
              <a:rPr lang="en-US" sz="1250" b="1" dirty="0">
                <a:solidFill>
                  <a:srgbClr val="1C2A3E"/>
                </a:solidFill>
                <a:latin typeface="Calibri" pitchFamily="34" charset="0"/>
                <a:ea typeface="Calibri" pitchFamily="34" charset="-122"/>
                <a:cs typeface="Calibri" pitchFamily="34" charset="-120"/>
              </a:rPr>
              <a:t>PCI-DSS-style  </a:t>
            </a:r>
            <a:pPr indent="0" marL="0">
              <a:lnSpc>
                <a:spcPct val="102000"/>
              </a:lnSpc>
              <a:buNone/>
            </a:pPr>
            <a:r>
              <a:rPr lang="en-US" sz="1250" dirty="0">
                <a:solidFill>
                  <a:srgbClr val="44586E"/>
                </a:solidFill>
                <a:latin typeface="Calibri" pitchFamily="34" charset="0"/>
                <a:ea typeface="Calibri" pitchFamily="34" charset="-122"/>
                <a:cs typeface="Calibri" pitchFamily="34" charset="-120"/>
              </a:rPr>
              <a:t>Sensitive data encrypted on the wire and rendered unreadable at rest; documented key lifecycle</a:t>
            </a:r>
            <a:endParaRPr lang="en-US" sz="1250" dirty="0"/>
          </a:p>
        </p:txBody>
      </p:sp>
      <p:pic>
        <p:nvPicPr>
          <p:cNvPr id="14" name="Image 4" descr="preencoded.png">    </p:cNvPr>
          <p:cNvPicPr>
            <a:picLocks noChangeAspect="1"/>
          </p:cNvPicPr>
          <p:nvPr/>
        </p:nvPicPr>
        <p:blipFill>
          <a:blip r:embed="rId5"/>
          <a:stretch>
            <a:fillRect/>
          </a:stretch>
        </p:blipFill>
        <p:spPr>
          <a:xfrm>
            <a:off x="841248" y="4498848"/>
            <a:ext cx="219456" cy="219456"/>
          </a:xfrm>
          <a:prstGeom prst="rect">
            <a:avLst/>
          </a:prstGeom>
        </p:spPr>
      </p:pic>
      <p:sp>
        <p:nvSpPr>
          <p:cNvPr id="15" name="Text 8"/>
          <p:cNvSpPr/>
          <p:nvPr/>
        </p:nvSpPr>
        <p:spPr>
          <a:xfrm>
            <a:off x="1170432" y="4425696"/>
            <a:ext cx="4343400" cy="822960"/>
          </a:xfrm>
          <a:prstGeom prst="rect">
            <a:avLst/>
          </a:prstGeom>
          <a:noFill/>
          <a:ln/>
        </p:spPr>
        <p:txBody>
          <a:bodyPr wrap="square" lIns="0" tIns="0" rIns="0" bIns="0" rtlCol="0" anchor="t"/>
          <a:lstStyle/>
          <a:p>
            <a:pPr indent="0" marL="0">
              <a:lnSpc>
                <a:spcPct val="102000"/>
              </a:lnSpc>
              <a:buNone/>
            </a:pPr>
            <a:r>
              <a:rPr lang="en-US" sz="1250" b="1" dirty="0">
                <a:solidFill>
                  <a:srgbClr val="1C2A3E"/>
                </a:solidFill>
                <a:latin typeface="Calibri" pitchFamily="34" charset="0"/>
                <a:ea typeface="Calibri" pitchFamily="34" charset="-122"/>
                <a:cs typeface="Calibri" pitchFamily="34" charset="-120"/>
              </a:rPr>
              <a:t>Bank security policy  </a:t>
            </a:r>
            <a:pPr indent="0" marL="0">
              <a:lnSpc>
                <a:spcPct val="102000"/>
              </a:lnSpc>
              <a:buNone/>
            </a:pPr>
            <a:r>
              <a:rPr lang="en-US" sz="1250" dirty="0">
                <a:solidFill>
                  <a:srgbClr val="44586E"/>
                </a:solidFill>
                <a:latin typeface="Calibri" pitchFamily="34" charset="0"/>
                <a:ea typeface="Calibri" pitchFamily="34" charset="-122"/>
                <a:cs typeface="Calibri" pitchFamily="34" charset="-120"/>
              </a:rPr>
              <a:t>Confidential data encrypted; separation of duties for key custody; auditable crypto</a:t>
            </a:r>
            <a:endParaRPr lang="en-US" sz="1250" dirty="0"/>
          </a:p>
        </p:txBody>
      </p:sp>
      <p:pic>
        <p:nvPicPr>
          <p:cNvPr id="16" name="Image 5" descr="preencoded.png">    </p:cNvPr>
          <p:cNvPicPr>
            <a:picLocks noChangeAspect="1"/>
          </p:cNvPicPr>
          <p:nvPr/>
        </p:nvPicPr>
        <p:blipFill>
          <a:blip r:embed="rId6"/>
          <a:stretch>
            <a:fillRect/>
          </a:stretch>
        </p:blipFill>
        <p:spPr>
          <a:xfrm>
            <a:off x="841248" y="5385816"/>
            <a:ext cx="219456" cy="219456"/>
          </a:xfrm>
          <a:prstGeom prst="rect">
            <a:avLst/>
          </a:prstGeom>
        </p:spPr>
      </p:pic>
      <p:sp>
        <p:nvSpPr>
          <p:cNvPr id="17" name="Text 9"/>
          <p:cNvSpPr/>
          <p:nvPr/>
        </p:nvSpPr>
        <p:spPr>
          <a:xfrm>
            <a:off x="1170432" y="5312664"/>
            <a:ext cx="4343400" cy="822960"/>
          </a:xfrm>
          <a:prstGeom prst="rect">
            <a:avLst/>
          </a:prstGeom>
          <a:noFill/>
          <a:ln/>
        </p:spPr>
        <p:txBody>
          <a:bodyPr wrap="square" lIns="0" tIns="0" rIns="0" bIns="0" rtlCol="0" anchor="t"/>
          <a:lstStyle/>
          <a:p>
            <a:pPr indent="0" marL="0">
              <a:lnSpc>
                <a:spcPct val="102000"/>
              </a:lnSpc>
              <a:buNone/>
            </a:pPr>
            <a:r>
              <a:rPr lang="en-US" sz="1250" b="1" dirty="0">
                <a:solidFill>
                  <a:srgbClr val="1C2A3E"/>
                </a:solidFill>
                <a:latin typeface="Calibri" pitchFamily="34" charset="0"/>
                <a:ea typeface="Calibri" pitchFamily="34" charset="-122"/>
                <a:cs typeface="Calibri" pitchFamily="34" charset="-120"/>
              </a:rPr>
              <a:t>Audit / regulator findings  </a:t>
            </a:r>
            <a:pPr indent="0" marL="0">
              <a:lnSpc>
                <a:spcPct val="102000"/>
              </a:lnSpc>
              <a:buNone/>
            </a:pPr>
            <a:r>
              <a:rPr lang="en-US" sz="1250" dirty="0">
                <a:solidFill>
                  <a:srgbClr val="44586E"/>
                </a:solidFill>
                <a:latin typeface="Calibri" pitchFamily="34" charset="0"/>
                <a:ea typeface="Calibri" pitchFamily="34" charset="-122"/>
                <a:cs typeface="Calibri" pitchFamily="34" charset="-120"/>
              </a:rPr>
              <a:t>Cleartext SQL*Net and unencrypted datafiles are recurring findings — closed fleet-wide</a:t>
            </a:r>
            <a:endParaRPr lang="en-US" sz="1250" dirty="0"/>
          </a:p>
        </p:txBody>
      </p:sp>
      <p:sp>
        <p:nvSpPr>
          <p:cNvPr id="18" name="Text 10"/>
          <p:cNvSpPr/>
          <p:nvPr/>
        </p:nvSpPr>
        <p:spPr>
          <a:xfrm>
            <a:off x="6099048" y="1737360"/>
            <a:ext cx="5525719" cy="365760"/>
          </a:xfrm>
          <a:prstGeom prst="rect">
            <a:avLst/>
          </a:prstGeom>
          <a:noFill/>
          <a:ln/>
        </p:spPr>
        <p:txBody>
          <a:bodyPr wrap="square" lIns="0" tIns="0" rIns="0" bIns="0" rtlCol="0" anchor="ctr"/>
          <a:lstStyle/>
          <a:p>
            <a:pPr indent="0" marL="0">
              <a:buNone/>
            </a:pPr>
            <a:r>
              <a:rPr lang="en-US" sz="1900" b="1" dirty="0">
                <a:solidFill>
                  <a:srgbClr val="1C2A3E"/>
                </a:solidFill>
                <a:latin typeface="Cambria" pitchFamily="34" charset="0"/>
                <a:ea typeface="Cambria" pitchFamily="34" charset="-122"/>
                <a:cs typeface="Cambria" pitchFamily="34" charset="-120"/>
              </a:rPr>
              <a:t>The estate</a:t>
            </a:r>
            <a:endParaRPr lang="en-US" sz="1900" dirty="0"/>
          </a:p>
        </p:txBody>
      </p:sp>
      <p:sp>
        <p:nvSpPr>
          <p:cNvPr id="19" name="Shape 11"/>
          <p:cNvSpPr/>
          <p:nvPr/>
        </p:nvSpPr>
        <p:spPr>
          <a:xfrm>
            <a:off x="6099048" y="2148840"/>
            <a:ext cx="2648560" cy="1170432"/>
          </a:xfrm>
          <a:prstGeom prst="roundRect">
            <a:avLst>
              <a:gd name="adj" fmla="val 6250"/>
            </a:avLst>
          </a:prstGeom>
          <a:solidFill>
            <a:srgbClr val="FFFFF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0" name="Text 12"/>
          <p:cNvSpPr/>
          <p:nvPr/>
        </p:nvSpPr>
        <p:spPr>
          <a:xfrm>
            <a:off x="6281928" y="2276856"/>
            <a:ext cx="2282800" cy="384048"/>
          </a:xfrm>
          <a:prstGeom prst="rect">
            <a:avLst/>
          </a:prstGeom>
          <a:noFill/>
          <a:ln/>
        </p:spPr>
        <p:txBody>
          <a:bodyPr wrap="square" lIns="0" tIns="0" rIns="0" bIns="0" rtlCol="0" anchor="ctr"/>
          <a:lstStyle/>
          <a:p>
            <a:pPr indent="0" marL="0">
              <a:buNone/>
            </a:pPr>
            <a:r>
              <a:rPr lang="en-US" sz="1800" b="1" dirty="0">
                <a:solidFill>
                  <a:srgbClr val="12223F"/>
                </a:solidFill>
                <a:latin typeface="Cambria" pitchFamily="34" charset="0"/>
                <a:ea typeface="Cambria" pitchFamily="34" charset="-122"/>
                <a:cs typeface="Cambria" pitchFamily="34" charset="-120"/>
              </a:rPr>
              <a:t>19.30 EE</a:t>
            </a:r>
            <a:endParaRPr lang="en-US" sz="1800" dirty="0"/>
          </a:p>
        </p:txBody>
      </p:sp>
      <p:sp>
        <p:nvSpPr>
          <p:cNvPr id="21" name="Text 13"/>
          <p:cNvSpPr/>
          <p:nvPr/>
        </p:nvSpPr>
        <p:spPr>
          <a:xfrm>
            <a:off x="6281928" y="2660904"/>
            <a:ext cx="2282800" cy="566928"/>
          </a:xfrm>
          <a:prstGeom prst="rect">
            <a:avLst/>
          </a:prstGeom>
          <a:noFill/>
          <a:ln/>
        </p:spPr>
        <p:txBody>
          <a:bodyPr wrap="square" lIns="0" tIns="0" rIns="0" bIns="0" rtlCol="0" anchor="t"/>
          <a:lstStyle/>
          <a:p>
            <a:pPr indent="0" marL="0">
              <a:lnSpc>
                <a:spcPct val="100000"/>
              </a:lnSpc>
              <a:buNone/>
            </a:pPr>
            <a:r>
              <a:rPr lang="en-US" sz="1150" dirty="0">
                <a:solidFill>
                  <a:srgbClr val="44586E"/>
                </a:solidFill>
                <a:latin typeface="Calibri" pitchFamily="34" charset="0"/>
                <a:ea typeface="Calibri" pitchFamily="34" charset="-122"/>
                <a:cs typeface="Calibri" pitchFamily="34" charset="-120"/>
              </a:rPr>
              <a:t>Enterprise Edition, non-RAC single-instance</a:t>
            </a:r>
            <a:endParaRPr lang="en-US" sz="1150" dirty="0"/>
          </a:p>
        </p:txBody>
      </p:sp>
      <p:sp>
        <p:nvSpPr>
          <p:cNvPr id="22" name="Shape 14"/>
          <p:cNvSpPr/>
          <p:nvPr/>
        </p:nvSpPr>
        <p:spPr>
          <a:xfrm>
            <a:off x="8976208" y="2148840"/>
            <a:ext cx="2648560" cy="1170432"/>
          </a:xfrm>
          <a:prstGeom prst="roundRect">
            <a:avLst>
              <a:gd name="adj" fmla="val 6250"/>
            </a:avLst>
          </a:prstGeom>
          <a:solidFill>
            <a:srgbClr val="FFFFF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3" name="Text 15"/>
          <p:cNvSpPr/>
          <p:nvPr/>
        </p:nvSpPr>
        <p:spPr>
          <a:xfrm>
            <a:off x="9159088" y="2276856"/>
            <a:ext cx="2282800" cy="384048"/>
          </a:xfrm>
          <a:prstGeom prst="rect">
            <a:avLst/>
          </a:prstGeom>
          <a:noFill/>
          <a:ln/>
        </p:spPr>
        <p:txBody>
          <a:bodyPr wrap="square" lIns="0" tIns="0" rIns="0" bIns="0" rtlCol="0" anchor="ctr"/>
          <a:lstStyle/>
          <a:p>
            <a:pPr indent="0" marL="0">
              <a:buNone/>
            </a:pPr>
            <a:r>
              <a:rPr lang="en-US" sz="1800" b="1" dirty="0">
                <a:solidFill>
                  <a:srgbClr val="12223F"/>
                </a:solidFill>
                <a:latin typeface="Cambria" pitchFamily="34" charset="0"/>
                <a:ea typeface="Cambria" pitchFamily="34" charset="-122"/>
                <a:cs typeface="Cambria" pitchFamily="34" charset="-120"/>
              </a:rPr>
              <a:t>AIX 7.2</a:t>
            </a:r>
            <a:endParaRPr lang="en-US" sz="1800" dirty="0"/>
          </a:p>
        </p:txBody>
      </p:sp>
      <p:sp>
        <p:nvSpPr>
          <p:cNvPr id="24" name="Text 16"/>
          <p:cNvSpPr/>
          <p:nvPr/>
        </p:nvSpPr>
        <p:spPr>
          <a:xfrm>
            <a:off x="9159088" y="2660904"/>
            <a:ext cx="2282800" cy="566928"/>
          </a:xfrm>
          <a:prstGeom prst="rect">
            <a:avLst/>
          </a:prstGeom>
          <a:noFill/>
          <a:ln/>
        </p:spPr>
        <p:txBody>
          <a:bodyPr wrap="square" lIns="0" tIns="0" rIns="0" bIns="0" rtlCol="0" anchor="t"/>
          <a:lstStyle/>
          <a:p>
            <a:pPr indent="0" marL="0">
              <a:lnSpc>
                <a:spcPct val="100000"/>
              </a:lnSpc>
              <a:buNone/>
            </a:pPr>
            <a:r>
              <a:rPr lang="en-US" sz="1150" dirty="0">
                <a:solidFill>
                  <a:srgbClr val="44586E"/>
                </a:solidFill>
                <a:latin typeface="Calibri" pitchFamily="34" charset="0"/>
                <a:ea typeface="Calibri" pitchFamily="34" charset="-122"/>
                <a:cs typeface="Calibri" pitchFamily="34" charset="-120"/>
              </a:rPr>
              <a:t>IBM POWER — crypto path differs from x86 AES-NI</a:t>
            </a:r>
            <a:endParaRPr lang="en-US" sz="1150" dirty="0"/>
          </a:p>
        </p:txBody>
      </p:sp>
      <p:sp>
        <p:nvSpPr>
          <p:cNvPr id="25" name="Shape 17"/>
          <p:cNvSpPr/>
          <p:nvPr/>
        </p:nvSpPr>
        <p:spPr>
          <a:xfrm>
            <a:off x="6099048" y="3502152"/>
            <a:ext cx="2648560" cy="1170432"/>
          </a:xfrm>
          <a:prstGeom prst="roundRect">
            <a:avLst>
              <a:gd name="adj" fmla="val 6250"/>
            </a:avLst>
          </a:prstGeom>
          <a:solidFill>
            <a:srgbClr val="FFFFF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6" name="Text 18"/>
          <p:cNvSpPr/>
          <p:nvPr/>
        </p:nvSpPr>
        <p:spPr>
          <a:xfrm>
            <a:off x="6281928" y="3630168"/>
            <a:ext cx="2282800" cy="384048"/>
          </a:xfrm>
          <a:prstGeom prst="rect">
            <a:avLst/>
          </a:prstGeom>
          <a:noFill/>
          <a:ln/>
        </p:spPr>
        <p:txBody>
          <a:bodyPr wrap="square" lIns="0" tIns="0" rIns="0" bIns="0" rtlCol="0" anchor="ctr"/>
          <a:lstStyle/>
          <a:p>
            <a:pPr indent="0" marL="0">
              <a:buNone/>
            </a:pPr>
            <a:r>
              <a:rPr lang="en-US" sz="1800" b="1" dirty="0">
                <a:solidFill>
                  <a:srgbClr val="12223F"/>
                </a:solidFill>
                <a:latin typeface="Cambria" pitchFamily="34" charset="0"/>
                <a:ea typeface="Cambria" pitchFamily="34" charset="-122"/>
                <a:cs typeface="Cambria" pitchFamily="34" charset="-120"/>
              </a:rPr>
              <a:t>CDB + non-CDB</a:t>
            </a:r>
            <a:endParaRPr lang="en-US" sz="1800" dirty="0"/>
          </a:p>
        </p:txBody>
      </p:sp>
      <p:sp>
        <p:nvSpPr>
          <p:cNvPr id="27" name="Text 19"/>
          <p:cNvSpPr/>
          <p:nvPr/>
        </p:nvSpPr>
        <p:spPr>
          <a:xfrm>
            <a:off x="6281928" y="4014216"/>
            <a:ext cx="2282800" cy="566928"/>
          </a:xfrm>
          <a:prstGeom prst="rect">
            <a:avLst/>
          </a:prstGeom>
          <a:noFill/>
          <a:ln/>
        </p:spPr>
        <p:txBody>
          <a:bodyPr wrap="square" lIns="0" tIns="0" rIns="0" bIns="0" rtlCol="0" anchor="t"/>
          <a:lstStyle/>
          <a:p>
            <a:pPr indent="0" marL="0">
              <a:lnSpc>
                <a:spcPct val="100000"/>
              </a:lnSpc>
              <a:buNone/>
            </a:pPr>
            <a:r>
              <a:rPr lang="en-US" sz="1150" dirty="0">
                <a:solidFill>
                  <a:srgbClr val="44586E"/>
                </a:solidFill>
                <a:latin typeface="Calibri" pitchFamily="34" charset="0"/>
                <a:ea typeface="Calibri" pitchFamily="34" charset="-122"/>
                <a:cs typeface="Calibri" pitchFamily="34" charset="-120"/>
              </a:rPr>
              <a:t>Mixed architecture; keystore handling differs</a:t>
            </a:r>
            <a:endParaRPr lang="en-US" sz="1150" dirty="0"/>
          </a:p>
        </p:txBody>
      </p:sp>
      <p:sp>
        <p:nvSpPr>
          <p:cNvPr id="28" name="Shape 20"/>
          <p:cNvSpPr/>
          <p:nvPr/>
        </p:nvSpPr>
        <p:spPr>
          <a:xfrm>
            <a:off x="8976208" y="3502152"/>
            <a:ext cx="2648560" cy="1170432"/>
          </a:xfrm>
          <a:prstGeom prst="roundRect">
            <a:avLst>
              <a:gd name="adj" fmla="val 6250"/>
            </a:avLst>
          </a:prstGeom>
          <a:solidFill>
            <a:srgbClr val="FFFFF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9" name="Text 21"/>
          <p:cNvSpPr/>
          <p:nvPr/>
        </p:nvSpPr>
        <p:spPr>
          <a:xfrm>
            <a:off x="9159088" y="3630168"/>
            <a:ext cx="2282800" cy="384048"/>
          </a:xfrm>
          <a:prstGeom prst="rect">
            <a:avLst/>
          </a:prstGeom>
          <a:noFill/>
          <a:ln/>
        </p:spPr>
        <p:txBody>
          <a:bodyPr wrap="square" lIns="0" tIns="0" rIns="0" bIns="0" rtlCol="0" anchor="ctr"/>
          <a:lstStyle/>
          <a:p>
            <a:pPr indent="0" marL="0">
              <a:buNone/>
            </a:pPr>
            <a:r>
              <a:rPr lang="en-US" sz="1800" b="1" dirty="0">
                <a:solidFill>
                  <a:srgbClr val="12223F"/>
                </a:solidFill>
                <a:latin typeface="Cambria" pitchFamily="34" charset="0"/>
                <a:ea typeface="Cambria" pitchFamily="34" charset="-122"/>
                <a:cs typeface="Cambria" pitchFamily="34" charset="-120"/>
              </a:rPr>
              <a:t>Data Guard</a:t>
            </a:r>
            <a:endParaRPr lang="en-US" sz="1800" dirty="0"/>
          </a:p>
        </p:txBody>
      </p:sp>
      <p:sp>
        <p:nvSpPr>
          <p:cNvPr id="30" name="Text 22"/>
          <p:cNvSpPr/>
          <p:nvPr/>
        </p:nvSpPr>
        <p:spPr>
          <a:xfrm>
            <a:off x="9159088" y="4014216"/>
            <a:ext cx="2282800" cy="566928"/>
          </a:xfrm>
          <a:prstGeom prst="rect">
            <a:avLst/>
          </a:prstGeom>
          <a:noFill/>
          <a:ln/>
        </p:spPr>
        <p:txBody>
          <a:bodyPr wrap="square" lIns="0" tIns="0" rIns="0" bIns="0" rtlCol="0" anchor="t"/>
          <a:lstStyle/>
          <a:p>
            <a:pPr indent="0" marL="0">
              <a:lnSpc>
                <a:spcPct val="100000"/>
              </a:lnSpc>
              <a:buNone/>
            </a:pPr>
            <a:r>
              <a:rPr lang="en-US" sz="1150" dirty="0">
                <a:solidFill>
                  <a:srgbClr val="44586E"/>
                </a:solidFill>
                <a:latin typeface="Calibri" pitchFamily="34" charset="0"/>
                <a:ea typeface="Calibri" pitchFamily="34" charset="-122"/>
                <a:cs typeface="Calibri" pitchFamily="34" charset="-120"/>
              </a:rPr>
              <a:t>Physical standby on almost every database</a:t>
            </a:r>
            <a:endParaRPr lang="en-US" sz="1150" dirty="0"/>
          </a:p>
        </p:txBody>
      </p:sp>
      <p:sp>
        <p:nvSpPr>
          <p:cNvPr id="31" name="Shape 23"/>
          <p:cNvSpPr/>
          <p:nvPr/>
        </p:nvSpPr>
        <p:spPr>
          <a:xfrm>
            <a:off x="6099048" y="4855464"/>
            <a:ext cx="2648560" cy="1170432"/>
          </a:xfrm>
          <a:prstGeom prst="roundRect">
            <a:avLst>
              <a:gd name="adj" fmla="val 6250"/>
            </a:avLst>
          </a:prstGeom>
          <a:solidFill>
            <a:srgbClr val="FFFFF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Text 24"/>
          <p:cNvSpPr/>
          <p:nvPr/>
        </p:nvSpPr>
        <p:spPr>
          <a:xfrm>
            <a:off x="6281928" y="4983480"/>
            <a:ext cx="2282800" cy="384048"/>
          </a:xfrm>
          <a:prstGeom prst="rect">
            <a:avLst/>
          </a:prstGeom>
          <a:noFill/>
          <a:ln/>
        </p:spPr>
        <p:txBody>
          <a:bodyPr wrap="square" lIns="0" tIns="0" rIns="0" bIns="0" rtlCol="0" anchor="ctr"/>
          <a:lstStyle/>
          <a:p>
            <a:pPr indent="0" marL="0">
              <a:buNone/>
            </a:pPr>
            <a:r>
              <a:rPr lang="en-US" sz="1800" b="1" dirty="0">
                <a:solidFill>
                  <a:srgbClr val="12223F"/>
                </a:solidFill>
                <a:latin typeface="Cambria" pitchFamily="34" charset="0"/>
                <a:ea typeface="Cambria" pitchFamily="34" charset="-122"/>
                <a:cs typeface="Cambria" pitchFamily="34" charset="-120"/>
              </a:rPr>
              <a:t>Greenfield</a:t>
            </a:r>
            <a:endParaRPr lang="en-US" sz="1800" dirty="0"/>
          </a:p>
        </p:txBody>
      </p:sp>
      <p:sp>
        <p:nvSpPr>
          <p:cNvPr id="33" name="Text 25"/>
          <p:cNvSpPr/>
          <p:nvPr/>
        </p:nvSpPr>
        <p:spPr>
          <a:xfrm>
            <a:off x="6281928" y="5367528"/>
            <a:ext cx="2282800" cy="566928"/>
          </a:xfrm>
          <a:prstGeom prst="rect">
            <a:avLst/>
          </a:prstGeom>
          <a:noFill/>
          <a:ln/>
        </p:spPr>
        <p:txBody>
          <a:bodyPr wrap="square" lIns="0" tIns="0" rIns="0" bIns="0" rtlCol="0" anchor="t"/>
          <a:lstStyle/>
          <a:p>
            <a:pPr indent="0" marL="0">
              <a:lnSpc>
                <a:spcPct val="100000"/>
              </a:lnSpc>
              <a:buNone/>
            </a:pPr>
            <a:r>
              <a:rPr lang="en-US" sz="1150" dirty="0">
                <a:solidFill>
                  <a:srgbClr val="44586E"/>
                </a:solidFill>
                <a:latin typeface="Calibri" pitchFamily="34" charset="0"/>
                <a:ea typeface="Calibri" pitchFamily="34" charset="-122"/>
                <a:cs typeface="Calibri" pitchFamily="34" charset="-120"/>
              </a:rPr>
              <a:t>No TLS and no TDE anywhere today</a:t>
            </a:r>
            <a:endParaRPr lang="en-US" sz="1150" dirty="0"/>
          </a:p>
        </p:txBody>
      </p:sp>
      <p:sp>
        <p:nvSpPr>
          <p:cNvPr id="34" name="Shape 26"/>
          <p:cNvSpPr/>
          <p:nvPr/>
        </p:nvSpPr>
        <p:spPr>
          <a:xfrm>
            <a:off x="8976208" y="4855464"/>
            <a:ext cx="2648560" cy="1170432"/>
          </a:xfrm>
          <a:prstGeom prst="roundRect">
            <a:avLst>
              <a:gd name="adj" fmla="val 6250"/>
            </a:avLst>
          </a:prstGeom>
          <a:solidFill>
            <a:srgbClr val="FFFFF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5" name="Text 27"/>
          <p:cNvSpPr/>
          <p:nvPr/>
        </p:nvSpPr>
        <p:spPr>
          <a:xfrm>
            <a:off x="9159088" y="4983480"/>
            <a:ext cx="2282800" cy="384048"/>
          </a:xfrm>
          <a:prstGeom prst="rect">
            <a:avLst/>
          </a:prstGeom>
          <a:noFill/>
          <a:ln/>
        </p:spPr>
        <p:txBody>
          <a:bodyPr wrap="square" lIns="0" tIns="0" rIns="0" bIns="0" rtlCol="0" anchor="ctr"/>
          <a:lstStyle/>
          <a:p>
            <a:pPr indent="0" marL="0">
              <a:buNone/>
            </a:pPr>
            <a:r>
              <a:rPr lang="en-US" sz="1800" b="1" dirty="0">
                <a:solidFill>
                  <a:srgbClr val="12223F"/>
                </a:solidFill>
                <a:latin typeface="Cambria" pitchFamily="34" charset="0"/>
                <a:ea typeface="Cambria" pitchFamily="34" charset="-122"/>
                <a:cs typeface="Cambria" pitchFamily="34" charset="-120"/>
              </a:rPr>
              <a:t>ASO licensed</a:t>
            </a:r>
            <a:endParaRPr lang="en-US" sz="1800" dirty="0"/>
          </a:p>
        </p:txBody>
      </p:sp>
      <p:sp>
        <p:nvSpPr>
          <p:cNvPr id="36" name="Text 28"/>
          <p:cNvSpPr/>
          <p:nvPr/>
        </p:nvSpPr>
        <p:spPr>
          <a:xfrm>
            <a:off x="9159088" y="5367528"/>
            <a:ext cx="2282800" cy="566928"/>
          </a:xfrm>
          <a:prstGeom prst="rect">
            <a:avLst/>
          </a:prstGeom>
          <a:noFill/>
          <a:ln/>
        </p:spPr>
        <p:txBody>
          <a:bodyPr wrap="square" lIns="0" tIns="0" rIns="0" bIns="0" rtlCol="0" anchor="t"/>
          <a:lstStyle/>
          <a:p>
            <a:pPr indent="0" marL="0">
              <a:lnSpc>
                <a:spcPct val="100000"/>
              </a:lnSpc>
              <a:buNone/>
            </a:pPr>
            <a:r>
              <a:rPr lang="en-US" sz="1150" dirty="0">
                <a:solidFill>
                  <a:srgbClr val="44586E"/>
                </a:solidFill>
                <a:latin typeface="Calibri" pitchFamily="34" charset="0"/>
                <a:ea typeface="Calibri" pitchFamily="34" charset="-122"/>
                <a:cs typeface="Calibri" pitchFamily="34" charset="-120"/>
              </a:rPr>
              <a:t>Covers TDE · OKV would be a separate purchase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12223F"/>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12223F"/>
                </a:solidFill>
                <a:latin typeface="Calibri" pitchFamily="34" charset="0"/>
                <a:ea typeface="Calibri" pitchFamily="34" charset="-122"/>
                <a:cs typeface="Calibri" pitchFamily="34" charset="-120"/>
              </a:rPr>
              <a:t>THE ORGANISING PRINCIPLE</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Two independent, parallel tracks</a:t>
            </a:r>
            <a:endParaRPr lang="en-US" sz="2700" dirty="0"/>
          </a:p>
        </p:txBody>
      </p:sp>
      <p:sp>
        <p:nvSpPr>
          <p:cNvPr id="6" name="Shape 3"/>
          <p:cNvSpPr/>
          <p:nvPr/>
        </p:nvSpPr>
        <p:spPr>
          <a:xfrm>
            <a:off x="566928" y="1828800"/>
            <a:ext cx="5346040" cy="2926080"/>
          </a:xfrm>
          <a:prstGeom prst="roundRect">
            <a:avLst>
              <a:gd name="adj" fmla="val 2500"/>
            </a:avLst>
          </a:prstGeom>
          <a:solidFill>
            <a:srgbClr val="E7F4F3"/>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841248" y="2084832"/>
            <a:ext cx="603504" cy="603504"/>
          </a:xfrm>
          <a:prstGeom prst="ellipse">
            <a:avLst/>
          </a:prstGeom>
          <a:solidFill>
            <a:srgbClr val="0F8B85"/>
          </a:solidFill>
          <a:ln/>
        </p:spPr>
        <p:txBody>
          <a:bodyPr/>
          <a:p/>
        </p:txBody>
      </p:sp>
      <p:pic>
        <p:nvPicPr>
          <p:cNvPr id="8" name="Image 1" descr="preencoded.png">    </p:cNvPr>
          <p:cNvPicPr>
            <a:picLocks noChangeAspect="1"/>
          </p:cNvPicPr>
          <p:nvPr/>
        </p:nvPicPr>
        <p:blipFill>
          <a:blip r:embed="rId2"/>
          <a:stretch>
            <a:fillRect/>
          </a:stretch>
        </p:blipFill>
        <p:spPr>
          <a:xfrm>
            <a:off x="998159" y="2241743"/>
            <a:ext cx="289682" cy="289682"/>
          </a:xfrm>
          <a:prstGeom prst="rect">
            <a:avLst/>
          </a:prstGeom>
        </p:spPr>
      </p:pic>
      <p:sp>
        <p:nvSpPr>
          <p:cNvPr id="9" name="Text 5"/>
          <p:cNvSpPr/>
          <p:nvPr/>
        </p:nvSpPr>
        <p:spPr>
          <a:xfrm>
            <a:off x="1527048" y="2084832"/>
            <a:ext cx="4248760" cy="274320"/>
          </a:xfrm>
          <a:prstGeom prst="rect">
            <a:avLst/>
          </a:prstGeom>
          <a:noFill/>
          <a:ln/>
        </p:spPr>
        <p:txBody>
          <a:bodyPr wrap="square" lIns="0" tIns="0" rIns="0" bIns="0" rtlCol="0" anchor="ctr"/>
          <a:lstStyle/>
          <a:p>
            <a:pPr indent="0" marL="0">
              <a:buNone/>
            </a:pPr>
            <a:r>
              <a:rPr lang="en-US" sz="1200" b="1" spc="200" kern="0" dirty="0">
                <a:solidFill>
                  <a:srgbClr val="0B6B66"/>
                </a:solidFill>
                <a:latin typeface="Calibri" pitchFamily="34" charset="0"/>
                <a:ea typeface="Calibri" pitchFamily="34" charset="-122"/>
                <a:cs typeface="Calibri" pitchFamily="34" charset="-120"/>
              </a:rPr>
              <a:t>TRACK A</a:t>
            </a:r>
            <a:endParaRPr lang="en-US" sz="1200" dirty="0"/>
          </a:p>
        </p:txBody>
      </p:sp>
      <p:sp>
        <p:nvSpPr>
          <p:cNvPr id="10" name="Text 6"/>
          <p:cNvSpPr/>
          <p:nvPr/>
        </p:nvSpPr>
        <p:spPr>
          <a:xfrm>
            <a:off x="1527048" y="2331720"/>
            <a:ext cx="4248760" cy="365760"/>
          </a:xfrm>
          <a:prstGeom prst="rect">
            <a:avLst/>
          </a:prstGeom>
          <a:noFill/>
          <a:ln/>
        </p:spPr>
        <p:txBody>
          <a:bodyPr wrap="square" lIns="0" tIns="0" rIns="0" bIns="0" rtlCol="0" anchor="ctr"/>
          <a:lstStyle/>
          <a:p>
            <a:pPr indent="0" marL="0">
              <a:buNone/>
            </a:pPr>
            <a:r>
              <a:rPr lang="en-US" sz="2200" b="1" dirty="0">
                <a:solidFill>
                  <a:srgbClr val="1C2A3E"/>
                </a:solidFill>
                <a:latin typeface="Cambria" pitchFamily="34" charset="0"/>
                <a:ea typeface="Cambria" pitchFamily="34" charset="-122"/>
                <a:cs typeface="Cambria" pitchFamily="34" charset="-120"/>
              </a:rPr>
              <a:t>TLS / TCPS</a:t>
            </a:r>
            <a:endParaRPr lang="en-US" sz="2200" dirty="0"/>
          </a:p>
        </p:txBody>
      </p:sp>
      <p:sp>
        <p:nvSpPr>
          <p:cNvPr id="11" name="Text 7"/>
          <p:cNvSpPr/>
          <p:nvPr/>
        </p:nvSpPr>
        <p:spPr>
          <a:xfrm>
            <a:off x="841248" y="2880360"/>
            <a:ext cx="4797400" cy="365760"/>
          </a:xfrm>
          <a:prstGeom prst="rect">
            <a:avLst/>
          </a:prstGeom>
          <a:noFill/>
          <a:ln/>
        </p:spPr>
        <p:txBody>
          <a:bodyPr wrap="square" lIns="0" tIns="0" rIns="0" bIns="0" rtlCol="0" anchor="ctr"/>
          <a:lstStyle/>
          <a:p>
            <a:pPr indent="0" marL="0">
              <a:buNone/>
            </a:pPr>
            <a:r>
              <a:rPr lang="en-US" sz="1300" b="1" dirty="0">
                <a:solidFill>
                  <a:srgbClr val="0B6B66"/>
                </a:solidFill>
                <a:latin typeface="Calibri" pitchFamily="34" charset="0"/>
                <a:ea typeface="Calibri" pitchFamily="34" charset="-122"/>
                <a:cs typeface="Calibri" pitchFamily="34" charset="-120"/>
              </a:rPr>
              <a:t>Touches: </a:t>
            </a:r>
            <a:pPr indent="0" marL="0">
              <a:buNone/>
            </a:pPr>
            <a:r>
              <a:rPr lang="en-US" sz="1300" dirty="0">
                <a:solidFill>
                  <a:srgbClr val="1C2A3E"/>
                </a:solidFill>
                <a:latin typeface="Calibri" pitchFamily="34" charset="0"/>
                <a:ea typeface="Calibri" pitchFamily="34" charset="-122"/>
                <a:cs typeface="Calibri" pitchFamily="34" charset="-120"/>
              </a:rPr>
              <a:t>listener · certificates · client connect strings</a:t>
            </a:r>
            <a:endParaRPr lang="en-US" sz="1300" dirty="0"/>
          </a:p>
        </p:txBody>
      </p:sp>
      <p:sp>
        <p:nvSpPr>
          <p:cNvPr id="12" name="Shape 8"/>
          <p:cNvSpPr/>
          <p:nvPr/>
        </p:nvSpPr>
        <p:spPr>
          <a:xfrm>
            <a:off x="841248" y="3383280"/>
            <a:ext cx="1096480" cy="566928"/>
          </a:xfrm>
          <a:prstGeom prst="roundRect">
            <a:avLst>
              <a:gd name="adj" fmla="val 8065"/>
            </a:avLst>
          </a:prstGeom>
          <a:solidFill>
            <a:srgbClr val="FFFFFF"/>
          </a:solidFill>
          <a:ln w="12700">
            <a:solidFill>
              <a:srgbClr val="0F8B85"/>
            </a:solidFill>
            <a:prstDash val="solid"/>
          </a:ln>
        </p:spPr>
        <p:txBody>
          <a:bodyPr/>
          <a:p/>
        </p:txBody>
      </p:sp>
      <p:sp>
        <p:nvSpPr>
          <p:cNvPr id="13" name="Text 9"/>
          <p:cNvSpPr/>
          <p:nvPr/>
        </p:nvSpPr>
        <p:spPr>
          <a:xfrm>
            <a:off x="877824" y="3383280"/>
            <a:ext cx="1023328" cy="566928"/>
          </a:xfrm>
          <a:prstGeom prst="rect">
            <a:avLst/>
          </a:prstGeom>
          <a:noFill/>
          <a:ln/>
        </p:spPr>
        <p:txBody>
          <a:bodyPr wrap="square" lIns="0" tIns="0" rIns="0" bIns="0" rtlCol="0" anchor="ctr"/>
          <a:lstStyle/>
          <a:p>
            <a:pPr algn="ctr" indent="0" marL="0">
              <a:buNone/>
            </a:pPr>
            <a:r>
              <a:rPr lang="en-US" sz="950" b="1" dirty="0">
                <a:solidFill>
                  <a:srgbClr val="0B6B66"/>
                </a:solidFill>
                <a:latin typeface="Calibri" pitchFamily="34" charset="0"/>
                <a:ea typeface="Calibri" pitchFamily="34" charset="-122"/>
                <a:cs typeface="Calibri" pitchFamily="34" charset="-120"/>
              </a:rPr>
              <a:t>wallet + cert</a:t>
            </a:r>
            <a:endParaRPr lang="en-US" sz="950" dirty="0"/>
          </a:p>
        </p:txBody>
      </p:sp>
      <p:pic>
        <p:nvPicPr>
          <p:cNvPr id="14" name="Image 2" descr="preencoded.png">    </p:cNvPr>
          <p:cNvPicPr>
            <a:picLocks noChangeAspect="1"/>
          </p:cNvPicPr>
          <p:nvPr/>
        </p:nvPicPr>
        <p:blipFill>
          <a:blip r:embed="rId3"/>
          <a:stretch>
            <a:fillRect/>
          </a:stretch>
        </p:blipFill>
        <p:spPr>
          <a:xfrm>
            <a:off x="1945043" y="3593592"/>
            <a:ext cx="118872" cy="118872"/>
          </a:xfrm>
          <a:prstGeom prst="rect">
            <a:avLst/>
          </a:prstGeom>
        </p:spPr>
      </p:pic>
      <p:sp>
        <p:nvSpPr>
          <p:cNvPr id="15" name="Shape 10"/>
          <p:cNvSpPr/>
          <p:nvPr/>
        </p:nvSpPr>
        <p:spPr>
          <a:xfrm>
            <a:off x="2074888" y="3383280"/>
            <a:ext cx="1096480" cy="566928"/>
          </a:xfrm>
          <a:prstGeom prst="roundRect">
            <a:avLst>
              <a:gd name="adj" fmla="val 8065"/>
            </a:avLst>
          </a:prstGeom>
          <a:solidFill>
            <a:srgbClr val="FFFFFF"/>
          </a:solidFill>
          <a:ln w="12700">
            <a:solidFill>
              <a:srgbClr val="0F8B85"/>
            </a:solidFill>
            <a:prstDash val="solid"/>
          </a:ln>
        </p:spPr>
        <p:txBody>
          <a:bodyPr/>
          <a:p/>
        </p:txBody>
      </p:sp>
      <p:sp>
        <p:nvSpPr>
          <p:cNvPr id="16" name="Text 11"/>
          <p:cNvSpPr/>
          <p:nvPr/>
        </p:nvSpPr>
        <p:spPr>
          <a:xfrm>
            <a:off x="2111464" y="3383280"/>
            <a:ext cx="1023328" cy="566928"/>
          </a:xfrm>
          <a:prstGeom prst="rect">
            <a:avLst/>
          </a:prstGeom>
          <a:noFill/>
          <a:ln/>
        </p:spPr>
        <p:txBody>
          <a:bodyPr wrap="square" lIns="0" tIns="0" rIns="0" bIns="0" rtlCol="0" anchor="ctr"/>
          <a:lstStyle/>
          <a:p>
            <a:pPr algn="ctr" indent="0" marL="0">
              <a:buNone/>
            </a:pPr>
            <a:r>
              <a:rPr lang="en-US" sz="950" b="1" dirty="0">
                <a:solidFill>
                  <a:srgbClr val="0B6B66"/>
                </a:solidFill>
                <a:latin typeface="Calibri" pitchFamily="34" charset="0"/>
                <a:ea typeface="Calibri" pitchFamily="34" charset="-122"/>
                <a:cs typeface="Calibri" pitchFamily="34" charset="-120"/>
              </a:rPr>
              <a:t>listener dual-port</a:t>
            </a:r>
            <a:endParaRPr lang="en-US" sz="950" dirty="0"/>
          </a:p>
        </p:txBody>
      </p:sp>
      <p:pic>
        <p:nvPicPr>
          <p:cNvPr id="17" name="Image 3" descr="preencoded.png">    </p:cNvPr>
          <p:cNvPicPr>
            <a:picLocks noChangeAspect="1"/>
          </p:cNvPicPr>
          <p:nvPr/>
        </p:nvPicPr>
        <p:blipFill>
          <a:blip r:embed="rId4"/>
          <a:stretch>
            <a:fillRect/>
          </a:stretch>
        </p:blipFill>
        <p:spPr>
          <a:xfrm>
            <a:off x="3178683" y="3593592"/>
            <a:ext cx="118872" cy="118872"/>
          </a:xfrm>
          <a:prstGeom prst="rect">
            <a:avLst/>
          </a:prstGeom>
        </p:spPr>
      </p:pic>
      <p:sp>
        <p:nvSpPr>
          <p:cNvPr id="18" name="Shape 12"/>
          <p:cNvSpPr/>
          <p:nvPr/>
        </p:nvSpPr>
        <p:spPr>
          <a:xfrm>
            <a:off x="3308528" y="3383280"/>
            <a:ext cx="1096480" cy="566928"/>
          </a:xfrm>
          <a:prstGeom prst="roundRect">
            <a:avLst>
              <a:gd name="adj" fmla="val 8065"/>
            </a:avLst>
          </a:prstGeom>
          <a:solidFill>
            <a:srgbClr val="FFFFFF"/>
          </a:solidFill>
          <a:ln w="12700">
            <a:solidFill>
              <a:srgbClr val="0F8B85"/>
            </a:solidFill>
            <a:prstDash val="solid"/>
          </a:ln>
        </p:spPr>
        <p:txBody>
          <a:bodyPr/>
          <a:p/>
        </p:txBody>
      </p:sp>
      <p:sp>
        <p:nvSpPr>
          <p:cNvPr id="19" name="Text 13"/>
          <p:cNvSpPr/>
          <p:nvPr/>
        </p:nvSpPr>
        <p:spPr>
          <a:xfrm>
            <a:off x="3345104" y="3383280"/>
            <a:ext cx="1023328" cy="566928"/>
          </a:xfrm>
          <a:prstGeom prst="rect">
            <a:avLst/>
          </a:prstGeom>
          <a:noFill/>
          <a:ln/>
        </p:spPr>
        <p:txBody>
          <a:bodyPr wrap="square" lIns="0" tIns="0" rIns="0" bIns="0" rtlCol="0" anchor="ctr"/>
          <a:lstStyle/>
          <a:p>
            <a:pPr algn="ctr" indent="0" marL="0">
              <a:buNone/>
            </a:pPr>
            <a:r>
              <a:rPr lang="en-US" sz="950" b="1" dirty="0">
                <a:solidFill>
                  <a:srgbClr val="0B6B66"/>
                </a:solidFill>
                <a:latin typeface="Calibri" pitchFamily="34" charset="0"/>
                <a:ea typeface="Calibri" pitchFamily="34" charset="-122"/>
                <a:cs typeface="Calibri" pitchFamily="34" charset="-120"/>
              </a:rPr>
              <a:t>migrate clients</a:t>
            </a:r>
            <a:endParaRPr lang="en-US" sz="950" dirty="0"/>
          </a:p>
        </p:txBody>
      </p:sp>
      <p:pic>
        <p:nvPicPr>
          <p:cNvPr id="20" name="Image 4" descr="preencoded.png">    </p:cNvPr>
          <p:cNvPicPr>
            <a:picLocks noChangeAspect="1"/>
          </p:cNvPicPr>
          <p:nvPr/>
        </p:nvPicPr>
        <p:blipFill>
          <a:blip r:embed="rId5"/>
          <a:stretch>
            <a:fillRect/>
          </a:stretch>
        </p:blipFill>
        <p:spPr>
          <a:xfrm>
            <a:off x="4412323" y="3593592"/>
            <a:ext cx="118872" cy="118872"/>
          </a:xfrm>
          <a:prstGeom prst="rect">
            <a:avLst/>
          </a:prstGeom>
        </p:spPr>
      </p:pic>
      <p:sp>
        <p:nvSpPr>
          <p:cNvPr id="21" name="Shape 14"/>
          <p:cNvSpPr/>
          <p:nvPr/>
        </p:nvSpPr>
        <p:spPr>
          <a:xfrm>
            <a:off x="4542168" y="3383280"/>
            <a:ext cx="1096480" cy="566928"/>
          </a:xfrm>
          <a:prstGeom prst="roundRect">
            <a:avLst>
              <a:gd name="adj" fmla="val 8065"/>
            </a:avLst>
          </a:prstGeom>
          <a:solidFill>
            <a:srgbClr val="FFFFFF"/>
          </a:solidFill>
          <a:ln w="12700">
            <a:solidFill>
              <a:srgbClr val="0F8B85"/>
            </a:solidFill>
            <a:prstDash val="solid"/>
          </a:ln>
        </p:spPr>
        <p:txBody>
          <a:bodyPr/>
          <a:p/>
        </p:txBody>
      </p:sp>
      <p:sp>
        <p:nvSpPr>
          <p:cNvPr id="22" name="Text 15"/>
          <p:cNvSpPr/>
          <p:nvPr/>
        </p:nvSpPr>
        <p:spPr>
          <a:xfrm>
            <a:off x="4578744" y="3383280"/>
            <a:ext cx="1023328" cy="566928"/>
          </a:xfrm>
          <a:prstGeom prst="rect">
            <a:avLst/>
          </a:prstGeom>
          <a:noFill/>
          <a:ln/>
        </p:spPr>
        <p:txBody>
          <a:bodyPr wrap="square" lIns="0" tIns="0" rIns="0" bIns="0" rtlCol="0" anchor="ctr"/>
          <a:lstStyle/>
          <a:p>
            <a:pPr algn="ctr" indent="0" marL="0">
              <a:buNone/>
            </a:pPr>
            <a:r>
              <a:rPr lang="en-US" sz="950" b="1" dirty="0">
                <a:solidFill>
                  <a:srgbClr val="0B6B66"/>
                </a:solidFill>
                <a:latin typeface="Calibri" pitchFamily="34" charset="0"/>
                <a:ea typeface="Calibri" pitchFamily="34" charset="-122"/>
                <a:cs typeface="Calibri" pitchFamily="34" charset="-120"/>
              </a:rPr>
              <a:t>close TCP 1526</a:t>
            </a:r>
            <a:endParaRPr lang="en-US" sz="950" dirty="0"/>
          </a:p>
        </p:txBody>
      </p:sp>
      <p:sp>
        <p:nvSpPr>
          <p:cNvPr id="23" name="Text 16"/>
          <p:cNvSpPr/>
          <p:nvPr/>
        </p:nvSpPr>
        <p:spPr>
          <a:xfrm>
            <a:off x="841248" y="4160520"/>
            <a:ext cx="4797400" cy="365760"/>
          </a:xfrm>
          <a:prstGeom prst="rect">
            <a:avLst/>
          </a:prstGeom>
          <a:noFill/>
          <a:ln/>
        </p:spPr>
        <p:txBody>
          <a:bodyPr wrap="square" lIns="0" tIns="0" rIns="0" bIns="0" rtlCol="0" anchor="ctr"/>
          <a:lstStyle/>
          <a:p>
            <a:pPr indent="0" marL="0">
              <a:buNone/>
            </a:pPr>
            <a:r>
              <a:rPr lang="en-US" sz="1250" i="1" dirty="0">
                <a:solidFill>
                  <a:srgbClr val="0B6B66"/>
                </a:solidFill>
                <a:latin typeface="Calibri" pitchFamily="34" charset="0"/>
                <a:ea typeface="Calibri" pitchFamily="34" charset="-122"/>
                <a:cs typeface="Calibri" pitchFamily="34" charset="-120"/>
              </a:rPr>
              <a:t>Fully reversible · no data impact</a:t>
            </a:r>
            <a:endParaRPr lang="en-US" sz="1250" dirty="0"/>
          </a:p>
        </p:txBody>
      </p:sp>
      <p:sp>
        <p:nvSpPr>
          <p:cNvPr id="24" name="Shape 17"/>
          <p:cNvSpPr/>
          <p:nvPr/>
        </p:nvSpPr>
        <p:spPr>
          <a:xfrm>
            <a:off x="6278728" y="1828800"/>
            <a:ext cx="5346040" cy="2926080"/>
          </a:xfrm>
          <a:prstGeom prst="roundRect">
            <a:avLst>
              <a:gd name="adj" fmla="val 2500"/>
            </a:avLst>
          </a:prstGeom>
          <a:solidFill>
            <a:srgbClr val="FBF1DC"/>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5" name="Shape 18"/>
          <p:cNvSpPr/>
          <p:nvPr/>
        </p:nvSpPr>
        <p:spPr>
          <a:xfrm>
            <a:off x="6553048" y="2084832"/>
            <a:ext cx="603504" cy="603504"/>
          </a:xfrm>
          <a:prstGeom prst="ellipse">
            <a:avLst/>
          </a:prstGeom>
          <a:solidFill>
            <a:srgbClr val="C6881B"/>
          </a:solidFill>
          <a:ln/>
        </p:spPr>
        <p:txBody>
          <a:bodyPr/>
          <a:p/>
        </p:txBody>
      </p:sp>
      <p:pic>
        <p:nvPicPr>
          <p:cNvPr id="26" name="Image 5" descr="preencoded.png">    </p:cNvPr>
          <p:cNvPicPr>
            <a:picLocks noChangeAspect="1"/>
          </p:cNvPicPr>
          <p:nvPr/>
        </p:nvPicPr>
        <p:blipFill>
          <a:blip r:embed="rId6"/>
          <a:stretch>
            <a:fillRect/>
          </a:stretch>
        </p:blipFill>
        <p:spPr>
          <a:xfrm>
            <a:off x="6709959" y="2241743"/>
            <a:ext cx="289682" cy="289682"/>
          </a:xfrm>
          <a:prstGeom prst="rect">
            <a:avLst/>
          </a:prstGeom>
        </p:spPr>
      </p:pic>
      <p:sp>
        <p:nvSpPr>
          <p:cNvPr id="27" name="Text 19"/>
          <p:cNvSpPr/>
          <p:nvPr/>
        </p:nvSpPr>
        <p:spPr>
          <a:xfrm>
            <a:off x="7238848" y="2084832"/>
            <a:ext cx="4248760" cy="274320"/>
          </a:xfrm>
          <a:prstGeom prst="rect">
            <a:avLst/>
          </a:prstGeom>
          <a:noFill/>
          <a:ln/>
        </p:spPr>
        <p:txBody>
          <a:bodyPr wrap="square" lIns="0" tIns="0" rIns="0" bIns="0" rtlCol="0" anchor="ctr"/>
          <a:lstStyle/>
          <a:p>
            <a:pPr indent="0" marL="0">
              <a:buNone/>
            </a:pPr>
            <a:r>
              <a:rPr lang="en-US" sz="1200" b="1" spc="200" kern="0" dirty="0">
                <a:solidFill>
                  <a:srgbClr val="9C6B12"/>
                </a:solidFill>
                <a:latin typeface="Calibri" pitchFamily="34" charset="0"/>
                <a:ea typeface="Calibri" pitchFamily="34" charset="-122"/>
                <a:cs typeface="Calibri" pitchFamily="34" charset="-120"/>
              </a:rPr>
              <a:t>TRACK B</a:t>
            </a:r>
            <a:endParaRPr lang="en-US" sz="1200" dirty="0"/>
          </a:p>
        </p:txBody>
      </p:sp>
      <p:sp>
        <p:nvSpPr>
          <p:cNvPr id="28" name="Text 20"/>
          <p:cNvSpPr/>
          <p:nvPr/>
        </p:nvSpPr>
        <p:spPr>
          <a:xfrm>
            <a:off x="7238848" y="2331720"/>
            <a:ext cx="4248760" cy="365760"/>
          </a:xfrm>
          <a:prstGeom prst="rect">
            <a:avLst/>
          </a:prstGeom>
          <a:noFill/>
          <a:ln/>
        </p:spPr>
        <p:txBody>
          <a:bodyPr wrap="square" lIns="0" tIns="0" rIns="0" bIns="0" rtlCol="0" anchor="ctr"/>
          <a:lstStyle/>
          <a:p>
            <a:pPr indent="0" marL="0">
              <a:buNone/>
            </a:pPr>
            <a:r>
              <a:rPr lang="en-US" sz="2200" b="1" dirty="0">
                <a:solidFill>
                  <a:srgbClr val="1C2A3E"/>
                </a:solidFill>
                <a:latin typeface="Cambria" pitchFamily="34" charset="0"/>
                <a:ea typeface="Cambria" pitchFamily="34" charset="-122"/>
                <a:cs typeface="Cambria" pitchFamily="34" charset="-120"/>
              </a:rPr>
              <a:t>TDE</a:t>
            </a:r>
            <a:endParaRPr lang="en-US" sz="2200" dirty="0"/>
          </a:p>
        </p:txBody>
      </p:sp>
      <p:sp>
        <p:nvSpPr>
          <p:cNvPr id="29" name="Text 21"/>
          <p:cNvSpPr/>
          <p:nvPr/>
        </p:nvSpPr>
        <p:spPr>
          <a:xfrm>
            <a:off x="6553048" y="2880360"/>
            <a:ext cx="4797400" cy="365760"/>
          </a:xfrm>
          <a:prstGeom prst="rect">
            <a:avLst/>
          </a:prstGeom>
          <a:noFill/>
          <a:ln/>
        </p:spPr>
        <p:txBody>
          <a:bodyPr wrap="square" lIns="0" tIns="0" rIns="0" bIns="0" rtlCol="0" anchor="ctr"/>
          <a:lstStyle/>
          <a:p>
            <a:pPr indent="0" marL="0">
              <a:buNone/>
            </a:pPr>
            <a:r>
              <a:rPr lang="en-US" sz="1300" b="1" dirty="0">
                <a:solidFill>
                  <a:srgbClr val="9C6B12"/>
                </a:solidFill>
                <a:latin typeface="Calibri" pitchFamily="34" charset="0"/>
                <a:ea typeface="Calibri" pitchFamily="34" charset="-122"/>
                <a:cs typeface="Calibri" pitchFamily="34" charset="-120"/>
              </a:rPr>
              <a:t>Touches: </a:t>
            </a:r>
            <a:pPr indent="0" marL="0">
              <a:buNone/>
            </a:pPr>
            <a:r>
              <a:rPr lang="en-US" sz="1300" dirty="0">
                <a:solidFill>
                  <a:srgbClr val="1C2A3E"/>
                </a:solidFill>
                <a:latin typeface="Calibri" pitchFamily="34" charset="0"/>
                <a:ea typeface="Calibri" pitchFamily="34" charset="-122"/>
                <a:cs typeface="Calibri" pitchFamily="34" charset="-120"/>
              </a:rPr>
              <a:t>keystores · master keys · tablespaces</a:t>
            </a:r>
            <a:endParaRPr lang="en-US" sz="1300" dirty="0"/>
          </a:p>
        </p:txBody>
      </p:sp>
      <p:sp>
        <p:nvSpPr>
          <p:cNvPr id="30" name="Shape 22"/>
          <p:cNvSpPr/>
          <p:nvPr/>
        </p:nvSpPr>
        <p:spPr>
          <a:xfrm>
            <a:off x="6553048" y="3383280"/>
            <a:ext cx="1096480" cy="566928"/>
          </a:xfrm>
          <a:prstGeom prst="roundRect">
            <a:avLst>
              <a:gd name="adj" fmla="val 8065"/>
            </a:avLst>
          </a:prstGeom>
          <a:solidFill>
            <a:srgbClr val="FFFFFF"/>
          </a:solidFill>
          <a:ln w="12700">
            <a:solidFill>
              <a:srgbClr val="C6881B"/>
            </a:solidFill>
            <a:prstDash val="solid"/>
          </a:ln>
        </p:spPr>
        <p:txBody>
          <a:bodyPr/>
          <a:p/>
        </p:txBody>
      </p:sp>
      <p:sp>
        <p:nvSpPr>
          <p:cNvPr id="31" name="Text 23"/>
          <p:cNvSpPr/>
          <p:nvPr/>
        </p:nvSpPr>
        <p:spPr>
          <a:xfrm>
            <a:off x="6589624" y="3383280"/>
            <a:ext cx="1023328" cy="566928"/>
          </a:xfrm>
          <a:prstGeom prst="rect">
            <a:avLst/>
          </a:prstGeom>
          <a:noFill/>
          <a:ln/>
        </p:spPr>
        <p:txBody>
          <a:bodyPr wrap="square" lIns="0" tIns="0" rIns="0" bIns="0" rtlCol="0" anchor="ctr"/>
          <a:lstStyle/>
          <a:p>
            <a:pPr algn="ctr" indent="0" marL="0">
              <a:buNone/>
            </a:pPr>
            <a:r>
              <a:rPr lang="en-US" sz="900" b="1" dirty="0">
                <a:solidFill>
                  <a:srgbClr val="9C6B12"/>
                </a:solidFill>
                <a:latin typeface="Calibri" pitchFamily="34" charset="0"/>
                <a:ea typeface="Calibri" pitchFamily="34" charset="-122"/>
                <a:cs typeface="Calibri" pitchFamily="34" charset="-120"/>
              </a:rPr>
              <a:t>WALLET_ROOT</a:t>
            </a:r>
            <a:endParaRPr lang="en-US" sz="900" dirty="0"/>
          </a:p>
        </p:txBody>
      </p:sp>
      <p:pic>
        <p:nvPicPr>
          <p:cNvPr id="32" name="Image 6" descr="preencoded.png">    </p:cNvPr>
          <p:cNvPicPr>
            <a:picLocks noChangeAspect="1"/>
          </p:cNvPicPr>
          <p:nvPr/>
        </p:nvPicPr>
        <p:blipFill>
          <a:blip r:embed="rId7"/>
          <a:stretch>
            <a:fillRect/>
          </a:stretch>
        </p:blipFill>
        <p:spPr>
          <a:xfrm>
            <a:off x="7656843" y="3593592"/>
            <a:ext cx="118872" cy="118872"/>
          </a:xfrm>
          <a:prstGeom prst="rect">
            <a:avLst/>
          </a:prstGeom>
        </p:spPr>
      </p:pic>
      <p:sp>
        <p:nvSpPr>
          <p:cNvPr id="33" name="Shape 24"/>
          <p:cNvSpPr/>
          <p:nvPr/>
        </p:nvSpPr>
        <p:spPr>
          <a:xfrm>
            <a:off x="7786688" y="3383280"/>
            <a:ext cx="1096480" cy="566928"/>
          </a:xfrm>
          <a:prstGeom prst="roundRect">
            <a:avLst>
              <a:gd name="adj" fmla="val 8065"/>
            </a:avLst>
          </a:prstGeom>
          <a:solidFill>
            <a:srgbClr val="FFFFFF"/>
          </a:solidFill>
          <a:ln w="12700">
            <a:solidFill>
              <a:srgbClr val="C6881B"/>
            </a:solidFill>
            <a:prstDash val="solid"/>
          </a:ln>
        </p:spPr>
        <p:txBody>
          <a:bodyPr/>
          <a:p/>
        </p:txBody>
      </p:sp>
      <p:sp>
        <p:nvSpPr>
          <p:cNvPr id="34" name="Text 25"/>
          <p:cNvSpPr/>
          <p:nvPr/>
        </p:nvSpPr>
        <p:spPr>
          <a:xfrm>
            <a:off x="7823263" y="3383280"/>
            <a:ext cx="1023328" cy="566928"/>
          </a:xfrm>
          <a:prstGeom prst="rect">
            <a:avLst/>
          </a:prstGeom>
          <a:noFill/>
          <a:ln/>
        </p:spPr>
        <p:txBody>
          <a:bodyPr wrap="square" lIns="0" tIns="0" rIns="0" bIns="0" rtlCol="0" anchor="ctr"/>
          <a:lstStyle/>
          <a:p>
            <a:pPr algn="ctr" indent="0" marL="0">
              <a:buNone/>
            </a:pPr>
            <a:r>
              <a:rPr lang="en-US" sz="900" b="1" dirty="0">
                <a:solidFill>
                  <a:srgbClr val="9C6B12"/>
                </a:solidFill>
                <a:latin typeface="Calibri" pitchFamily="34" charset="0"/>
                <a:ea typeface="Calibri" pitchFamily="34" charset="-122"/>
                <a:cs typeface="Calibri" pitchFamily="34" charset="-120"/>
              </a:rPr>
              <a:t>keystore + MEK</a:t>
            </a:r>
            <a:endParaRPr lang="en-US" sz="900" dirty="0"/>
          </a:p>
        </p:txBody>
      </p:sp>
      <p:pic>
        <p:nvPicPr>
          <p:cNvPr id="35" name="Image 7" descr="preencoded.png">    </p:cNvPr>
          <p:cNvPicPr>
            <a:picLocks noChangeAspect="1"/>
          </p:cNvPicPr>
          <p:nvPr/>
        </p:nvPicPr>
        <p:blipFill>
          <a:blip r:embed="rId8"/>
          <a:stretch>
            <a:fillRect/>
          </a:stretch>
        </p:blipFill>
        <p:spPr>
          <a:xfrm>
            <a:off x="8890483" y="3593592"/>
            <a:ext cx="118872" cy="118872"/>
          </a:xfrm>
          <a:prstGeom prst="rect">
            <a:avLst/>
          </a:prstGeom>
        </p:spPr>
      </p:pic>
      <p:sp>
        <p:nvSpPr>
          <p:cNvPr id="36" name="Shape 26"/>
          <p:cNvSpPr/>
          <p:nvPr/>
        </p:nvSpPr>
        <p:spPr>
          <a:xfrm>
            <a:off x="9020327" y="3383280"/>
            <a:ext cx="1096480" cy="566928"/>
          </a:xfrm>
          <a:prstGeom prst="roundRect">
            <a:avLst>
              <a:gd name="adj" fmla="val 8065"/>
            </a:avLst>
          </a:prstGeom>
          <a:solidFill>
            <a:srgbClr val="FFFFFF"/>
          </a:solidFill>
          <a:ln w="12700">
            <a:solidFill>
              <a:srgbClr val="C6881B"/>
            </a:solidFill>
            <a:prstDash val="solid"/>
          </a:ln>
        </p:spPr>
        <p:txBody>
          <a:bodyPr/>
          <a:p/>
        </p:txBody>
      </p:sp>
      <p:sp>
        <p:nvSpPr>
          <p:cNvPr id="37" name="Text 27"/>
          <p:cNvSpPr/>
          <p:nvPr/>
        </p:nvSpPr>
        <p:spPr>
          <a:xfrm>
            <a:off x="9056903" y="3383280"/>
            <a:ext cx="1023328" cy="566928"/>
          </a:xfrm>
          <a:prstGeom prst="rect">
            <a:avLst/>
          </a:prstGeom>
          <a:noFill/>
          <a:ln/>
        </p:spPr>
        <p:txBody>
          <a:bodyPr wrap="square" lIns="0" tIns="0" rIns="0" bIns="0" rtlCol="0" anchor="ctr"/>
          <a:lstStyle/>
          <a:p>
            <a:pPr algn="ctr" indent="0" marL="0">
              <a:buNone/>
            </a:pPr>
            <a:r>
              <a:rPr lang="en-US" sz="900" b="1" dirty="0">
                <a:solidFill>
                  <a:srgbClr val="9C6B12"/>
                </a:solidFill>
                <a:latin typeface="Calibri" pitchFamily="34" charset="0"/>
                <a:ea typeface="Calibri" pitchFamily="34" charset="-122"/>
                <a:cs typeface="Calibri" pitchFamily="34" charset="-120"/>
              </a:rPr>
              <a:t>standby sync</a:t>
            </a:r>
            <a:endParaRPr lang="en-US" sz="900" dirty="0"/>
          </a:p>
        </p:txBody>
      </p:sp>
      <p:pic>
        <p:nvPicPr>
          <p:cNvPr id="38" name="Image 8" descr="preencoded.png">    </p:cNvPr>
          <p:cNvPicPr>
            <a:picLocks noChangeAspect="1"/>
          </p:cNvPicPr>
          <p:nvPr/>
        </p:nvPicPr>
        <p:blipFill>
          <a:blip r:embed="rId9"/>
          <a:stretch>
            <a:fillRect/>
          </a:stretch>
        </p:blipFill>
        <p:spPr>
          <a:xfrm>
            <a:off x="10124123" y="3593592"/>
            <a:ext cx="118872" cy="118872"/>
          </a:xfrm>
          <a:prstGeom prst="rect">
            <a:avLst/>
          </a:prstGeom>
        </p:spPr>
      </p:pic>
      <p:sp>
        <p:nvSpPr>
          <p:cNvPr id="39" name="Shape 28"/>
          <p:cNvSpPr/>
          <p:nvPr/>
        </p:nvSpPr>
        <p:spPr>
          <a:xfrm>
            <a:off x="10253967" y="3383280"/>
            <a:ext cx="1096480" cy="566928"/>
          </a:xfrm>
          <a:prstGeom prst="roundRect">
            <a:avLst>
              <a:gd name="adj" fmla="val 8065"/>
            </a:avLst>
          </a:prstGeom>
          <a:solidFill>
            <a:srgbClr val="FFFFFF"/>
          </a:solidFill>
          <a:ln w="12700">
            <a:solidFill>
              <a:srgbClr val="C6881B"/>
            </a:solidFill>
            <a:prstDash val="solid"/>
          </a:ln>
        </p:spPr>
        <p:txBody>
          <a:bodyPr/>
          <a:p/>
        </p:txBody>
      </p:sp>
      <p:sp>
        <p:nvSpPr>
          <p:cNvPr id="40" name="Text 29"/>
          <p:cNvSpPr/>
          <p:nvPr/>
        </p:nvSpPr>
        <p:spPr>
          <a:xfrm>
            <a:off x="10290543" y="3383280"/>
            <a:ext cx="1023328" cy="566928"/>
          </a:xfrm>
          <a:prstGeom prst="rect">
            <a:avLst/>
          </a:prstGeom>
          <a:noFill/>
          <a:ln/>
        </p:spPr>
        <p:txBody>
          <a:bodyPr wrap="square" lIns="0" tIns="0" rIns="0" bIns="0" rtlCol="0" anchor="ctr"/>
          <a:lstStyle/>
          <a:p>
            <a:pPr algn="ctr" indent="0" marL="0">
              <a:buNone/>
            </a:pPr>
            <a:r>
              <a:rPr lang="en-US" sz="900" b="1" dirty="0">
                <a:solidFill>
                  <a:srgbClr val="9C6B12"/>
                </a:solidFill>
                <a:latin typeface="Calibri" pitchFamily="34" charset="0"/>
                <a:ea typeface="Calibri" pitchFamily="34" charset="-122"/>
                <a:cs typeface="Calibri" pitchFamily="34" charset="-120"/>
              </a:rPr>
              <a:t>encrypt tbs</a:t>
            </a:r>
            <a:endParaRPr lang="en-US" sz="900" dirty="0"/>
          </a:p>
        </p:txBody>
      </p:sp>
      <p:sp>
        <p:nvSpPr>
          <p:cNvPr id="41" name="Text 30"/>
          <p:cNvSpPr/>
          <p:nvPr/>
        </p:nvSpPr>
        <p:spPr>
          <a:xfrm>
            <a:off x="6553048" y="4160520"/>
            <a:ext cx="4797400" cy="365760"/>
          </a:xfrm>
          <a:prstGeom prst="rect">
            <a:avLst/>
          </a:prstGeom>
          <a:noFill/>
          <a:ln/>
        </p:spPr>
        <p:txBody>
          <a:bodyPr wrap="square" lIns="0" tIns="0" rIns="0" bIns="0" rtlCol="0" anchor="ctr"/>
          <a:lstStyle/>
          <a:p>
            <a:pPr indent="0" marL="0">
              <a:buNone/>
            </a:pPr>
            <a:r>
              <a:rPr lang="en-US" sz="1250" i="1" dirty="0">
                <a:solidFill>
                  <a:srgbClr val="9C6B12"/>
                </a:solidFill>
                <a:latin typeface="Calibri" pitchFamily="34" charset="0"/>
                <a:ea typeface="Calibri" pitchFamily="34" charset="-122"/>
                <a:cs typeface="Calibri" pitchFamily="34" charset="-120"/>
              </a:rPr>
              <a:t>Plan as forward-only · keys forever</a:t>
            </a:r>
            <a:endParaRPr lang="en-US" sz="1250" dirty="0"/>
          </a:p>
        </p:txBody>
      </p:sp>
      <p:sp>
        <p:nvSpPr>
          <p:cNvPr id="42" name="Shape 31"/>
          <p:cNvSpPr/>
          <p:nvPr/>
        </p:nvSpPr>
        <p:spPr>
          <a:xfrm>
            <a:off x="566928" y="5029200"/>
            <a:ext cx="11057839" cy="1234440"/>
          </a:xfrm>
          <a:prstGeom prst="roundRect">
            <a:avLst>
              <a:gd name="adj" fmla="val 5926"/>
            </a:avLst>
          </a:prstGeom>
          <a:solidFill>
            <a:srgbClr val="12223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43" name="Shape 32"/>
          <p:cNvSpPr/>
          <p:nvPr/>
        </p:nvSpPr>
        <p:spPr>
          <a:xfrm>
            <a:off x="886968" y="5285232"/>
            <a:ext cx="713232" cy="713232"/>
          </a:xfrm>
          <a:prstGeom prst="ellipse">
            <a:avLst/>
          </a:prstGeom>
          <a:solidFill>
            <a:srgbClr val="0F8B85"/>
          </a:solidFill>
          <a:ln/>
        </p:spPr>
        <p:txBody>
          <a:bodyPr/>
          <a:p/>
        </p:txBody>
      </p:sp>
      <p:pic>
        <p:nvPicPr>
          <p:cNvPr id="44" name="Image 9" descr="preencoded.png">    </p:cNvPr>
          <p:cNvPicPr>
            <a:picLocks noChangeAspect="1"/>
          </p:cNvPicPr>
          <p:nvPr/>
        </p:nvPicPr>
        <p:blipFill>
          <a:blip r:embed="rId10"/>
          <a:stretch>
            <a:fillRect/>
          </a:stretch>
        </p:blipFill>
        <p:spPr>
          <a:xfrm>
            <a:off x="1072408" y="5470672"/>
            <a:ext cx="342351" cy="342351"/>
          </a:xfrm>
          <a:prstGeom prst="rect">
            <a:avLst/>
          </a:prstGeom>
        </p:spPr>
      </p:pic>
      <p:sp>
        <p:nvSpPr>
          <p:cNvPr id="45" name="Text 33"/>
          <p:cNvSpPr/>
          <p:nvPr/>
        </p:nvSpPr>
        <p:spPr>
          <a:xfrm>
            <a:off x="1801368" y="5138928"/>
            <a:ext cx="9503359" cy="1005840"/>
          </a:xfrm>
          <a:prstGeom prst="rect">
            <a:avLst/>
          </a:prstGeom>
          <a:noFill/>
          <a:ln/>
        </p:spPr>
        <p:txBody>
          <a:bodyPr wrap="square" lIns="0" tIns="0" rIns="0" bIns="0" rtlCol="0" anchor="ctr"/>
          <a:lstStyle/>
          <a:p>
            <a:pPr indent="0" marL="0">
              <a:lnSpc>
                <a:spcPct val="110000"/>
              </a:lnSpc>
              <a:buNone/>
            </a:pPr>
            <a:r>
              <a:rPr lang="en-US" sz="1450" b="1" dirty="0">
                <a:solidFill>
                  <a:srgbClr val="FFFFFF"/>
                </a:solidFill>
                <a:latin typeface="Calibri" pitchFamily="34" charset="0"/>
                <a:ea typeface="Calibri" pitchFamily="34" charset="-122"/>
                <a:cs typeface="Calibri" pitchFamily="34" charset="-120"/>
              </a:rPr>
              <a:t>Separate change windows, separate rollback, separate acceptance criteria.  </a:t>
            </a:r>
            <a:pPr indent="0" marL="0">
              <a:lnSpc>
                <a:spcPct val="110000"/>
              </a:lnSpc>
              <a:buNone/>
            </a:pPr>
            <a:r>
              <a:rPr lang="en-US" sz="1450" dirty="0">
                <a:solidFill>
                  <a:srgbClr val="C7D2E0"/>
                </a:solidFill>
                <a:latin typeface="Calibri" pitchFamily="34" charset="0"/>
                <a:ea typeface="Calibri" pitchFamily="34" charset="-122"/>
                <a:cs typeface="Calibri" pitchFamily="34" charset="-120"/>
              </a:rPr>
              <a:t>Coupling them multiplies risk and blast radius. A database can be TLS-done while TDE is still in progress — or the reverse.</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23F"/>
        </a:solidFill>
      </p:bgPr>
    </p:bg>
    <p:spTree>
      <p:nvGrpSpPr>
        <p:cNvPr id="1" name=""/>
        <p:cNvGrpSpPr/>
        <p:nvPr/>
      </p:nvGrpSpPr>
      <p:grpSpPr>
        <a:xfrm>
          <a:off x="0" y="0"/>
          <a:ext cx="0" cy="0"/>
          <a:chOff x="0" y="0"/>
          <a:chExt cx="0" cy="0"/>
        </a:xfrm>
      </p:grpSpPr>
      <p:sp>
        <p:nvSpPr>
          <p:cNvPr id="2" name="Shape 0"/>
          <p:cNvSpPr/>
          <p:nvPr/>
        </p:nvSpPr>
        <p:spPr>
          <a:xfrm>
            <a:off x="566928" y="2286000"/>
            <a:ext cx="1005840" cy="1005840"/>
          </a:xfrm>
          <a:prstGeom prst="ellipse">
            <a:avLst/>
          </a:prstGeom>
          <a:solidFill>
            <a:srgbClr val="0F8B85"/>
          </a:solidFill>
          <a:ln/>
        </p:spPr>
        <p:txBody>
          <a:bodyPr/>
          <a:p/>
        </p:txBody>
      </p:sp>
      <p:pic>
        <p:nvPicPr>
          <p:cNvPr id="3" name="Image 0" descr="preencoded.png">    </p:cNvPr>
          <p:cNvPicPr>
            <a:picLocks noChangeAspect="1"/>
          </p:cNvPicPr>
          <p:nvPr/>
        </p:nvPicPr>
        <p:blipFill>
          <a:blip r:embed="rId1"/>
          <a:stretch>
            <a:fillRect/>
          </a:stretch>
        </p:blipFill>
        <p:spPr>
          <a:xfrm>
            <a:off x="828446" y="2547518"/>
            <a:ext cx="482803" cy="482803"/>
          </a:xfrm>
          <a:prstGeom prst="rect">
            <a:avLst/>
          </a:prstGeom>
        </p:spPr>
      </p:pic>
      <p:sp>
        <p:nvSpPr>
          <p:cNvPr id="4" name="Text 1"/>
          <p:cNvSpPr/>
          <p:nvPr/>
        </p:nvSpPr>
        <p:spPr>
          <a:xfrm>
            <a:off x="566928" y="3429000"/>
            <a:ext cx="7315200" cy="320040"/>
          </a:xfrm>
          <a:prstGeom prst="rect">
            <a:avLst/>
          </a:prstGeom>
          <a:noFill/>
          <a:ln/>
        </p:spPr>
        <p:txBody>
          <a:bodyPr wrap="square" lIns="0" tIns="0" rIns="0" bIns="0" rtlCol="0" anchor="ctr"/>
          <a:lstStyle/>
          <a:p>
            <a:pPr indent="0" marL="0">
              <a:buNone/>
            </a:pPr>
            <a:r>
              <a:rPr lang="en-US" sz="1400" b="1" spc="300" kern="0" dirty="0">
                <a:solidFill>
                  <a:srgbClr val="0F8B85"/>
                </a:solidFill>
                <a:latin typeface="Calibri" pitchFamily="34" charset="0"/>
                <a:ea typeface="Calibri" pitchFamily="34" charset="-122"/>
                <a:cs typeface="Calibri" pitchFamily="34" charset="-120"/>
              </a:rPr>
              <a:t>SECTION 1</a:t>
            </a:r>
            <a:endParaRPr lang="en-US" sz="1400" dirty="0"/>
          </a:p>
        </p:txBody>
      </p:sp>
      <p:sp>
        <p:nvSpPr>
          <p:cNvPr id="5" name="Text 2"/>
          <p:cNvSpPr/>
          <p:nvPr/>
        </p:nvSpPr>
        <p:spPr>
          <a:xfrm>
            <a:off x="566928" y="3703320"/>
            <a:ext cx="100584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TLS — data in transit</a:t>
            </a:r>
            <a:endParaRPr lang="en-US" sz="4200" dirty="0"/>
          </a:p>
        </p:txBody>
      </p:sp>
      <p:sp>
        <p:nvSpPr>
          <p:cNvPr id="6" name="Text 3"/>
          <p:cNvSpPr/>
          <p:nvPr/>
        </p:nvSpPr>
        <p:spPr>
          <a:xfrm>
            <a:off x="566928" y="4572000"/>
            <a:ext cx="9601200" cy="548640"/>
          </a:xfrm>
          <a:prstGeom prst="rect">
            <a:avLst/>
          </a:prstGeom>
          <a:noFill/>
          <a:ln/>
        </p:spPr>
        <p:txBody>
          <a:bodyPr wrap="square" lIns="0" tIns="0" rIns="0" bIns="0" rtlCol="0" anchor="ctr"/>
          <a:lstStyle/>
          <a:p>
            <a:pPr indent="0" marL="0">
              <a:buNone/>
            </a:pPr>
            <a:r>
              <a:rPr lang="en-US" sz="1600" i="1" dirty="0">
                <a:solidFill>
                  <a:srgbClr val="C7D2E0"/>
                </a:solidFill>
                <a:latin typeface="Calibri" pitchFamily="34" charset="0"/>
                <a:ea typeface="Calibri" pitchFamily="34" charset="-122"/>
                <a:cs typeface="Calibri" pitchFamily="34" charset="-120"/>
              </a:rPr>
              <a:t>Encrypting SQL*Net with TCPS and authenticating the server against the internal CA</a:t>
            </a:r>
            <a:endParaRPr lang="en-US" sz="1600" dirty="0"/>
          </a:p>
        </p:txBody>
      </p:sp>
      <p:pic>
        <p:nvPicPr>
          <p:cNvPr id="7" name="Image 1" descr="preencoded.png">    </p:cNvPr>
          <p:cNvPicPr>
            <a:picLocks noChangeAspect="1"/>
          </p:cNvPicPr>
          <p:nvPr/>
        </p:nvPicPr>
        <p:blipFill>
          <a:blip r:embed="rId2"/>
          <a:stretch>
            <a:fillRect/>
          </a:stretch>
        </p:blipFill>
        <p:spPr>
          <a:xfrm>
            <a:off x="9509760" y="2331720"/>
            <a:ext cx="146304" cy="146304"/>
          </a:xfrm>
          <a:prstGeom prst="rect">
            <a:avLst/>
          </a:prstGeom>
        </p:spPr>
      </p:pic>
      <p:sp>
        <p:nvSpPr>
          <p:cNvPr id="8" name="Text 4"/>
          <p:cNvSpPr/>
          <p:nvPr/>
        </p:nvSpPr>
        <p:spPr>
          <a:xfrm>
            <a:off x="9784080" y="2231136"/>
            <a:ext cx="210312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What &amp; why</a:t>
            </a:r>
            <a:endParaRPr lang="en-US" sz="1300" dirty="0"/>
          </a:p>
        </p:txBody>
      </p:sp>
      <p:pic>
        <p:nvPicPr>
          <p:cNvPr id="9" name="Image 2" descr="preencoded.png">    </p:cNvPr>
          <p:cNvPicPr>
            <a:picLocks noChangeAspect="1"/>
          </p:cNvPicPr>
          <p:nvPr/>
        </p:nvPicPr>
        <p:blipFill>
          <a:blip r:embed="rId3"/>
          <a:stretch>
            <a:fillRect/>
          </a:stretch>
        </p:blipFill>
        <p:spPr>
          <a:xfrm>
            <a:off x="9509760" y="2734056"/>
            <a:ext cx="146304" cy="146304"/>
          </a:xfrm>
          <a:prstGeom prst="rect">
            <a:avLst/>
          </a:prstGeom>
        </p:spPr>
      </p:pic>
      <p:sp>
        <p:nvSpPr>
          <p:cNvPr id="10" name="Text 5"/>
          <p:cNvSpPr/>
          <p:nvPr/>
        </p:nvSpPr>
        <p:spPr>
          <a:xfrm>
            <a:off x="9784080" y="2633472"/>
            <a:ext cx="210312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Design decisions</a:t>
            </a:r>
            <a:endParaRPr lang="en-US" sz="1300" dirty="0"/>
          </a:p>
        </p:txBody>
      </p:sp>
      <p:pic>
        <p:nvPicPr>
          <p:cNvPr id="11" name="Image 3" descr="preencoded.png">    </p:cNvPr>
          <p:cNvPicPr>
            <a:picLocks noChangeAspect="1"/>
          </p:cNvPicPr>
          <p:nvPr/>
        </p:nvPicPr>
        <p:blipFill>
          <a:blip r:embed="rId4"/>
          <a:stretch>
            <a:fillRect/>
          </a:stretch>
        </p:blipFill>
        <p:spPr>
          <a:xfrm>
            <a:off x="9509760" y="3136392"/>
            <a:ext cx="146304" cy="146304"/>
          </a:xfrm>
          <a:prstGeom prst="rect">
            <a:avLst/>
          </a:prstGeom>
        </p:spPr>
      </p:pic>
      <p:sp>
        <p:nvSpPr>
          <p:cNvPr id="12" name="Text 6"/>
          <p:cNvSpPr/>
          <p:nvPr/>
        </p:nvSpPr>
        <p:spPr>
          <a:xfrm>
            <a:off x="9784080" y="3035808"/>
            <a:ext cx="210312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What's built</a:t>
            </a:r>
            <a:endParaRPr lang="en-US" sz="1300" dirty="0"/>
          </a:p>
        </p:txBody>
      </p:sp>
      <p:pic>
        <p:nvPicPr>
          <p:cNvPr id="13" name="Image 4" descr="preencoded.png">    </p:cNvPr>
          <p:cNvPicPr>
            <a:picLocks noChangeAspect="1"/>
          </p:cNvPicPr>
          <p:nvPr/>
        </p:nvPicPr>
        <p:blipFill>
          <a:blip r:embed="rId5"/>
          <a:stretch>
            <a:fillRect/>
          </a:stretch>
        </p:blipFill>
        <p:spPr>
          <a:xfrm>
            <a:off x="9509760" y="3538728"/>
            <a:ext cx="146304" cy="146304"/>
          </a:xfrm>
          <a:prstGeom prst="rect">
            <a:avLst/>
          </a:prstGeom>
        </p:spPr>
      </p:pic>
      <p:sp>
        <p:nvSpPr>
          <p:cNvPr id="14" name="Text 7"/>
          <p:cNvSpPr/>
          <p:nvPr/>
        </p:nvSpPr>
        <p:spPr>
          <a:xfrm>
            <a:off x="9784080" y="3438144"/>
            <a:ext cx="210312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Lessons learned</a:t>
            </a:r>
            <a:endParaRPr lang="en-US" sz="1300" dirty="0"/>
          </a:p>
        </p:txBody>
      </p:sp>
      <p:pic>
        <p:nvPicPr>
          <p:cNvPr id="15" name="Image 5" descr="preencoded.png">    </p:cNvPr>
          <p:cNvPicPr>
            <a:picLocks noChangeAspect="1"/>
          </p:cNvPicPr>
          <p:nvPr/>
        </p:nvPicPr>
        <p:blipFill>
          <a:blip r:embed="rId6"/>
          <a:stretch>
            <a:fillRect/>
          </a:stretch>
        </p:blipFill>
        <p:spPr>
          <a:xfrm>
            <a:off x="9509760" y="3941064"/>
            <a:ext cx="146304" cy="146304"/>
          </a:xfrm>
          <a:prstGeom prst="rect">
            <a:avLst/>
          </a:prstGeom>
        </p:spPr>
      </p:pic>
      <p:sp>
        <p:nvSpPr>
          <p:cNvPr id="16" name="Text 8"/>
          <p:cNvSpPr/>
          <p:nvPr/>
        </p:nvSpPr>
        <p:spPr>
          <a:xfrm>
            <a:off x="9784080" y="3840480"/>
            <a:ext cx="210312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ANO interim</a:t>
            </a:r>
            <a:endParaRPr lang="en-US" sz="1300" dirty="0"/>
          </a:p>
        </p:txBody>
      </p:sp>
      <p:pic>
        <p:nvPicPr>
          <p:cNvPr id="17" name="Image 6" descr="preencoded.png">    </p:cNvPr>
          <p:cNvPicPr>
            <a:picLocks noChangeAspect="1"/>
          </p:cNvPicPr>
          <p:nvPr/>
        </p:nvPicPr>
        <p:blipFill>
          <a:blip r:embed="rId7"/>
          <a:stretch>
            <a:fillRect/>
          </a:stretch>
        </p:blipFill>
        <p:spPr>
          <a:xfrm>
            <a:off x="9509760" y="4343400"/>
            <a:ext cx="146304" cy="146304"/>
          </a:xfrm>
          <a:prstGeom prst="rect">
            <a:avLst/>
          </a:prstGeom>
        </p:spPr>
      </p:pic>
      <p:sp>
        <p:nvSpPr>
          <p:cNvPr id="18" name="Text 9"/>
          <p:cNvSpPr/>
          <p:nvPr/>
        </p:nvSpPr>
        <p:spPr>
          <a:xfrm>
            <a:off x="9784080" y="4242816"/>
            <a:ext cx="210312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Action points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INTRODUCTION TO THE TOPIC</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TLS: what it is and why</a:t>
            </a:r>
            <a:endParaRPr lang="en-US" sz="2700" dirty="0"/>
          </a:p>
        </p:txBody>
      </p:sp>
      <p:sp>
        <p:nvSpPr>
          <p:cNvPr id="6" name="Shape 3"/>
          <p:cNvSpPr/>
          <p:nvPr/>
        </p:nvSpPr>
        <p:spPr>
          <a:xfrm>
            <a:off x="566928" y="1874520"/>
            <a:ext cx="3977640" cy="1965960"/>
          </a:xfrm>
          <a:prstGeom prst="roundRect">
            <a:avLst>
              <a:gd name="adj" fmla="val 3721"/>
            </a:avLst>
          </a:prstGeom>
          <a:solidFill>
            <a:srgbClr val="FAEBE9"/>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Text 4"/>
          <p:cNvSpPr/>
          <p:nvPr/>
        </p:nvSpPr>
        <p:spPr>
          <a:xfrm>
            <a:off x="795528" y="2057400"/>
            <a:ext cx="3520440" cy="274320"/>
          </a:xfrm>
          <a:prstGeom prst="rect">
            <a:avLst/>
          </a:prstGeom>
          <a:noFill/>
          <a:ln/>
        </p:spPr>
        <p:txBody>
          <a:bodyPr wrap="square" lIns="0" tIns="0" rIns="0" bIns="0" rtlCol="0" anchor="ctr"/>
          <a:lstStyle/>
          <a:p>
            <a:pPr indent="0" marL="0">
              <a:buNone/>
            </a:pPr>
            <a:r>
              <a:rPr lang="en-US" sz="1200" b="1" spc="200" kern="0" dirty="0">
                <a:solidFill>
                  <a:srgbClr val="C0392B"/>
                </a:solidFill>
                <a:latin typeface="Calibri" pitchFamily="34" charset="0"/>
                <a:ea typeface="Calibri" pitchFamily="34" charset="-122"/>
                <a:cs typeface="Calibri" pitchFamily="34" charset="-120"/>
              </a:rPr>
              <a:t>TODAY</a:t>
            </a:r>
            <a:endParaRPr lang="en-US" sz="1200" dirty="0"/>
          </a:p>
        </p:txBody>
      </p:sp>
      <p:sp>
        <p:nvSpPr>
          <p:cNvPr id="8" name="Text 5"/>
          <p:cNvSpPr/>
          <p:nvPr/>
        </p:nvSpPr>
        <p:spPr>
          <a:xfrm>
            <a:off x="795528" y="2331720"/>
            <a:ext cx="3520440" cy="411480"/>
          </a:xfrm>
          <a:prstGeom prst="rect">
            <a:avLst/>
          </a:prstGeom>
          <a:noFill/>
          <a:ln/>
        </p:spPr>
        <p:txBody>
          <a:bodyPr wrap="square" lIns="0" tIns="0" rIns="0" bIns="0" rtlCol="0" anchor="ctr"/>
          <a:lstStyle/>
          <a:p>
            <a:pPr indent="0" marL="0">
              <a:buNone/>
            </a:pPr>
            <a:r>
              <a:rPr lang="en-US" sz="2000" b="1" dirty="0">
                <a:solidFill>
                  <a:srgbClr val="1C2A3E"/>
                </a:solidFill>
                <a:latin typeface="Cambria" pitchFamily="34" charset="0"/>
                <a:ea typeface="Cambria" pitchFamily="34" charset="-122"/>
                <a:cs typeface="Cambria" pitchFamily="34" charset="-120"/>
              </a:rPr>
              <a:t>Cleartext SQL*Net</a:t>
            </a:r>
            <a:endParaRPr lang="en-US" sz="2000" dirty="0"/>
          </a:p>
        </p:txBody>
      </p:sp>
      <p:sp>
        <p:nvSpPr>
          <p:cNvPr id="9" name="Text 6"/>
          <p:cNvSpPr/>
          <p:nvPr/>
        </p:nvSpPr>
        <p:spPr>
          <a:xfrm>
            <a:off x="841248" y="2788920"/>
            <a:ext cx="3474720" cy="9601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4586E"/>
                </a:solidFill>
                <a:latin typeface="Calibri" pitchFamily="34" charset="0"/>
                <a:ea typeface="Calibri" pitchFamily="34" charset="-122"/>
                <a:cs typeface="Calibri" pitchFamily="34" charset="-120"/>
              </a:rPr>
              <a:t>TCP on port 1526 only</a:t>
            </a:r>
            <a:endParaRPr lang="en-US" sz="1300" dirty="0"/>
          </a:p>
          <a:p>
            <a:pPr marL="342900" indent="-342900">
              <a:spcAft>
                <a:spcPts val="400"/>
              </a:spcAft>
              <a:buSzPct val="100000"/>
              <a:buChar char="•"/>
            </a:pPr>
            <a:r>
              <a:rPr lang="en-US" sz="1300" dirty="0">
                <a:solidFill>
                  <a:srgbClr val="44586E"/>
                </a:solidFill>
                <a:latin typeface="Calibri" pitchFamily="34" charset="0"/>
                <a:ea typeface="Calibri" pitchFamily="34" charset="-122"/>
                <a:cs typeface="Calibri" pitchFamily="34" charset="-120"/>
              </a:rPr>
              <a:t>No server certificates</a:t>
            </a:r>
            <a:endParaRPr lang="en-US" sz="1300" dirty="0"/>
          </a:p>
          <a:p>
            <a:pPr marL="342900" indent="-342900">
              <a:spcAft>
                <a:spcPts val="400"/>
              </a:spcAft>
              <a:buSzPct val="100000"/>
              <a:buChar char="•"/>
            </a:pPr>
            <a:r>
              <a:rPr lang="en-US" sz="1300" dirty="0">
                <a:solidFill>
                  <a:srgbClr val="44586E"/>
                </a:solidFill>
                <a:latin typeface="Calibri" pitchFamily="34" charset="0"/>
                <a:ea typeface="Calibri" pitchFamily="34" charset="-122"/>
                <a:cs typeface="Calibri" pitchFamily="34" charset="-120"/>
              </a:rPr>
              <a:t>No identity, no MITM protection</a:t>
            </a:r>
            <a:endParaRPr lang="en-US" sz="1300" dirty="0"/>
          </a:p>
        </p:txBody>
      </p:sp>
      <p:pic>
        <p:nvPicPr>
          <p:cNvPr id="10" name="Image 1" descr="preencoded.png">    </p:cNvPr>
          <p:cNvPicPr>
            <a:picLocks noChangeAspect="1"/>
          </p:cNvPicPr>
          <p:nvPr/>
        </p:nvPicPr>
        <p:blipFill>
          <a:blip r:embed="rId2"/>
          <a:stretch>
            <a:fillRect/>
          </a:stretch>
        </p:blipFill>
        <p:spPr>
          <a:xfrm>
            <a:off x="4654296" y="2697480"/>
            <a:ext cx="384048" cy="384048"/>
          </a:xfrm>
          <a:prstGeom prst="rect">
            <a:avLst/>
          </a:prstGeom>
        </p:spPr>
      </p:pic>
      <p:sp>
        <p:nvSpPr>
          <p:cNvPr id="11" name="Shape 7"/>
          <p:cNvSpPr/>
          <p:nvPr/>
        </p:nvSpPr>
        <p:spPr>
          <a:xfrm>
            <a:off x="5148072" y="1874520"/>
            <a:ext cx="3977640" cy="1965960"/>
          </a:xfrm>
          <a:prstGeom prst="roundRect">
            <a:avLst>
              <a:gd name="adj" fmla="val 3721"/>
            </a:avLst>
          </a:prstGeom>
          <a:solidFill>
            <a:srgbClr val="E7F4F3"/>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Text 8"/>
          <p:cNvSpPr/>
          <p:nvPr/>
        </p:nvSpPr>
        <p:spPr>
          <a:xfrm>
            <a:off x="5376672" y="2057400"/>
            <a:ext cx="3520440" cy="274320"/>
          </a:xfrm>
          <a:prstGeom prst="rect">
            <a:avLst/>
          </a:prstGeom>
          <a:noFill/>
          <a:ln/>
        </p:spPr>
        <p:txBody>
          <a:bodyPr wrap="square" lIns="0" tIns="0" rIns="0" bIns="0" rtlCol="0" anchor="ctr"/>
          <a:lstStyle/>
          <a:p>
            <a:pPr indent="0" marL="0">
              <a:buNone/>
            </a:pPr>
            <a:r>
              <a:rPr lang="en-US" sz="1200" b="1" spc="200" kern="0" dirty="0">
                <a:solidFill>
                  <a:srgbClr val="0B6B66"/>
                </a:solidFill>
                <a:latin typeface="Calibri" pitchFamily="34" charset="0"/>
                <a:ea typeface="Calibri" pitchFamily="34" charset="-122"/>
                <a:cs typeface="Calibri" pitchFamily="34" charset="-120"/>
              </a:rPr>
              <a:t>TARGET</a:t>
            </a:r>
            <a:endParaRPr lang="en-US" sz="1200" dirty="0"/>
          </a:p>
        </p:txBody>
      </p:sp>
      <p:sp>
        <p:nvSpPr>
          <p:cNvPr id="13" name="Text 9"/>
          <p:cNvSpPr/>
          <p:nvPr/>
        </p:nvSpPr>
        <p:spPr>
          <a:xfrm>
            <a:off x="5376672" y="2331720"/>
            <a:ext cx="3520440" cy="411480"/>
          </a:xfrm>
          <a:prstGeom prst="rect">
            <a:avLst/>
          </a:prstGeom>
          <a:noFill/>
          <a:ln/>
        </p:spPr>
        <p:txBody>
          <a:bodyPr wrap="square" lIns="0" tIns="0" rIns="0" bIns="0" rtlCol="0" anchor="ctr"/>
          <a:lstStyle/>
          <a:p>
            <a:pPr indent="0" marL="0">
              <a:buNone/>
            </a:pPr>
            <a:r>
              <a:rPr lang="en-US" sz="2000" b="1" dirty="0">
                <a:solidFill>
                  <a:srgbClr val="1C2A3E"/>
                </a:solidFill>
                <a:latin typeface="Cambria" pitchFamily="34" charset="0"/>
                <a:ea typeface="Cambria" pitchFamily="34" charset="-122"/>
                <a:cs typeface="Cambria" pitchFamily="34" charset="-120"/>
              </a:rPr>
              <a:t>TLS / TCPS</a:t>
            </a:r>
            <a:endParaRPr lang="en-US" sz="2000" dirty="0"/>
          </a:p>
        </p:txBody>
      </p:sp>
      <p:sp>
        <p:nvSpPr>
          <p:cNvPr id="14" name="Text 10"/>
          <p:cNvSpPr/>
          <p:nvPr/>
        </p:nvSpPr>
        <p:spPr>
          <a:xfrm>
            <a:off x="5422392" y="2788920"/>
            <a:ext cx="3474720" cy="960120"/>
          </a:xfrm>
          <a:prstGeom prst="rect">
            <a:avLst/>
          </a:prstGeom>
          <a:noFill/>
          <a:ln/>
        </p:spPr>
        <p:txBody>
          <a:bodyPr wrap="square" lIns="0" tIns="0" rIns="0" bIns="0" rtlCol="0" anchor="ctr"/>
          <a:lstStyle/>
          <a:p>
            <a:pPr marL="342900" indent="-342900">
              <a:spcAft>
                <a:spcPts val="400"/>
              </a:spcAft>
              <a:buSzPct val="100000"/>
              <a:buChar char="•"/>
            </a:pPr>
            <a:r>
              <a:rPr lang="en-US" sz="1300" dirty="0">
                <a:solidFill>
                  <a:srgbClr val="44586E"/>
                </a:solidFill>
                <a:latin typeface="Calibri" pitchFamily="34" charset="0"/>
                <a:ea typeface="Calibri" pitchFamily="34" charset="-122"/>
                <a:cs typeface="Calibri" pitchFamily="34" charset="-120"/>
              </a:rPr>
              <a:t>TCPS on port 1527, AES-GCM</a:t>
            </a:r>
            <a:endParaRPr lang="en-US" sz="1300" dirty="0"/>
          </a:p>
          <a:p>
            <a:pPr marL="342900" indent="-342900">
              <a:spcAft>
                <a:spcPts val="400"/>
              </a:spcAft>
              <a:buSzPct val="100000"/>
              <a:buChar char="•"/>
            </a:pPr>
            <a:r>
              <a:rPr lang="en-US" sz="1300" dirty="0">
                <a:solidFill>
                  <a:srgbClr val="44586E"/>
                </a:solidFill>
                <a:latin typeface="Calibri" pitchFamily="34" charset="0"/>
                <a:ea typeface="Calibri" pitchFamily="34" charset="-122"/>
                <a:cs typeface="Calibri" pitchFamily="34" charset="-120"/>
              </a:rPr>
              <a:t>Per-host cert from internal CA</a:t>
            </a:r>
            <a:endParaRPr lang="en-US" sz="1300" dirty="0"/>
          </a:p>
          <a:p>
            <a:pPr marL="342900" indent="-342900">
              <a:spcAft>
                <a:spcPts val="400"/>
              </a:spcAft>
              <a:buSzPct val="100000"/>
              <a:buChar char="•"/>
            </a:pPr>
            <a:r>
              <a:rPr lang="en-US" sz="1300" dirty="0">
                <a:solidFill>
                  <a:srgbClr val="44586E"/>
                </a:solidFill>
                <a:latin typeface="Calibri" pitchFamily="34" charset="0"/>
                <a:ea typeface="Calibri" pitchFamily="34" charset="-122"/>
                <a:cs typeface="Calibri" pitchFamily="34" charset="-120"/>
              </a:rPr>
              <a:t>Client verifies server identity</a:t>
            </a:r>
            <a:endParaRPr lang="en-US" sz="1300" dirty="0"/>
          </a:p>
        </p:txBody>
      </p:sp>
      <p:sp>
        <p:nvSpPr>
          <p:cNvPr id="15" name="Shape 11"/>
          <p:cNvSpPr/>
          <p:nvPr/>
        </p:nvSpPr>
        <p:spPr>
          <a:xfrm>
            <a:off x="9445752" y="1874520"/>
            <a:ext cx="2179015" cy="1965960"/>
          </a:xfrm>
          <a:prstGeom prst="roundRect">
            <a:avLst>
              <a:gd name="adj" fmla="val 3721"/>
            </a:avLst>
          </a:prstGeom>
          <a:solidFill>
            <a:srgbClr val="12223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6" name="Shape 12"/>
          <p:cNvSpPr/>
          <p:nvPr/>
        </p:nvSpPr>
        <p:spPr>
          <a:xfrm>
            <a:off x="9701784" y="2103120"/>
            <a:ext cx="548640" cy="548640"/>
          </a:xfrm>
          <a:prstGeom prst="ellipse">
            <a:avLst/>
          </a:prstGeom>
          <a:solidFill>
            <a:srgbClr val="0F8B85"/>
          </a:solidFill>
          <a:ln/>
        </p:spPr>
        <p:txBody>
          <a:bodyPr/>
          <a:p/>
        </p:txBody>
      </p:sp>
      <p:pic>
        <p:nvPicPr>
          <p:cNvPr id="17" name="Image 2" descr="preencoded.png">    </p:cNvPr>
          <p:cNvPicPr>
            <a:picLocks noChangeAspect="1"/>
          </p:cNvPicPr>
          <p:nvPr/>
        </p:nvPicPr>
        <p:blipFill>
          <a:blip r:embed="rId3"/>
          <a:stretch>
            <a:fillRect/>
          </a:stretch>
        </p:blipFill>
        <p:spPr>
          <a:xfrm>
            <a:off x="9844430" y="2245766"/>
            <a:ext cx="263347" cy="263347"/>
          </a:xfrm>
          <a:prstGeom prst="rect">
            <a:avLst/>
          </a:prstGeom>
        </p:spPr>
      </p:pic>
      <p:sp>
        <p:nvSpPr>
          <p:cNvPr id="18" name="Text 13"/>
          <p:cNvSpPr/>
          <p:nvPr/>
        </p:nvSpPr>
        <p:spPr>
          <a:xfrm>
            <a:off x="10341864" y="2103120"/>
            <a:ext cx="1173175" cy="548640"/>
          </a:xfrm>
          <a:prstGeom prst="rect">
            <a:avLst/>
          </a:prstGeom>
          <a:noFill/>
          <a:ln/>
        </p:spPr>
        <p:txBody>
          <a:bodyPr wrap="square" lIns="0" tIns="0" rIns="0" bIns="0"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Scope</a:t>
            </a:r>
            <a:endParaRPr lang="en-US" sz="1800" dirty="0"/>
          </a:p>
        </p:txBody>
      </p:sp>
      <p:sp>
        <p:nvSpPr>
          <p:cNvPr id="19" name="Text 14"/>
          <p:cNvSpPr/>
          <p:nvPr/>
        </p:nvSpPr>
        <p:spPr>
          <a:xfrm>
            <a:off x="9701784" y="2743200"/>
            <a:ext cx="1676095" cy="1005840"/>
          </a:xfrm>
          <a:prstGeom prst="rect">
            <a:avLst/>
          </a:prstGeom>
          <a:noFill/>
          <a:ln/>
        </p:spPr>
        <p:txBody>
          <a:bodyPr wrap="square" lIns="0" tIns="0" rIns="0" bIns="0" rtlCol="0" anchor="ctr"/>
          <a:lstStyle/>
          <a:p>
            <a:pPr indent="0" marL="0">
              <a:lnSpc>
                <a:spcPct val="108000"/>
              </a:lnSpc>
              <a:spcAft>
                <a:spcPts val="300"/>
              </a:spcAft>
              <a:buNone/>
            </a:pPr>
            <a:r>
              <a:rPr lang="en-US" sz="1250" b="1" dirty="0">
                <a:solidFill>
                  <a:srgbClr val="0F8B85"/>
                </a:solidFill>
                <a:latin typeface="Calibri" pitchFamily="34" charset="0"/>
                <a:ea typeface="Calibri" pitchFamily="34" charset="-122"/>
                <a:cs typeface="Calibri" pitchFamily="34" charset="-120"/>
              </a:rPr>
              <a:t>One-way TLS</a:t>
            </a:r>
            <a:endParaRPr lang="en-US" sz="1250" dirty="0"/>
          </a:p>
          <a:p>
            <a:pPr indent="0" marL="0">
              <a:lnSpc>
                <a:spcPct val="108000"/>
              </a:lnSpc>
              <a:spcAft>
                <a:spcPts val="300"/>
              </a:spcAft>
              <a:buNone/>
            </a:pPr>
            <a:r>
              <a:rPr lang="en-US" sz="1250" dirty="0">
                <a:solidFill>
                  <a:srgbClr val="C7D2E0"/>
                </a:solidFill>
                <a:latin typeface="Calibri" pitchFamily="34" charset="0"/>
                <a:ea typeface="Calibri" pitchFamily="34" charset="-122"/>
                <a:cs typeface="Calibri" pitchFamily="34" charset="-120"/>
              </a:rPr>
              <a:t>Server authentication only. Clients validate the server cert; the server does not require client certs.</a:t>
            </a:r>
            <a:endParaRPr lang="en-US" sz="1250" dirty="0"/>
          </a:p>
          <a:p>
            <a:pPr indent="0" marL="0">
              <a:lnSpc>
                <a:spcPct val="108000"/>
              </a:lnSpc>
              <a:spcAft>
                <a:spcPts val="300"/>
              </a:spcAft>
              <a:buNone/>
            </a:pPr>
            <a:r>
              <a:rPr lang="en-US" sz="1250" i="1" dirty="0">
                <a:solidFill>
                  <a:srgbClr val="8194A8"/>
                </a:solidFill>
                <a:latin typeface="Calibri" pitchFamily="34" charset="0"/>
                <a:ea typeface="Calibri" pitchFamily="34" charset="-122"/>
                <a:cs typeface="Calibri" pitchFamily="34" charset="-120"/>
              </a:rPr>
              <a:t>Mutual-TLS is out of scope.</a:t>
            </a:r>
            <a:endParaRPr lang="en-US" sz="1250" dirty="0"/>
          </a:p>
        </p:txBody>
      </p:sp>
      <p:sp>
        <p:nvSpPr>
          <p:cNvPr id="20" name="Shape 15"/>
          <p:cNvSpPr/>
          <p:nvPr/>
        </p:nvSpPr>
        <p:spPr>
          <a:xfrm>
            <a:off x="566928" y="4114800"/>
            <a:ext cx="11057839" cy="2103120"/>
          </a:xfrm>
          <a:prstGeom prst="roundRect">
            <a:avLst>
              <a:gd name="adj" fmla="val 3478"/>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1" name="Shape 16"/>
          <p:cNvSpPr/>
          <p:nvPr/>
        </p:nvSpPr>
        <p:spPr>
          <a:xfrm>
            <a:off x="859536" y="4370832"/>
            <a:ext cx="640080" cy="640080"/>
          </a:xfrm>
          <a:prstGeom prst="ellipse">
            <a:avLst/>
          </a:prstGeom>
          <a:solidFill>
            <a:srgbClr val="0F8B85"/>
          </a:solidFill>
          <a:ln/>
        </p:spPr>
        <p:txBody>
          <a:bodyPr/>
          <a:p/>
        </p:txBody>
      </p:sp>
      <p:pic>
        <p:nvPicPr>
          <p:cNvPr id="22" name="Image 3" descr="preencoded.png">    </p:cNvPr>
          <p:cNvPicPr>
            <a:picLocks noChangeAspect="1"/>
          </p:cNvPicPr>
          <p:nvPr/>
        </p:nvPicPr>
        <p:blipFill>
          <a:blip r:embed="rId4"/>
          <a:stretch>
            <a:fillRect/>
          </a:stretch>
        </p:blipFill>
        <p:spPr>
          <a:xfrm>
            <a:off x="1025957" y="4537253"/>
            <a:ext cx="307238" cy="307238"/>
          </a:xfrm>
          <a:prstGeom prst="rect">
            <a:avLst/>
          </a:prstGeom>
        </p:spPr>
      </p:pic>
      <p:sp>
        <p:nvSpPr>
          <p:cNvPr id="23" name="Text 17"/>
          <p:cNvSpPr/>
          <p:nvPr/>
        </p:nvSpPr>
        <p:spPr>
          <a:xfrm>
            <a:off x="1664208" y="4315968"/>
            <a:ext cx="9777679" cy="411480"/>
          </a:xfrm>
          <a:prstGeom prst="rect">
            <a:avLst/>
          </a:prstGeom>
          <a:noFill/>
          <a:ln/>
        </p:spPr>
        <p:txBody>
          <a:bodyPr wrap="square" lIns="0" tIns="0" rIns="0" bIns="0" rtlCol="0" anchor="ctr"/>
          <a:lstStyle/>
          <a:p>
            <a:pPr indent="0" marL="0">
              <a:buNone/>
            </a:pPr>
            <a:r>
              <a:rPr lang="en-US" sz="1800" b="1" dirty="0">
                <a:solidFill>
                  <a:srgbClr val="1C2A3E"/>
                </a:solidFill>
                <a:latin typeface="Cambria" pitchFamily="34" charset="0"/>
                <a:ea typeface="Cambria" pitchFamily="34" charset="-122"/>
                <a:cs typeface="Cambria" pitchFamily="34" charset="-120"/>
              </a:rPr>
              <a:t>Dual-port coexistence is the delivery mechanism</a:t>
            </a:r>
            <a:endParaRPr lang="en-US" sz="1800" dirty="0"/>
          </a:p>
        </p:txBody>
      </p:sp>
      <p:sp>
        <p:nvSpPr>
          <p:cNvPr id="24" name="Text 18"/>
          <p:cNvSpPr/>
          <p:nvPr/>
        </p:nvSpPr>
        <p:spPr>
          <a:xfrm>
            <a:off x="1664208" y="4754880"/>
            <a:ext cx="9686239" cy="1280160"/>
          </a:xfrm>
          <a:prstGeom prst="rect">
            <a:avLst/>
          </a:prstGeom>
          <a:noFill/>
          <a:ln/>
        </p:spPr>
        <p:txBody>
          <a:bodyPr wrap="square" lIns="0" tIns="0" rIns="0" bIns="0" rtlCol="0" anchor="t"/>
          <a:lstStyle/>
          <a:p>
            <a:pPr indent="0" marL="0">
              <a:lnSpc>
                <a:spcPct val="112000"/>
              </a:lnSpc>
              <a:buNone/>
            </a:pPr>
            <a:r>
              <a:rPr lang="en-US" sz="1400" b="1" dirty="0">
                <a:solidFill>
                  <a:srgbClr val="1C2A3E"/>
                </a:solidFill>
                <a:latin typeface="Calibri" pitchFamily="34" charset="0"/>
                <a:ea typeface="Calibri" pitchFamily="34" charset="-122"/>
                <a:cs typeface="Calibri" pitchFamily="34" charset="-120"/>
              </a:rPr>
              <a:t>One listener serves both TCP 1526 and TCPS 1527 simultaneously. </a:t>
            </a:r>
            <a:pPr indent="0" marL="0">
              <a:lnSpc>
                <a:spcPct val="112000"/>
              </a:lnSpc>
              <a:buNone/>
            </a:pPr>
            <a:r>
              <a:rPr lang="en-US" sz="1400" dirty="0">
                <a:solidFill>
                  <a:srgbClr val="44586E"/>
                </a:solidFill>
                <a:latin typeface="Calibri" pitchFamily="34" charset="0"/>
                <a:ea typeface="Calibri" pitchFamily="34" charset="-122"/>
                <a:cs typeface="Calibri" pitchFamily="34" charset="-120"/>
              </a:rPr>
              <a:t>Existing clients keep working on 1526 while each application team migrates its connect strings, truststores and pools to 1527 at its own pace. Only when monitoring shows </a:t>
            </a:r>
            <a:pPr indent="0" marL="0">
              <a:lnSpc>
                <a:spcPct val="112000"/>
              </a:lnSpc>
              <a:buNone/>
            </a:pPr>
            <a:r>
              <a:rPr lang="en-US" sz="1400" b="1" dirty="0">
                <a:solidFill>
                  <a:srgbClr val="0B6B66"/>
                </a:solidFill>
                <a:latin typeface="Calibri" pitchFamily="34" charset="0"/>
                <a:ea typeface="Calibri" pitchFamily="34" charset="-122"/>
                <a:cs typeface="Calibri" pitchFamily="34" charset="-120"/>
              </a:rPr>
              <a:t>zero remaining cleartext sessions</a:t>
            </a:r>
            <a:pPr indent="0" marL="0">
              <a:lnSpc>
                <a:spcPct val="112000"/>
              </a:lnSpc>
              <a:buNone/>
            </a:pPr>
            <a:r>
              <a:rPr lang="en-US" sz="1400" dirty="0">
                <a:solidFill>
                  <a:srgbClr val="44586E"/>
                </a:solidFill>
                <a:latin typeface="Calibri" pitchFamily="34" charset="0"/>
                <a:ea typeface="Calibri" pitchFamily="34" charset="-122"/>
                <a:cs typeface="Calibri" pitchFamily="34" charset="-120"/>
              </a:rPr>
              <a:t> do we close 1526. This decouples DBA-side enablement from app-side migration — the biggest schedule risk on this track.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THE STANDARD WE'VE FIXED</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TLS design decisions</a:t>
            </a:r>
            <a:endParaRPr lang="en-US" sz="2700" dirty="0"/>
          </a:p>
        </p:txBody>
      </p:sp>
      <p:sp>
        <p:nvSpPr>
          <p:cNvPr id="6" name="Shape 3"/>
          <p:cNvSpPr/>
          <p:nvPr/>
        </p:nvSpPr>
        <p:spPr>
          <a:xfrm>
            <a:off x="566928" y="1874520"/>
            <a:ext cx="3533546" cy="1737360"/>
          </a:xfrm>
          <a:prstGeom prst="roundRect">
            <a:avLst>
              <a:gd name="adj" fmla="val 4211"/>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822960" y="2130552"/>
            <a:ext cx="566928" cy="566928"/>
          </a:xfrm>
          <a:prstGeom prst="ellipse">
            <a:avLst/>
          </a:prstGeom>
          <a:solidFill>
            <a:srgbClr val="0F8B85"/>
          </a:solidFill>
          <a:ln/>
        </p:spPr>
        <p:txBody>
          <a:bodyPr/>
          <a:p/>
        </p:txBody>
      </p:sp>
      <p:pic>
        <p:nvPicPr>
          <p:cNvPr id="8" name="Image 1" descr="preencoded.png">    </p:cNvPr>
          <p:cNvPicPr>
            <a:picLocks noChangeAspect="1"/>
          </p:cNvPicPr>
          <p:nvPr/>
        </p:nvPicPr>
        <p:blipFill>
          <a:blip r:embed="rId2"/>
          <a:stretch>
            <a:fillRect/>
          </a:stretch>
        </p:blipFill>
        <p:spPr>
          <a:xfrm>
            <a:off x="970361" y="2277953"/>
            <a:ext cx="272125" cy="272125"/>
          </a:xfrm>
          <a:prstGeom prst="rect">
            <a:avLst/>
          </a:prstGeom>
        </p:spPr>
      </p:pic>
      <p:sp>
        <p:nvSpPr>
          <p:cNvPr id="9" name="Text 5"/>
          <p:cNvSpPr/>
          <p:nvPr/>
        </p:nvSpPr>
        <p:spPr>
          <a:xfrm>
            <a:off x="822960" y="2788920"/>
            <a:ext cx="3076346" cy="329184"/>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Dual-port</a:t>
            </a:r>
            <a:endParaRPr lang="en-US" sz="1700" dirty="0"/>
          </a:p>
        </p:txBody>
      </p:sp>
      <p:sp>
        <p:nvSpPr>
          <p:cNvPr id="10" name="Text 6"/>
          <p:cNvSpPr/>
          <p:nvPr/>
        </p:nvSpPr>
        <p:spPr>
          <a:xfrm>
            <a:off x="822960" y="3108960"/>
            <a:ext cx="3076346" cy="457200"/>
          </a:xfrm>
          <a:prstGeom prst="rect">
            <a:avLst/>
          </a:prstGeom>
          <a:noFill/>
          <a:ln/>
        </p:spPr>
        <p:txBody>
          <a:bodyPr wrap="square" lIns="0" tIns="0" rIns="0" bIns="0" rtlCol="0" anchor="t"/>
          <a:lstStyle/>
          <a:p>
            <a:pPr indent="0" marL="0">
              <a:lnSpc>
                <a:spcPct val="100000"/>
              </a:lnSpc>
              <a:buNone/>
            </a:pPr>
            <a:r>
              <a:rPr lang="en-US" sz="1200" dirty="0">
                <a:solidFill>
                  <a:srgbClr val="44586E"/>
                </a:solidFill>
                <a:latin typeface="Calibri" pitchFamily="34" charset="0"/>
                <a:ea typeface="Calibri" pitchFamily="34" charset="-122"/>
                <a:cs typeface="Calibri" pitchFamily="34" charset="-120"/>
              </a:rPr>
              <a:t>TCP 1526 kept during coexistence; TCPS added on 1527</a:t>
            </a:r>
            <a:endParaRPr lang="en-US" sz="1200" dirty="0"/>
          </a:p>
        </p:txBody>
      </p:sp>
      <p:sp>
        <p:nvSpPr>
          <p:cNvPr id="11" name="Shape 7"/>
          <p:cNvSpPr/>
          <p:nvPr/>
        </p:nvSpPr>
        <p:spPr>
          <a:xfrm>
            <a:off x="4329074" y="1874520"/>
            <a:ext cx="3533546" cy="1737360"/>
          </a:xfrm>
          <a:prstGeom prst="roundRect">
            <a:avLst>
              <a:gd name="adj" fmla="val 4211"/>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8"/>
          <p:cNvSpPr/>
          <p:nvPr/>
        </p:nvSpPr>
        <p:spPr>
          <a:xfrm>
            <a:off x="4585106" y="2130552"/>
            <a:ext cx="566928" cy="566928"/>
          </a:xfrm>
          <a:prstGeom prst="ellipse">
            <a:avLst/>
          </a:prstGeom>
          <a:solidFill>
            <a:srgbClr val="0F8B85"/>
          </a:solidFill>
          <a:ln/>
        </p:spPr>
        <p:txBody>
          <a:bodyPr/>
          <a:p/>
        </p:txBody>
      </p:sp>
      <p:pic>
        <p:nvPicPr>
          <p:cNvPr id="13" name="Image 2" descr="preencoded.png">    </p:cNvPr>
          <p:cNvPicPr>
            <a:picLocks noChangeAspect="1"/>
          </p:cNvPicPr>
          <p:nvPr/>
        </p:nvPicPr>
        <p:blipFill>
          <a:blip r:embed="rId3"/>
          <a:stretch>
            <a:fillRect/>
          </a:stretch>
        </p:blipFill>
        <p:spPr>
          <a:xfrm>
            <a:off x="4732508" y="2277953"/>
            <a:ext cx="272125" cy="272125"/>
          </a:xfrm>
          <a:prstGeom prst="rect">
            <a:avLst/>
          </a:prstGeom>
        </p:spPr>
      </p:pic>
      <p:sp>
        <p:nvSpPr>
          <p:cNvPr id="14" name="Text 9"/>
          <p:cNvSpPr/>
          <p:nvPr/>
        </p:nvSpPr>
        <p:spPr>
          <a:xfrm>
            <a:off x="4585106" y="2788920"/>
            <a:ext cx="3076346" cy="329184"/>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One-way TLS</a:t>
            </a:r>
            <a:endParaRPr lang="en-US" sz="1700" dirty="0"/>
          </a:p>
        </p:txBody>
      </p:sp>
      <p:sp>
        <p:nvSpPr>
          <p:cNvPr id="15" name="Text 10"/>
          <p:cNvSpPr/>
          <p:nvPr/>
        </p:nvSpPr>
        <p:spPr>
          <a:xfrm>
            <a:off x="4585106" y="3108960"/>
            <a:ext cx="3076346" cy="457200"/>
          </a:xfrm>
          <a:prstGeom prst="rect">
            <a:avLst/>
          </a:prstGeom>
          <a:noFill/>
          <a:ln/>
        </p:spPr>
        <p:txBody>
          <a:bodyPr wrap="square" lIns="0" tIns="0" rIns="0" bIns="0" rtlCol="0" anchor="t"/>
          <a:lstStyle/>
          <a:p>
            <a:pPr indent="0" marL="0">
              <a:lnSpc>
                <a:spcPct val="100000"/>
              </a:lnSpc>
              <a:buNone/>
            </a:pPr>
            <a:r>
              <a:rPr lang="en-US" sz="1200" dirty="0">
                <a:solidFill>
                  <a:srgbClr val="44586E"/>
                </a:solidFill>
                <a:latin typeface="Calibri" pitchFamily="34" charset="0"/>
                <a:ea typeface="Calibri" pitchFamily="34" charset="-122"/>
                <a:cs typeface="Calibri" pitchFamily="34" charset="-120"/>
              </a:rPr>
              <a:t>SSL_CLIENT_AUTHENTICATION = FALSE — server auth only</a:t>
            </a:r>
            <a:endParaRPr lang="en-US" sz="1200" dirty="0"/>
          </a:p>
        </p:txBody>
      </p:sp>
      <p:sp>
        <p:nvSpPr>
          <p:cNvPr id="16" name="Shape 11"/>
          <p:cNvSpPr/>
          <p:nvPr/>
        </p:nvSpPr>
        <p:spPr>
          <a:xfrm>
            <a:off x="8091221" y="1874520"/>
            <a:ext cx="3533546" cy="1737360"/>
          </a:xfrm>
          <a:prstGeom prst="roundRect">
            <a:avLst>
              <a:gd name="adj" fmla="val 4211"/>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2"/>
          <p:cNvSpPr/>
          <p:nvPr/>
        </p:nvSpPr>
        <p:spPr>
          <a:xfrm>
            <a:off x="8347253" y="2130552"/>
            <a:ext cx="566928" cy="566928"/>
          </a:xfrm>
          <a:prstGeom prst="ellipse">
            <a:avLst/>
          </a:prstGeom>
          <a:solidFill>
            <a:srgbClr val="0F8B85"/>
          </a:solidFill>
          <a:ln/>
        </p:spPr>
        <p:txBody>
          <a:bodyPr/>
          <a:p/>
        </p:txBody>
      </p:sp>
      <p:pic>
        <p:nvPicPr>
          <p:cNvPr id="18" name="Image 3" descr="preencoded.png">    </p:cNvPr>
          <p:cNvPicPr>
            <a:picLocks noChangeAspect="1"/>
          </p:cNvPicPr>
          <p:nvPr/>
        </p:nvPicPr>
        <p:blipFill>
          <a:blip r:embed="rId4"/>
          <a:stretch>
            <a:fillRect/>
          </a:stretch>
        </p:blipFill>
        <p:spPr>
          <a:xfrm>
            <a:off x="8494654" y="2277953"/>
            <a:ext cx="272125" cy="272125"/>
          </a:xfrm>
          <a:prstGeom prst="rect">
            <a:avLst/>
          </a:prstGeom>
        </p:spPr>
      </p:pic>
      <p:sp>
        <p:nvSpPr>
          <p:cNvPr id="19" name="Text 13"/>
          <p:cNvSpPr/>
          <p:nvPr/>
        </p:nvSpPr>
        <p:spPr>
          <a:xfrm>
            <a:off x="8347253" y="2788920"/>
            <a:ext cx="3076346" cy="329184"/>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TLS 1.2 default</a:t>
            </a:r>
            <a:endParaRPr lang="en-US" sz="1700" dirty="0"/>
          </a:p>
        </p:txBody>
      </p:sp>
      <p:sp>
        <p:nvSpPr>
          <p:cNvPr id="20" name="Text 14"/>
          <p:cNvSpPr/>
          <p:nvPr/>
        </p:nvSpPr>
        <p:spPr>
          <a:xfrm>
            <a:off x="8347253" y="3108960"/>
            <a:ext cx="3076346" cy="457200"/>
          </a:xfrm>
          <a:prstGeom prst="rect">
            <a:avLst/>
          </a:prstGeom>
          <a:noFill/>
          <a:ln/>
        </p:spPr>
        <p:txBody>
          <a:bodyPr wrap="square" lIns="0" tIns="0" rIns="0" bIns="0" rtlCol="0" anchor="t"/>
          <a:lstStyle/>
          <a:p>
            <a:pPr indent="0" marL="0">
              <a:lnSpc>
                <a:spcPct val="100000"/>
              </a:lnSpc>
              <a:buNone/>
            </a:pPr>
            <a:r>
              <a:rPr lang="en-US" sz="1200" dirty="0">
                <a:solidFill>
                  <a:srgbClr val="44586E"/>
                </a:solidFill>
                <a:latin typeface="Calibri" pitchFamily="34" charset="0"/>
                <a:ea typeface="Calibri" pitchFamily="34" charset="-122"/>
                <a:cs typeface="Calibri" pitchFamily="34" charset="-120"/>
              </a:rPr>
              <a:t>Fleet 19.30 supports 1.3 — enable after client-driver check</a:t>
            </a:r>
            <a:endParaRPr lang="en-US" sz="1200" dirty="0"/>
          </a:p>
        </p:txBody>
      </p:sp>
      <p:sp>
        <p:nvSpPr>
          <p:cNvPr id="21" name="Shape 15"/>
          <p:cNvSpPr/>
          <p:nvPr/>
        </p:nvSpPr>
        <p:spPr>
          <a:xfrm>
            <a:off x="566928" y="3867912"/>
            <a:ext cx="3533546" cy="1737360"/>
          </a:xfrm>
          <a:prstGeom prst="roundRect">
            <a:avLst>
              <a:gd name="adj" fmla="val 4211"/>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6"/>
          <p:cNvSpPr/>
          <p:nvPr/>
        </p:nvSpPr>
        <p:spPr>
          <a:xfrm>
            <a:off x="822960" y="4123944"/>
            <a:ext cx="566928" cy="566928"/>
          </a:xfrm>
          <a:prstGeom prst="ellipse">
            <a:avLst/>
          </a:prstGeom>
          <a:solidFill>
            <a:srgbClr val="0F8B85"/>
          </a:solidFill>
          <a:ln/>
        </p:spPr>
        <p:txBody>
          <a:bodyPr/>
          <a:p/>
        </p:txBody>
      </p:sp>
      <p:pic>
        <p:nvPicPr>
          <p:cNvPr id="23" name="Image 4" descr="preencoded.png">    </p:cNvPr>
          <p:cNvPicPr>
            <a:picLocks noChangeAspect="1"/>
          </p:cNvPicPr>
          <p:nvPr/>
        </p:nvPicPr>
        <p:blipFill>
          <a:blip r:embed="rId5"/>
          <a:stretch>
            <a:fillRect/>
          </a:stretch>
        </p:blipFill>
        <p:spPr>
          <a:xfrm>
            <a:off x="970361" y="4271345"/>
            <a:ext cx="272125" cy="272125"/>
          </a:xfrm>
          <a:prstGeom prst="rect">
            <a:avLst/>
          </a:prstGeom>
        </p:spPr>
      </p:pic>
      <p:sp>
        <p:nvSpPr>
          <p:cNvPr id="24" name="Text 17"/>
          <p:cNvSpPr/>
          <p:nvPr/>
        </p:nvSpPr>
        <p:spPr>
          <a:xfrm>
            <a:off x="822960" y="4782312"/>
            <a:ext cx="3076346" cy="329184"/>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Strong ciphers</a:t>
            </a:r>
            <a:endParaRPr lang="en-US" sz="1700" dirty="0"/>
          </a:p>
        </p:txBody>
      </p:sp>
      <p:sp>
        <p:nvSpPr>
          <p:cNvPr id="25" name="Text 18"/>
          <p:cNvSpPr/>
          <p:nvPr/>
        </p:nvSpPr>
        <p:spPr>
          <a:xfrm>
            <a:off x="822960" y="5102352"/>
            <a:ext cx="3076346" cy="457200"/>
          </a:xfrm>
          <a:prstGeom prst="rect">
            <a:avLst/>
          </a:prstGeom>
          <a:noFill/>
          <a:ln/>
        </p:spPr>
        <p:txBody>
          <a:bodyPr wrap="square" lIns="0" tIns="0" rIns="0" bIns="0" rtlCol="0" anchor="t"/>
          <a:lstStyle/>
          <a:p>
            <a:pPr indent="0" marL="0">
              <a:lnSpc>
                <a:spcPct val="100000"/>
              </a:lnSpc>
              <a:buNone/>
            </a:pPr>
            <a:r>
              <a:rPr lang="en-US" sz="1200" dirty="0">
                <a:solidFill>
                  <a:srgbClr val="44586E"/>
                </a:solidFill>
                <a:latin typeface="Calibri" pitchFamily="34" charset="0"/>
                <a:ea typeface="Calibri" pitchFamily="34" charset="-122"/>
                <a:cs typeface="Calibri" pitchFamily="34" charset="-120"/>
              </a:rPr>
              <a:t>ECDHE + AES-GCM only (forward secrecy); no CBC / RSA-kx</a:t>
            </a:r>
            <a:endParaRPr lang="en-US" sz="1200" dirty="0"/>
          </a:p>
        </p:txBody>
      </p:sp>
      <p:sp>
        <p:nvSpPr>
          <p:cNvPr id="26" name="Shape 19"/>
          <p:cNvSpPr/>
          <p:nvPr/>
        </p:nvSpPr>
        <p:spPr>
          <a:xfrm>
            <a:off x="4329074" y="3867912"/>
            <a:ext cx="3533546" cy="1737360"/>
          </a:xfrm>
          <a:prstGeom prst="roundRect">
            <a:avLst>
              <a:gd name="adj" fmla="val 4211"/>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20"/>
          <p:cNvSpPr/>
          <p:nvPr/>
        </p:nvSpPr>
        <p:spPr>
          <a:xfrm>
            <a:off x="4585106" y="4123944"/>
            <a:ext cx="566928" cy="566928"/>
          </a:xfrm>
          <a:prstGeom prst="ellipse">
            <a:avLst/>
          </a:prstGeom>
          <a:solidFill>
            <a:srgbClr val="0F8B85"/>
          </a:solidFill>
          <a:ln/>
        </p:spPr>
        <p:txBody>
          <a:bodyPr/>
          <a:p/>
        </p:txBody>
      </p:sp>
      <p:pic>
        <p:nvPicPr>
          <p:cNvPr id="28" name="Image 5" descr="preencoded.png">    </p:cNvPr>
          <p:cNvPicPr>
            <a:picLocks noChangeAspect="1"/>
          </p:cNvPicPr>
          <p:nvPr/>
        </p:nvPicPr>
        <p:blipFill>
          <a:blip r:embed="rId6"/>
          <a:stretch>
            <a:fillRect/>
          </a:stretch>
        </p:blipFill>
        <p:spPr>
          <a:xfrm>
            <a:off x="4732508" y="4271345"/>
            <a:ext cx="272125" cy="272125"/>
          </a:xfrm>
          <a:prstGeom prst="rect">
            <a:avLst/>
          </a:prstGeom>
        </p:spPr>
      </p:pic>
      <p:sp>
        <p:nvSpPr>
          <p:cNvPr id="29" name="Text 21"/>
          <p:cNvSpPr/>
          <p:nvPr/>
        </p:nvSpPr>
        <p:spPr>
          <a:xfrm>
            <a:off x="4585106" y="4782312"/>
            <a:ext cx="3076346" cy="329184"/>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3072-bit RSA</a:t>
            </a:r>
            <a:endParaRPr lang="en-US" sz="1700" dirty="0"/>
          </a:p>
        </p:txBody>
      </p:sp>
      <p:sp>
        <p:nvSpPr>
          <p:cNvPr id="30" name="Text 22"/>
          <p:cNvSpPr/>
          <p:nvPr/>
        </p:nvSpPr>
        <p:spPr>
          <a:xfrm>
            <a:off x="4585106" y="5102352"/>
            <a:ext cx="3076346" cy="457200"/>
          </a:xfrm>
          <a:prstGeom prst="rect">
            <a:avLst/>
          </a:prstGeom>
          <a:noFill/>
          <a:ln/>
        </p:spPr>
        <p:txBody>
          <a:bodyPr wrap="square" lIns="0" tIns="0" rIns="0" bIns="0" rtlCol="0" anchor="t"/>
          <a:lstStyle/>
          <a:p>
            <a:pPr indent="0" marL="0">
              <a:lnSpc>
                <a:spcPct val="100000"/>
              </a:lnSpc>
              <a:buNone/>
            </a:pPr>
            <a:r>
              <a:rPr lang="en-US" sz="1200" dirty="0">
                <a:solidFill>
                  <a:srgbClr val="44586E"/>
                </a:solidFill>
                <a:latin typeface="Calibri" pitchFamily="34" charset="0"/>
                <a:ea typeface="Calibri" pitchFamily="34" charset="-122"/>
                <a:cs typeface="Calibri" pitchFamily="34" charset="-120"/>
              </a:rPr>
              <a:t>CN = server FQDN; SANs for every name clients use</a:t>
            </a:r>
            <a:endParaRPr lang="en-US" sz="1200" dirty="0"/>
          </a:p>
        </p:txBody>
      </p:sp>
      <p:sp>
        <p:nvSpPr>
          <p:cNvPr id="31" name="Shape 23"/>
          <p:cNvSpPr/>
          <p:nvPr/>
        </p:nvSpPr>
        <p:spPr>
          <a:xfrm>
            <a:off x="8091221" y="3867912"/>
            <a:ext cx="3533546" cy="1737360"/>
          </a:xfrm>
          <a:prstGeom prst="roundRect">
            <a:avLst>
              <a:gd name="adj" fmla="val 4211"/>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4"/>
          <p:cNvSpPr/>
          <p:nvPr/>
        </p:nvSpPr>
        <p:spPr>
          <a:xfrm>
            <a:off x="8347253" y="4123944"/>
            <a:ext cx="566928" cy="566928"/>
          </a:xfrm>
          <a:prstGeom prst="ellipse">
            <a:avLst/>
          </a:prstGeom>
          <a:solidFill>
            <a:srgbClr val="0F8B85"/>
          </a:solidFill>
          <a:ln/>
        </p:spPr>
        <p:txBody>
          <a:bodyPr/>
          <a:p/>
        </p:txBody>
      </p:sp>
      <p:pic>
        <p:nvPicPr>
          <p:cNvPr id="33" name="Image 6" descr="preencoded.png">    </p:cNvPr>
          <p:cNvPicPr>
            <a:picLocks noChangeAspect="1"/>
          </p:cNvPicPr>
          <p:nvPr/>
        </p:nvPicPr>
        <p:blipFill>
          <a:blip r:embed="rId7"/>
          <a:stretch>
            <a:fillRect/>
          </a:stretch>
        </p:blipFill>
        <p:spPr>
          <a:xfrm>
            <a:off x="8494654" y="4271345"/>
            <a:ext cx="272125" cy="272125"/>
          </a:xfrm>
          <a:prstGeom prst="rect">
            <a:avLst/>
          </a:prstGeom>
        </p:spPr>
      </p:pic>
      <p:sp>
        <p:nvSpPr>
          <p:cNvPr id="34" name="Text 25"/>
          <p:cNvSpPr/>
          <p:nvPr/>
        </p:nvSpPr>
        <p:spPr>
          <a:xfrm>
            <a:off x="8347253" y="4782312"/>
            <a:ext cx="3076346" cy="329184"/>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Separate wallet</a:t>
            </a:r>
            <a:endParaRPr lang="en-US" sz="1700" dirty="0"/>
          </a:p>
        </p:txBody>
      </p:sp>
      <p:sp>
        <p:nvSpPr>
          <p:cNvPr id="35" name="Text 26"/>
          <p:cNvSpPr/>
          <p:nvPr/>
        </p:nvSpPr>
        <p:spPr>
          <a:xfrm>
            <a:off x="8347253" y="5102352"/>
            <a:ext cx="3076346" cy="457200"/>
          </a:xfrm>
          <a:prstGeom prst="rect">
            <a:avLst/>
          </a:prstGeom>
          <a:noFill/>
          <a:ln/>
        </p:spPr>
        <p:txBody>
          <a:bodyPr wrap="square" lIns="0" tIns="0" rIns="0" bIns="0" rtlCol="0" anchor="t"/>
          <a:lstStyle/>
          <a:p>
            <a:pPr indent="0" marL="0">
              <a:lnSpc>
                <a:spcPct val="100000"/>
              </a:lnSpc>
              <a:buNone/>
            </a:pPr>
            <a:r>
              <a:rPr lang="en-US" sz="1200" dirty="0">
                <a:solidFill>
                  <a:srgbClr val="44586E"/>
                </a:solidFill>
                <a:latin typeface="Calibri" pitchFamily="34" charset="0"/>
                <a:ea typeface="Calibri" pitchFamily="34" charset="-122"/>
                <a:cs typeface="Calibri" pitchFamily="34" charset="-120"/>
              </a:rPr>
              <a:t>TLS wallet never shared with the TDE keystore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DELIVERABLES ON THIS TRACK</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TLS — what's built</a:t>
            </a:r>
            <a:endParaRPr lang="en-US" sz="2700" dirty="0"/>
          </a:p>
        </p:txBody>
      </p:sp>
      <p:sp>
        <p:nvSpPr>
          <p:cNvPr id="6" name="Shape 3"/>
          <p:cNvSpPr/>
          <p:nvPr/>
        </p:nvSpPr>
        <p:spPr>
          <a:xfrm>
            <a:off x="566928" y="1810512"/>
            <a:ext cx="5368900" cy="731520"/>
          </a:xfrm>
          <a:prstGeom prst="roundRect">
            <a:avLst>
              <a:gd name="adj" fmla="val 7500"/>
            </a:avLst>
          </a:prstGeom>
          <a:solidFill>
            <a:srgbClr val="F3F6FA"/>
          </a:solidFill>
          <a:ln w="12700">
            <a:solidFill>
              <a:srgbClr val="D8E0EA"/>
            </a:solidFill>
            <a:prstDash val="solid"/>
          </a:ln>
        </p:spPr>
        <p:txBody>
          <a:bodyPr/>
          <a:p/>
        </p:txBody>
      </p:sp>
      <p:sp>
        <p:nvSpPr>
          <p:cNvPr id="7" name="Shape 4"/>
          <p:cNvSpPr/>
          <p:nvPr/>
        </p:nvSpPr>
        <p:spPr>
          <a:xfrm>
            <a:off x="704088" y="1938528"/>
            <a:ext cx="475488" cy="475488"/>
          </a:xfrm>
          <a:prstGeom prst="ellipse">
            <a:avLst/>
          </a:prstGeom>
          <a:solidFill>
            <a:srgbClr val="0F8B85"/>
          </a:solidFill>
          <a:ln/>
        </p:spPr>
        <p:txBody>
          <a:bodyPr/>
          <a:p/>
        </p:txBody>
      </p:sp>
      <p:pic>
        <p:nvPicPr>
          <p:cNvPr id="8" name="Image 1" descr="preencoded.png">    </p:cNvPr>
          <p:cNvPicPr>
            <a:picLocks noChangeAspect="1"/>
          </p:cNvPicPr>
          <p:nvPr/>
        </p:nvPicPr>
        <p:blipFill>
          <a:blip r:embed="rId2"/>
          <a:stretch>
            <a:fillRect/>
          </a:stretch>
        </p:blipFill>
        <p:spPr>
          <a:xfrm>
            <a:off x="827715" y="2062155"/>
            <a:ext cx="228234" cy="228234"/>
          </a:xfrm>
          <a:prstGeom prst="rect">
            <a:avLst/>
          </a:prstGeom>
        </p:spPr>
      </p:pic>
      <p:sp>
        <p:nvSpPr>
          <p:cNvPr id="9" name="Text 5"/>
          <p:cNvSpPr/>
          <p:nvPr/>
        </p:nvSpPr>
        <p:spPr>
          <a:xfrm>
            <a:off x="1298448" y="1901952"/>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Wallet &amp; CSR workflow</a:t>
            </a:r>
            <a:endParaRPr lang="en-US" sz="1400" dirty="0"/>
          </a:p>
        </p:txBody>
      </p:sp>
      <p:sp>
        <p:nvSpPr>
          <p:cNvPr id="10" name="Text 6"/>
          <p:cNvSpPr/>
          <p:nvPr/>
        </p:nvSpPr>
        <p:spPr>
          <a:xfrm>
            <a:off x="1298448" y="2176272"/>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orapki: create, CSR, import chain in the right order</a:t>
            </a:r>
            <a:endParaRPr lang="en-US" sz="1080" dirty="0"/>
          </a:p>
        </p:txBody>
      </p:sp>
      <p:sp>
        <p:nvSpPr>
          <p:cNvPr id="11" name="Shape 7"/>
          <p:cNvSpPr/>
          <p:nvPr/>
        </p:nvSpPr>
        <p:spPr>
          <a:xfrm>
            <a:off x="6255868" y="1810512"/>
            <a:ext cx="5368900" cy="731520"/>
          </a:xfrm>
          <a:prstGeom prst="roundRect">
            <a:avLst>
              <a:gd name="adj" fmla="val 7500"/>
            </a:avLst>
          </a:prstGeom>
          <a:solidFill>
            <a:srgbClr val="F3F6FA"/>
          </a:solidFill>
          <a:ln w="12700">
            <a:solidFill>
              <a:srgbClr val="D8E0EA"/>
            </a:solidFill>
            <a:prstDash val="solid"/>
          </a:ln>
        </p:spPr>
        <p:txBody>
          <a:bodyPr/>
          <a:p/>
        </p:txBody>
      </p:sp>
      <p:sp>
        <p:nvSpPr>
          <p:cNvPr id="12" name="Shape 8"/>
          <p:cNvSpPr/>
          <p:nvPr/>
        </p:nvSpPr>
        <p:spPr>
          <a:xfrm>
            <a:off x="6393028" y="1938528"/>
            <a:ext cx="475488" cy="475488"/>
          </a:xfrm>
          <a:prstGeom prst="ellipse">
            <a:avLst/>
          </a:prstGeom>
          <a:solidFill>
            <a:srgbClr val="0F8B85"/>
          </a:solidFill>
          <a:ln/>
        </p:spPr>
        <p:txBody>
          <a:bodyPr/>
          <a:p/>
        </p:txBody>
      </p:sp>
      <p:pic>
        <p:nvPicPr>
          <p:cNvPr id="13" name="Image 2" descr="preencoded.png">    </p:cNvPr>
          <p:cNvPicPr>
            <a:picLocks noChangeAspect="1"/>
          </p:cNvPicPr>
          <p:nvPr/>
        </p:nvPicPr>
        <p:blipFill>
          <a:blip r:embed="rId3"/>
          <a:stretch>
            <a:fillRect/>
          </a:stretch>
        </p:blipFill>
        <p:spPr>
          <a:xfrm>
            <a:off x="6516654" y="2062155"/>
            <a:ext cx="228234" cy="228234"/>
          </a:xfrm>
          <a:prstGeom prst="rect">
            <a:avLst/>
          </a:prstGeom>
        </p:spPr>
      </p:pic>
      <p:sp>
        <p:nvSpPr>
          <p:cNvPr id="14" name="Text 9"/>
          <p:cNvSpPr/>
          <p:nvPr/>
        </p:nvSpPr>
        <p:spPr>
          <a:xfrm>
            <a:off x="6987388" y="1901952"/>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Listener &amp; sqlnet.ora</a:t>
            </a:r>
            <a:endParaRPr lang="en-US" sz="1400" dirty="0"/>
          </a:p>
        </p:txBody>
      </p:sp>
      <p:sp>
        <p:nvSpPr>
          <p:cNvPr id="15" name="Text 10"/>
          <p:cNvSpPr/>
          <p:nvPr/>
        </p:nvSpPr>
        <p:spPr>
          <a:xfrm>
            <a:off x="6987388" y="2176272"/>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TCPS endpoint, wallet, ciphers, DN-match, registration</a:t>
            </a:r>
            <a:endParaRPr lang="en-US" sz="1080" dirty="0"/>
          </a:p>
        </p:txBody>
      </p:sp>
      <p:sp>
        <p:nvSpPr>
          <p:cNvPr id="16" name="Shape 11"/>
          <p:cNvSpPr/>
          <p:nvPr/>
        </p:nvSpPr>
        <p:spPr>
          <a:xfrm>
            <a:off x="566928" y="2651760"/>
            <a:ext cx="5368900" cy="731520"/>
          </a:xfrm>
          <a:prstGeom prst="roundRect">
            <a:avLst>
              <a:gd name="adj" fmla="val 7500"/>
            </a:avLst>
          </a:prstGeom>
          <a:solidFill>
            <a:srgbClr val="F3F6FA"/>
          </a:solidFill>
          <a:ln w="12700">
            <a:solidFill>
              <a:srgbClr val="D8E0EA"/>
            </a:solidFill>
            <a:prstDash val="solid"/>
          </a:ln>
        </p:spPr>
        <p:txBody>
          <a:bodyPr/>
          <a:p/>
        </p:txBody>
      </p:sp>
      <p:sp>
        <p:nvSpPr>
          <p:cNvPr id="17" name="Shape 12"/>
          <p:cNvSpPr/>
          <p:nvPr/>
        </p:nvSpPr>
        <p:spPr>
          <a:xfrm>
            <a:off x="704088" y="2779776"/>
            <a:ext cx="475488" cy="475488"/>
          </a:xfrm>
          <a:prstGeom prst="ellipse">
            <a:avLst/>
          </a:prstGeom>
          <a:solidFill>
            <a:srgbClr val="0F8B85"/>
          </a:solidFill>
          <a:ln/>
        </p:spPr>
        <p:txBody>
          <a:bodyPr/>
          <a:p/>
        </p:txBody>
      </p:sp>
      <p:pic>
        <p:nvPicPr>
          <p:cNvPr id="18" name="Image 3" descr="preencoded.png">    </p:cNvPr>
          <p:cNvPicPr>
            <a:picLocks noChangeAspect="1"/>
          </p:cNvPicPr>
          <p:nvPr/>
        </p:nvPicPr>
        <p:blipFill>
          <a:blip r:embed="rId4"/>
          <a:stretch>
            <a:fillRect/>
          </a:stretch>
        </p:blipFill>
        <p:spPr>
          <a:xfrm>
            <a:off x="827715" y="2903403"/>
            <a:ext cx="228234" cy="228234"/>
          </a:xfrm>
          <a:prstGeom prst="rect">
            <a:avLst/>
          </a:prstGeom>
        </p:spPr>
      </p:pic>
      <p:sp>
        <p:nvSpPr>
          <p:cNvPr id="19" name="Text 13"/>
          <p:cNvSpPr/>
          <p:nvPr/>
        </p:nvSpPr>
        <p:spPr>
          <a:xfrm>
            <a:off x="1298448" y="2743200"/>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JDBC thin clients</a:t>
            </a:r>
            <a:endParaRPr lang="en-US" sz="1400" dirty="0"/>
          </a:p>
        </p:txBody>
      </p:sp>
      <p:sp>
        <p:nvSpPr>
          <p:cNvPr id="20" name="Text 14"/>
          <p:cNvSpPr/>
          <p:nvPr/>
        </p:nvSpPr>
        <p:spPr>
          <a:xfrm>
            <a:off x="1298448" y="3017520"/>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JKS truststore with the CA root — wallet-free, ranked options</a:t>
            </a:r>
            <a:endParaRPr lang="en-US" sz="1080" dirty="0"/>
          </a:p>
        </p:txBody>
      </p:sp>
      <p:sp>
        <p:nvSpPr>
          <p:cNvPr id="21" name="Shape 15"/>
          <p:cNvSpPr/>
          <p:nvPr/>
        </p:nvSpPr>
        <p:spPr>
          <a:xfrm>
            <a:off x="6255868" y="2651760"/>
            <a:ext cx="5368900" cy="731520"/>
          </a:xfrm>
          <a:prstGeom prst="roundRect">
            <a:avLst>
              <a:gd name="adj" fmla="val 7500"/>
            </a:avLst>
          </a:prstGeom>
          <a:solidFill>
            <a:srgbClr val="F3F6FA"/>
          </a:solidFill>
          <a:ln w="12700">
            <a:solidFill>
              <a:srgbClr val="D8E0EA"/>
            </a:solidFill>
            <a:prstDash val="solid"/>
          </a:ln>
        </p:spPr>
        <p:txBody>
          <a:bodyPr/>
          <a:p/>
        </p:txBody>
      </p:sp>
      <p:sp>
        <p:nvSpPr>
          <p:cNvPr id="22" name="Shape 16"/>
          <p:cNvSpPr/>
          <p:nvPr/>
        </p:nvSpPr>
        <p:spPr>
          <a:xfrm>
            <a:off x="6393028" y="2779776"/>
            <a:ext cx="475488" cy="475488"/>
          </a:xfrm>
          <a:prstGeom prst="ellipse">
            <a:avLst/>
          </a:prstGeom>
          <a:solidFill>
            <a:srgbClr val="0F8B85"/>
          </a:solidFill>
          <a:ln/>
        </p:spPr>
        <p:txBody>
          <a:bodyPr/>
          <a:p/>
        </p:txBody>
      </p:sp>
      <p:pic>
        <p:nvPicPr>
          <p:cNvPr id="23" name="Image 4" descr="preencoded.png">    </p:cNvPr>
          <p:cNvPicPr>
            <a:picLocks noChangeAspect="1"/>
          </p:cNvPicPr>
          <p:nvPr/>
        </p:nvPicPr>
        <p:blipFill>
          <a:blip r:embed="rId5"/>
          <a:stretch>
            <a:fillRect/>
          </a:stretch>
        </p:blipFill>
        <p:spPr>
          <a:xfrm>
            <a:off x="6516654" y="2903403"/>
            <a:ext cx="228234" cy="228234"/>
          </a:xfrm>
          <a:prstGeom prst="rect">
            <a:avLst/>
          </a:prstGeom>
        </p:spPr>
      </p:pic>
      <p:sp>
        <p:nvSpPr>
          <p:cNvPr id="24" name="Text 17"/>
          <p:cNvSpPr/>
          <p:nvPr/>
        </p:nvSpPr>
        <p:spPr>
          <a:xfrm>
            <a:off x="6987388" y="2743200"/>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Legacy OCI clients</a:t>
            </a:r>
            <a:endParaRPr lang="en-US" sz="1400" dirty="0"/>
          </a:p>
        </p:txBody>
      </p:sp>
      <p:sp>
        <p:nvSpPr>
          <p:cNvPr id="25" name="Text 18"/>
          <p:cNvSpPr/>
          <p:nvPr/>
        </p:nvSpPr>
        <p:spPr>
          <a:xfrm>
            <a:off x="6987388" y="3017520"/>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Trust-anchor-only auto-login wallet + tnsnames</a:t>
            </a:r>
            <a:endParaRPr lang="en-US" sz="1080" dirty="0"/>
          </a:p>
        </p:txBody>
      </p:sp>
      <p:sp>
        <p:nvSpPr>
          <p:cNvPr id="26" name="Shape 19"/>
          <p:cNvSpPr/>
          <p:nvPr/>
        </p:nvSpPr>
        <p:spPr>
          <a:xfrm>
            <a:off x="566928" y="3493008"/>
            <a:ext cx="5368900" cy="731520"/>
          </a:xfrm>
          <a:prstGeom prst="roundRect">
            <a:avLst>
              <a:gd name="adj" fmla="val 7500"/>
            </a:avLst>
          </a:prstGeom>
          <a:solidFill>
            <a:srgbClr val="F3F6FA"/>
          </a:solidFill>
          <a:ln w="12700">
            <a:solidFill>
              <a:srgbClr val="D8E0EA"/>
            </a:solidFill>
            <a:prstDash val="solid"/>
          </a:ln>
        </p:spPr>
        <p:txBody>
          <a:bodyPr/>
          <a:p/>
        </p:txBody>
      </p:sp>
      <p:sp>
        <p:nvSpPr>
          <p:cNvPr id="27" name="Shape 20"/>
          <p:cNvSpPr/>
          <p:nvPr/>
        </p:nvSpPr>
        <p:spPr>
          <a:xfrm>
            <a:off x="704088" y="3621024"/>
            <a:ext cx="475488" cy="475488"/>
          </a:xfrm>
          <a:prstGeom prst="ellipse">
            <a:avLst/>
          </a:prstGeom>
          <a:solidFill>
            <a:srgbClr val="0F8B85"/>
          </a:solidFill>
          <a:ln/>
        </p:spPr>
        <p:txBody>
          <a:bodyPr/>
          <a:p/>
        </p:txBody>
      </p:sp>
      <p:pic>
        <p:nvPicPr>
          <p:cNvPr id="28" name="Image 5" descr="preencoded.png">    </p:cNvPr>
          <p:cNvPicPr>
            <a:picLocks noChangeAspect="1"/>
          </p:cNvPicPr>
          <p:nvPr/>
        </p:nvPicPr>
        <p:blipFill>
          <a:blip r:embed="rId6"/>
          <a:stretch>
            <a:fillRect/>
          </a:stretch>
        </p:blipFill>
        <p:spPr>
          <a:xfrm>
            <a:off x="827715" y="3744651"/>
            <a:ext cx="228234" cy="228234"/>
          </a:xfrm>
          <a:prstGeom prst="rect">
            <a:avLst/>
          </a:prstGeom>
        </p:spPr>
      </p:pic>
      <p:sp>
        <p:nvSpPr>
          <p:cNvPr id="29" name="Text 21"/>
          <p:cNvSpPr/>
          <p:nvPr/>
        </p:nvSpPr>
        <p:spPr>
          <a:xfrm>
            <a:off x="1298448" y="3584448"/>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APEX / ORDS</a:t>
            </a:r>
            <a:endParaRPr lang="en-US" sz="1400" dirty="0"/>
          </a:p>
        </p:txBody>
      </p:sp>
      <p:sp>
        <p:nvSpPr>
          <p:cNvPr id="30" name="Text 22"/>
          <p:cNvSpPr/>
          <p:nvPr/>
        </p:nvSpPr>
        <p:spPr>
          <a:xfrm>
            <a:off x="1298448" y="3858768"/>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TCPS pool URL + ORDS JVM truststore</a:t>
            </a:r>
            <a:endParaRPr lang="en-US" sz="1080" dirty="0"/>
          </a:p>
        </p:txBody>
      </p:sp>
      <p:sp>
        <p:nvSpPr>
          <p:cNvPr id="31" name="Shape 23"/>
          <p:cNvSpPr/>
          <p:nvPr/>
        </p:nvSpPr>
        <p:spPr>
          <a:xfrm>
            <a:off x="6255868" y="3493008"/>
            <a:ext cx="5368900" cy="731520"/>
          </a:xfrm>
          <a:prstGeom prst="roundRect">
            <a:avLst>
              <a:gd name="adj" fmla="val 7500"/>
            </a:avLst>
          </a:prstGeom>
          <a:solidFill>
            <a:srgbClr val="F3F6FA"/>
          </a:solidFill>
          <a:ln w="12700">
            <a:solidFill>
              <a:srgbClr val="D8E0EA"/>
            </a:solidFill>
            <a:prstDash val="solid"/>
          </a:ln>
        </p:spPr>
        <p:txBody>
          <a:bodyPr/>
          <a:p/>
        </p:txBody>
      </p:sp>
      <p:sp>
        <p:nvSpPr>
          <p:cNvPr id="32" name="Shape 24"/>
          <p:cNvSpPr/>
          <p:nvPr/>
        </p:nvSpPr>
        <p:spPr>
          <a:xfrm>
            <a:off x="6393028" y="3621024"/>
            <a:ext cx="475488" cy="475488"/>
          </a:xfrm>
          <a:prstGeom prst="ellipse">
            <a:avLst/>
          </a:prstGeom>
          <a:solidFill>
            <a:srgbClr val="0F8B85"/>
          </a:solidFill>
          <a:ln/>
        </p:spPr>
        <p:txBody>
          <a:bodyPr/>
          <a:p/>
        </p:txBody>
      </p:sp>
      <p:pic>
        <p:nvPicPr>
          <p:cNvPr id="33" name="Image 6" descr="preencoded.png">    </p:cNvPr>
          <p:cNvPicPr>
            <a:picLocks noChangeAspect="1"/>
          </p:cNvPicPr>
          <p:nvPr/>
        </p:nvPicPr>
        <p:blipFill>
          <a:blip r:embed="rId7"/>
          <a:stretch>
            <a:fillRect/>
          </a:stretch>
        </p:blipFill>
        <p:spPr>
          <a:xfrm>
            <a:off x="6516654" y="3744651"/>
            <a:ext cx="228234" cy="228234"/>
          </a:xfrm>
          <a:prstGeom prst="rect">
            <a:avLst/>
          </a:prstGeom>
        </p:spPr>
      </p:pic>
      <p:sp>
        <p:nvSpPr>
          <p:cNvPr id="34" name="Text 25"/>
          <p:cNvSpPr/>
          <p:nvPr/>
        </p:nvSpPr>
        <p:spPr>
          <a:xfrm>
            <a:off x="6987388" y="3584448"/>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DB links over TCPS</a:t>
            </a:r>
            <a:endParaRPr lang="en-US" sz="1400" dirty="0"/>
          </a:p>
        </p:txBody>
      </p:sp>
      <p:sp>
        <p:nvSpPr>
          <p:cNvPr id="35" name="Text 26"/>
          <p:cNvSpPr/>
          <p:nvPr/>
        </p:nvSpPr>
        <p:spPr>
          <a:xfrm>
            <a:off x="6987388" y="3858768"/>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DB-as-client already trusts peers via the shared CA</a:t>
            </a:r>
            <a:endParaRPr lang="en-US" sz="1080" dirty="0"/>
          </a:p>
        </p:txBody>
      </p:sp>
      <p:sp>
        <p:nvSpPr>
          <p:cNvPr id="36" name="Shape 27"/>
          <p:cNvSpPr/>
          <p:nvPr/>
        </p:nvSpPr>
        <p:spPr>
          <a:xfrm>
            <a:off x="566928" y="4334256"/>
            <a:ext cx="5368900" cy="731520"/>
          </a:xfrm>
          <a:prstGeom prst="roundRect">
            <a:avLst>
              <a:gd name="adj" fmla="val 7500"/>
            </a:avLst>
          </a:prstGeom>
          <a:solidFill>
            <a:srgbClr val="F3F6FA"/>
          </a:solidFill>
          <a:ln w="12700">
            <a:solidFill>
              <a:srgbClr val="D8E0EA"/>
            </a:solidFill>
            <a:prstDash val="solid"/>
          </a:ln>
        </p:spPr>
        <p:txBody>
          <a:bodyPr/>
          <a:p/>
        </p:txBody>
      </p:sp>
      <p:sp>
        <p:nvSpPr>
          <p:cNvPr id="37" name="Shape 28"/>
          <p:cNvSpPr/>
          <p:nvPr/>
        </p:nvSpPr>
        <p:spPr>
          <a:xfrm>
            <a:off x="704088" y="4462272"/>
            <a:ext cx="475488" cy="475488"/>
          </a:xfrm>
          <a:prstGeom prst="ellipse">
            <a:avLst/>
          </a:prstGeom>
          <a:solidFill>
            <a:srgbClr val="0F8B85"/>
          </a:solidFill>
          <a:ln/>
        </p:spPr>
        <p:txBody>
          <a:bodyPr/>
          <a:p/>
        </p:txBody>
      </p:sp>
      <p:pic>
        <p:nvPicPr>
          <p:cNvPr id="38" name="Image 7" descr="preencoded.png">    </p:cNvPr>
          <p:cNvPicPr>
            <a:picLocks noChangeAspect="1"/>
          </p:cNvPicPr>
          <p:nvPr/>
        </p:nvPicPr>
        <p:blipFill>
          <a:blip r:embed="rId8"/>
          <a:stretch>
            <a:fillRect/>
          </a:stretch>
        </p:blipFill>
        <p:spPr>
          <a:xfrm>
            <a:off x="827715" y="4585899"/>
            <a:ext cx="228234" cy="228234"/>
          </a:xfrm>
          <a:prstGeom prst="rect">
            <a:avLst/>
          </a:prstGeom>
        </p:spPr>
      </p:pic>
      <p:sp>
        <p:nvSpPr>
          <p:cNvPr id="39" name="Text 29"/>
          <p:cNvSpPr/>
          <p:nvPr/>
        </p:nvSpPr>
        <p:spPr>
          <a:xfrm>
            <a:off x="1298448" y="4425696"/>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Data Guard redo</a:t>
            </a:r>
            <a:endParaRPr lang="en-US" sz="1400" dirty="0"/>
          </a:p>
        </p:txBody>
      </p:sp>
      <p:sp>
        <p:nvSpPr>
          <p:cNvPr id="40" name="Text 30"/>
          <p:cNvSpPr/>
          <p:nvPr/>
        </p:nvSpPr>
        <p:spPr>
          <a:xfrm>
            <a:off x="1298448" y="4700016"/>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TCPS transport + static registration for role changes</a:t>
            </a:r>
            <a:endParaRPr lang="en-US" sz="1080" dirty="0"/>
          </a:p>
        </p:txBody>
      </p:sp>
      <p:sp>
        <p:nvSpPr>
          <p:cNvPr id="41" name="Shape 31"/>
          <p:cNvSpPr/>
          <p:nvPr/>
        </p:nvSpPr>
        <p:spPr>
          <a:xfrm>
            <a:off x="6255868" y="4334256"/>
            <a:ext cx="5368900" cy="731520"/>
          </a:xfrm>
          <a:prstGeom prst="roundRect">
            <a:avLst>
              <a:gd name="adj" fmla="val 7500"/>
            </a:avLst>
          </a:prstGeom>
          <a:solidFill>
            <a:srgbClr val="F3F6FA"/>
          </a:solidFill>
          <a:ln w="12700">
            <a:solidFill>
              <a:srgbClr val="D8E0EA"/>
            </a:solidFill>
            <a:prstDash val="solid"/>
          </a:ln>
        </p:spPr>
        <p:txBody>
          <a:bodyPr/>
          <a:p/>
        </p:txBody>
      </p:sp>
      <p:sp>
        <p:nvSpPr>
          <p:cNvPr id="42" name="Shape 32"/>
          <p:cNvSpPr/>
          <p:nvPr/>
        </p:nvSpPr>
        <p:spPr>
          <a:xfrm>
            <a:off x="6393028" y="4462272"/>
            <a:ext cx="475488" cy="475488"/>
          </a:xfrm>
          <a:prstGeom prst="ellipse">
            <a:avLst/>
          </a:prstGeom>
          <a:solidFill>
            <a:srgbClr val="0F8B85"/>
          </a:solidFill>
          <a:ln/>
        </p:spPr>
        <p:txBody>
          <a:bodyPr/>
          <a:p/>
        </p:txBody>
      </p:sp>
      <p:pic>
        <p:nvPicPr>
          <p:cNvPr id="43" name="Image 8" descr="preencoded.png">    </p:cNvPr>
          <p:cNvPicPr>
            <a:picLocks noChangeAspect="1"/>
          </p:cNvPicPr>
          <p:nvPr/>
        </p:nvPicPr>
        <p:blipFill>
          <a:blip r:embed="rId9"/>
          <a:stretch>
            <a:fillRect/>
          </a:stretch>
        </p:blipFill>
        <p:spPr>
          <a:xfrm>
            <a:off x="6516654" y="4585899"/>
            <a:ext cx="228234" cy="228234"/>
          </a:xfrm>
          <a:prstGeom prst="rect">
            <a:avLst/>
          </a:prstGeom>
        </p:spPr>
      </p:pic>
      <p:sp>
        <p:nvSpPr>
          <p:cNvPr id="44" name="Text 33"/>
          <p:cNvSpPr/>
          <p:nvPr/>
        </p:nvSpPr>
        <p:spPr>
          <a:xfrm>
            <a:off x="6987388" y="4425696"/>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Rotation &amp; monitoring</a:t>
            </a:r>
            <a:endParaRPr lang="en-US" sz="1400" dirty="0"/>
          </a:p>
        </p:txBody>
      </p:sp>
      <p:sp>
        <p:nvSpPr>
          <p:cNvPr id="45" name="Text 34"/>
          <p:cNvSpPr/>
          <p:nvPr/>
        </p:nvSpPr>
        <p:spPr>
          <a:xfrm>
            <a:off x="6987388" y="4700016"/>
            <a:ext cx="4500220" cy="310896"/>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Zero-downtime renewal; T-45/30/14 expiry alerts</a:t>
            </a:r>
            <a:endParaRPr lang="en-US" sz="1080" dirty="0"/>
          </a:p>
        </p:txBody>
      </p:sp>
      <p:sp>
        <p:nvSpPr>
          <p:cNvPr id="46" name="Shape 35"/>
          <p:cNvSpPr/>
          <p:nvPr/>
        </p:nvSpPr>
        <p:spPr>
          <a:xfrm>
            <a:off x="566928" y="5349240"/>
            <a:ext cx="11057839" cy="914400"/>
          </a:xfrm>
          <a:prstGeom prst="roundRect">
            <a:avLst>
              <a:gd name="adj" fmla="val 8000"/>
            </a:avLst>
          </a:prstGeom>
          <a:solidFill>
            <a:srgbClr val="12223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47" name="Text 36"/>
          <p:cNvSpPr/>
          <p:nvPr/>
        </p:nvSpPr>
        <p:spPr>
          <a:xfrm>
            <a:off x="841248" y="5468112"/>
            <a:ext cx="1371600" cy="274320"/>
          </a:xfrm>
          <a:prstGeom prst="rect">
            <a:avLst/>
          </a:prstGeom>
          <a:noFill/>
          <a:ln/>
        </p:spPr>
        <p:txBody>
          <a:bodyPr wrap="square" lIns="0" tIns="0" rIns="0" bIns="0" rtlCol="0" anchor="ctr"/>
          <a:lstStyle/>
          <a:p>
            <a:pPr indent="0" marL="0">
              <a:buNone/>
            </a:pPr>
            <a:r>
              <a:rPr lang="en-US" sz="1200" b="1" spc="200" kern="0" dirty="0">
                <a:solidFill>
                  <a:srgbClr val="0F8B85"/>
                </a:solidFill>
                <a:latin typeface="Calibri" pitchFamily="34" charset="0"/>
                <a:ea typeface="Calibri" pitchFamily="34" charset="-122"/>
                <a:cs typeface="Calibri" pitchFamily="34" charset="-120"/>
              </a:rPr>
              <a:t>SCRIPTS</a:t>
            </a:r>
            <a:endParaRPr lang="en-US" sz="1200" dirty="0"/>
          </a:p>
        </p:txBody>
      </p:sp>
      <p:sp>
        <p:nvSpPr>
          <p:cNvPr id="48" name="Text 37"/>
          <p:cNvSpPr/>
          <p:nvPr/>
        </p:nvSpPr>
        <p:spPr>
          <a:xfrm>
            <a:off x="841248" y="5760720"/>
            <a:ext cx="10509199" cy="411480"/>
          </a:xfrm>
          <a:prstGeom prst="rect">
            <a:avLst/>
          </a:prstGeom>
          <a:noFill/>
          <a:ln/>
        </p:spPr>
        <p:txBody>
          <a:bodyPr wrap="square" lIns="0" tIns="0" rIns="0" bIns="0" rtlCol="0" anchor="ctr"/>
          <a:lstStyle/>
          <a:p>
            <a:pPr indent="0" marL="0">
              <a:buNone/>
            </a:pPr>
            <a:r>
              <a:rPr lang="en-US" sz="1250" b="1" dirty="0">
                <a:solidFill>
                  <a:srgbClr val="FFFFFF"/>
                </a:solidFill>
                <a:latin typeface="Consolas" pitchFamily="34" charset="0"/>
                <a:ea typeface="Consolas" pitchFamily="34" charset="-122"/>
                <a:cs typeface="Consolas" pitchFamily="34" charset="-120"/>
              </a:rPr>
              <a:t>scripts/tls/</a:t>
            </a:r>
            <a:pPr indent="0" marL="0">
              <a:buNone/>
            </a:pPr>
            <a:r>
              <a:rPr lang="en-US" sz="1250" dirty="0">
                <a:solidFill>
                  <a:srgbClr val="C7D2E0"/>
                </a:solidFill>
                <a:latin typeface="Consolas" pitchFamily="34" charset="0"/>
                <a:ea typeface="Consolas" pitchFamily="34" charset="-122"/>
                <a:cs typeface="Consolas" pitchFamily="34" charset="-120"/>
              </a:rPr>
              <a:t>  01 wallet+CSR   ·   02 listener/sqlnet/tns fragments   ·   03 TCPS verification (.sql + .sh)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HARD-WON, VERIFIED LIVE ON 19C</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TLS pitfalls that will bite</a:t>
            </a:r>
            <a:endParaRPr lang="en-US" sz="2700" dirty="0"/>
          </a:p>
        </p:txBody>
      </p:sp>
      <p:sp>
        <p:nvSpPr>
          <p:cNvPr id="6" name="Shape 3"/>
          <p:cNvSpPr/>
          <p:nvPr/>
        </p:nvSpPr>
        <p:spPr>
          <a:xfrm>
            <a:off x="566928" y="1828800"/>
            <a:ext cx="11057839" cy="1024128"/>
          </a:xfrm>
          <a:prstGeom prst="roundRect">
            <a:avLst>
              <a:gd name="adj" fmla="val 7143"/>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795528" y="2066544"/>
            <a:ext cx="548640" cy="548640"/>
          </a:xfrm>
          <a:prstGeom prst="ellipse">
            <a:avLst/>
          </a:prstGeom>
          <a:solidFill>
            <a:srgbClr val="C0392B"/>
          </a:solidFill>
          <a:ln/>
        </p:spPr>
        <p:txBody>
          <a:bodyPr/>
          <a:p/>
        </p:txBody>
      </p:sp>
      <p:pic>
        <p:nvPicPr>
          <p:cNvPr id="8" name="Image 1" descr="preencoded.png">    </p:cNvPr>
          <p:cNvPicPr>
            <a:picLocks noChangeAspect="1"/>
          </p:cNvPicPr>
          <p:nvPr/>
        </p:nvPicPr>
        <p:blipFill>
          <a:blip r:embed="rId2"/>
          <a:stretch>
            <a:fillRect/>
          </a:stretch>
        </p:blipFill>
        <p:spPr>
          <a:xfrm>
            <a:off x="938174" y="2209190"/>
            <a:ext cx="263347" cy="263347"/>
          </a:xfrm>
          <a:prstGeom prst="rect">
            <a:avLst/>
          </a:prstGeom>
        </p:spPr>
      </p:pic>
      <p:sp>
        <p:nvSpPr>
          <p:cNvPr id="9" name="Text 5"/>
          <p:cNvSpPr/>
          <p:nvPr/>
        </p:nvSpPr>
        <p:spPr>
          <a:xfrm>
            <a:off x="1527048" y="1956816"/>
            <a:ext cx="9869119" cy="347472"/>
          </a:xfrm>
          <a:prstGeom prst="rect">
            <a:avLst/>
          </a:prstGeom>
          <a:noFill/>
          <a:ln/>
        </p:spPr>
        <p:txBody>
          <a:bodyPr wrap="square" lIns="0" tIns="0" rIns="0" bIns="0" rtlCol="0" anchor="ctr"/>
          <a:lstStyle/>
          <a:p>
            <a:pPr indent="0" marL="0">
              <a:buNone/>
            </a:pPr>
            <a:r>
              <a:rPr lang="en-US" sz="1650" b="1" dirty="0">
                <a:solidFill>
                  <a:srgbClr val="C0392B"/>
                </a:solidFill>
                <a:latin typeface="Cambria" pitchFamily="34" charset="0"/>
                <a:ea typeface="Cambria" pitchFamily="34" charset="-122"/>
                <a:cs typeface="Cambria" pitchFamily="34" charset="-120"/>
              </a:rPr>
              <a:t>sqlnet.ora needs the wallet too</a:t>
            </a:r>
            <a:endParaRPr lang="en-US" sz="1650" dirty="0"/>
          </a:p>
        </p:txBody>
      </p:sp>
      <p:sp>
        <p:nvSpPr>
          <p:cNvPr id="10" name="Text 6"/>
          <p:cNvSpPr/>
          <p:nvPr/>
        </p:nvSpPr>
        <p:spPr>
          <a:xfrm>
            <a:off x="1527048" y="2286000"/>
            <a:ext cx="9823399" cy="512064"/>
          </a:xfrm>
          <a:prstGeom prst="rect">
            <a:avLst/>
          </a:prstGeom>
          <a:noFill/>
          <a:ln/>
        </p:spPr>
        <p:txBody>
          <a:bodyPr wrap="square" lIns="0" tIns="0" rIns="0" bIns="0" rtlCol="0" anchor="t"/>
          <a:lstStyle/>
          <a:p>
            <a:pPr indent="0" marL="0">
              <a:lnSpc>
                <a:spcPct val="102000"/>
              </a:lnSpc>
              <a:buNone/>
            </a:pPr>
            <a:r>
              <a:rPr lang="en-US" sz="1200" dirty="0">
                <a:solidFill>
                  <a:srgbClr val="44586E"/>
                </a:solidFill>
                <a:latin typeface="Calibri" pitchFamily="34" charset="0"/>
                <a:ea typeface="Calibri" pitchFamily="34" charset="-122"/>
                <a:cs typeface="Calibri" pitchFamily="34" charset="-120"/>
              </a:rPr>
              <a:t>Wallet only in listener.ora → clients get ORA-28865 after a good handshake. The spawned DB server process re-reads sqlnet.ora and needs WALLET_LOCATION there as well.</a:t>
            </a:r>
            <a:endParaRPr lang="en-US" sz="1200" dirty="0"/>
          </a:p>
        </p:txBody>
      </p:sp>
      <p:sp>
        <p:nvSpPr>
          <p:cNvPr id="11" name="Shape 7"/>
          <p:cNvSpPr/>
          <p:nvPr/>
        </p:nvSpPr>
        <p:spPr>
          <a:xfrm>
            <a:off x="566928" y="2962656"/>
            <a:ext cx="11057839" cy="1024128"/>
          </a:xfrm>
          <a:prstGeom prst="roundRect">
            <a:avLst>
              <a:gd name="adj" fmla="val 7143"/>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8"/>
          <p:cNvSpPr/>
          <p:nvPr/>
        </p:nvSpPr>
        <p:spPr>
          <a:xfrm>
            <a:off x="795528" y="3200400"/>
            <a:ext cx="548640" cy="548640"/>
          </a:xfrm>
          <a:prstGeom prst="ellipse">
            <a:avLst/>
          </a:prstGeom>
          <a:solidFill>
            <a:srgbClr val="C0392B"/>
          </a:solidFill>
          <a:ln/>
        </p:spPr>
        <p:txBody>
          <a:bodyPr/>
          <a:p/>
        </p:txBody>
      </p:sp>
      <p:pic>
        <p:nvPicPr>
          <p:cNvPr id="13" name="Image 2" descr="preencoded.png">    </p:cNvPr>
          <p:cNvPicPr>
            <a:picLocks noChangeAspect="1"/>
          </p:cNvPicPr>
          <p:nvPr/>
        </p:nvPicPr>
        <p:blipFill>
          <a:blip r:embed="rId3"/>
          <a:stretch>
            <a:fillRect/>
          </a:stretch>
        </p:blipFill>
        <p:spPr>
          <a:xfrm>
            <a:off x="938174" y="3343046"/>
            <a:ext cx="263347" cy="263347"/>
          </a:xfrm>
          <a:prstGeom prst="rect">
            <a:avLst/>
          </a:prstGeom>
        </p:spPr>
      </p:pic>
      <p:sp>
        <p:nvSpPr>
          <p:cNvPr id="14" name="Text 9"/>
          <p:cNvSpPr/>
          <p:nvPr/>
        </p:nvSpPr>
        <p:spPr>
          <a:xfrm>
            <a:off x="1527048" y="3090672"/>
            <a:ext cx="9869119" cy="347472"/>
          </a:xfrm>
          <a:prstGeom prst="rect">
            <a:avLst/>
          </a:prstGeom>
          <a:noFill/>
          <a:ln/>
        </p:spPr>
        <p:txBody>
          <a:bodyPr wrap="square" lIns="0" tIns="0" rIns="0" bIns="0" rtlCol="0" anchor="ctr"/>
          <a:lstStyle/>
          <a:p>
            <a:pPr indent="0" marL="0">
              <a:buNone/>
            </a:pPr>
            <a:r>
              <a:rPr lang="en-US" sz="1650" b="1" dirty="0">
                <a:solidFill>
                  <a:srgbClr val="C0392B"/>
                </a:solidFill>
                <a:latin typeface="Cambria" pitchFamily="34" charset="0"/>
                <a:ea typeface="Cambria" pitchFamily="34" charset="-122"/>
                <a:cs typeface="Cambria" pitchFamily="34" charset="-120"/>
              </a:rPr>
              <a:t>One WALLET_LOCATION only (SEPS clash)</a:t>
            </a:r>
            <a:endParaRPr lang="en-US" sz="1650" dirty="0"/>
          </a:p>
        </p:txBody>
      </p:sp>
      <p:sp>
        <p:nvSpPr>
          <p:cNvPr id="15" name="Text 10"/>
          <p:cNvSpPr/>
          <p:nvPr/>
        </p:nvSpPr>
        <p:spPr>
          <a:xfrm>
            <a:off x="1527048" y="3419856"/>
            <a:ext cx="9823399" cy="512064"/>
          </a:xfrm>
          <a:prstGeom prst="rect">
            <a:avLst/>
          </a:prstGeom>
          <a:noFill/>
          <a:ln/>
        </p:spPr>
        <p:txBody>
          <a:bodyPr wrap="square" lIns="0" tIns="0" rIns="0" bIns="0" rtlCol="0" anchor="t"/>
          <a:lstStyle/>
          <a:p>
            <a:pPr indent="0" marL="0">
              <a:lnSpc>
                <a:spcPct val="102000"/>
              </a:lnSpc>
              <a:buNone/>
            </a:pPr>
            <a:r>
              <a:rPr lang="en-US" sz="1200" dirty="0">
                <a:solidFill>
                  <a:srgbClr val="44586E"/>
                </a:solidFill>
                <a:latin typeface="Calibri" pitchFamily="34" charset="0"/>
                <a:ea typeface="Calibri" pitchFamily="34" charset="-122"/>
                <a:cs typeface="Calibri" pitchFamily="34" charset="-120"/>
              </a:rPr>
              <a:t>sqlnet.ora supports a single WALLET_LOCATION. If SEPS / WALLET_OVERRIDE already exists, appending a second one silently breaks one of them. Audit fleet-wide; merge, don't append.</a:t>
            </a:r>
            <a:endParaRPr lang="en-US" sz="1200" dirty="0"/>
          </a:p>
        </p:txBody>
      </p:sp>
      <p:sp>
        <p:nvSpPr>
          <p:cNvPr id="16" name="Shape 11"/>
          <p:cNvSpPr/>
          <p:nvPr/>
        </p:nvSpPr>
        <p:spPr>
          <a:xfrm>
            <a:off x="566928" y="4096512"/>
            <a:ext cx="11057839" cy="1024128"/>
          </a:xfrm>
          <a:prstGeom prst="roundRect">
            <a:avLst>
              <a:gd name="adj" fmla="val 7143"/>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2"/>
          <p:cNvSpPr/>
          <p:nvPr/>
        </p:nvSpPr>
        <p:spPr>
          <a:xfrm>
            <a:off x="795528" y="4334256"/>
            <a:ext cx="548640" cy="548640"/>
          </a:xfrm>
          <a:prstGeom prst="ellipse">
            <a:avLst/>
          </a:prstGeom>
          <a:solidFill>
            <a:srgbClr val="C0392B"/>
          </a:solidFill>
          <a:ln/>
        </p:spPr>
        <p:txBody>
          <a:bodyPr/>
          <a:p/>
        </p:txBody>
      </p:sp>
      <p:pic>
        <p:nvPicPr>
          <p:cNvPr id="18" name="Image 3" descr="preencoded.png">    </p:cNvPr>
          <p:cNvPicPr>
            <a:picLocks noChangeAspect="1"/>
          </p:cNvPicPr>
          <p:nvPr/>
        </p:nvPicPr>
        <p:blipFill>
          <a:blip r:embed="rId4"/>
          <a:stretch>
            <a:fillRect/>
          </a:stretch>
        </p:blipFill>
        <p:spPr>
          <a:xfrm>
            <a:off x="938174" y="4476902"/>
            <a:ext cx="263347" cy="263347"/>
          </a:xfrm>
          <a:prstGeom prst="rect">
            <a:avLst/>
          </a:prstGeom>
        </p:spPr>
      </p:pic>
      <p:sp>
        <p:nvSpPr>
          <p:cNvPr id="19" name="Text 13"/>
          <p:cNvSpPr/>
          <p:nvPr/>
        </p:nvSpPr>
        <p:spPr>
          <a:xfrm>
            <a:off x="1527048" y="4224528"/>
            <a:ext cx="9869119" cy="347472"/>
          </a:xfrm>
          <a:prstGeom prst="rect">
            <a:avLst/>
          </a:prstGeom>
          <a:noFill/>
          <a:ln/>
        </p:spPr>
        <p:txBody>
          <a:bodyPr wrap="square" lIns="0" tIns="0" rIns="0" bIns="0" rtlCol="0" anchor="ctr"/>
          <a:lstStyle/>
          <a:p>
            <a:pPr indent="0" marL="0">
              <a:buNone/>
            </a:pPr>
            <a:r>
              <a:rPr lang="en-US" sz="1650" b="1" dirty="0">
                <a:solidFill>
                  <a:srgbClr val="C0392B"/>
                </a:solidFill>
                <a:latin typeface="Cambria" pitchFamily="34" charset="0"/>
                <a:ea typeface="Cambria" pitchFamily="34" charset="-122"/>
                <a:cs typeface="Cambria" pitchFamily="34" charset="-120"/>
              </a:rPr>
              <a:t>orapki CSRs carry no SANs</a:t>
            </a:r>
            <a:endParaRPr lang="en-US" sz="1650" dirty="0"/>
          </a:p>
        </p:txBody>
      </p:sp>
      <p:sp>
        <p:nvSpPr>
          <p:cNvPr id="20" name="Text 14"/>
          <p:cNvSpPr/>
          <p:nvPr/>
        </p:nvSpPr>
        <p:spPr>
          <a:xfrm>
            <a:off x="1527048" y="4553712"/>
            <a:ext cx="9823399" cy="512064"/>
          </a:xfrm>
          <a:prstGeom prst="rect">
            <a:avLst/>
          </a:prstGeom>
          <a:noFill/>
          <a:ln/>
        </p:spPr>
        <p:txBody>
          <a:bodyPr wrap="square" lIns="0" tIns="0" rIns="0" bIns="0" rtlCol="0" anchor="t"/>
          <a:lstStyle/>
          <a:p>
            <a:pPr indent="0" marL="0">
              <a:lnSpc>
                <a:spcPct val="102000"/>
              </a:lnSpc>
              <a:buNone/>
            </a:pPr>
            <a:r>
              <a:rPr lang="en-US" sz="1200" dirty="0">
                <a:solidFill>
                  <a:srgbClr val="44586E"/>
                </a:solidFill>
                <a:latin typeface="Calibri" pitchFamily="34" charset="0"/>
                <a:ea typeface="Calibri" pitchFamily="34" charset="-122"/>
                <a:cs typeface="Calibri" pitchFamily="34" charset="-120"/>
              </a:rPr>
              <a:t>19c orapki generally omits SANs. Have the CA template stamp CN=FQDN + DNS SANs, or build the CSR with openssl. Otherwise DN-match fails from some clients.</a:t>
            </a:r>
            <a:endParaRPr lang="en-US" sz="1200" dirty="0"/>
          </a:p>
        </p:txBody>
      </p:sp>
      <p:sp>
        <p:nvSpPr>
          <p:cNvPr id="21" name="Shape 15"/>
          <p:cNvSpPr/>
          <p:nvPr/>
        </p:nvSpPr>
        <p:spPr>
          <a:xfrm>
            <a:off x="566928" y="5230368"/>
            <a:ext cx="11057839" cy="1024128"/>
          </a:xfrm>
          <a:prstGeom prst="roundRect">
            <a:avLst>
              <a:gd name="adj" fmla="val 7143"/>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6"/>
          <p:cNvSpPr/>
          <p:nvPr/>
        </p:nvSpPr>
        <p:spPr>
          <a:xfrm>
            <a:off x="795528" y="5468112"/>
            <a:ext cx="548640" cy="548640"/>
          </a:xfrm>
          <a:prstGeom prst="ellipse">
            <a:avLst/>
          </a:prstGeom>
          <a:solidFill>
            <a:srgbClr val="C0392B"/>
          </a:solidFill>
          <a:ln/>
        </p:spPr>
        <p:txBody>
          <a:bodyPr/>
          <a:p/>
        </p:txBody>
      </p:sp>
      <p:pic>
        <p:nvPicPr>
          <p:cNvPr id="23" name="Image 4" descr="preencoded.png">    </p:cNvPr>
          <p:cNvPicPr>
            <a:picLocks noChangeAspect="1"/>
          </p:cNvPicPr>
          <p:nvPr/>
        </p:nvPicPr>
        <p:blipFill>
          <a:blip r:embed="rId5"/>
          <a:stretch>
            <a:fillRect/>
          </a:stretch>
        </p:blipFill>
        <p:spPr>
          <a:xfrm>
            <a:off x="938174" y="5610758"/>
            <a:ext cx="263347" cy="263347"/>
          </a:xfrm>
          <a:prstGeom prst="rect">
            <a:avLst/>
          </a:prstGeom>
        </p:spPr>
      </p:pic>
      <p:sp>
        <p:nvSpPr>
          <p:cNvPr id="24" name="Text 17"/>
          <p:cNvSpPr/>
          <p:nvPr/>
        </p:nvSpPr>
        <p:spPr>
          <a:xfrm>
            <a:off x="1527048" y="5358384"/>
            <a:ext cx="9869119" cy="347472"/>
          </a:xfrm>
          <a:prstGeom prst="rect">
            <a:avLst/>
          </a:prstGeom>
          <a:noFill/>
          <a:ln/>
        </p:spPr>
        <p:txBody>
          <a:bodyPr wrap="square" lIns="0" tIns="0" rIns="0" bIns="0" rtlCol="0" anchor="ctr"/>
          <a:lstStyle/>
          <a:p>
            <a:pPr indent="0" marL="0">
              <a:buNone/>
            </a:pPr>
            <a:r>
              <a:rPr lang="en-US" sz="1650" b="1" dirty="0">
                <a:solidFill>
                  <a:srgbClr val="C0392B"/>
                </a:solidFill>
                <a:latin typeface="Cambria" pitchFamily="34" charset="0"/>
                <a:ea typeface="Cambria" pitchFamily="34" charset="-122"/>
                <a:cs typeface="Cambria" pitchFamily="34" charset="-120"/>
              </a:rPr>
              <a:t>New endpoint ≠ reload</a:t>
            </a:r>
            <a:endParaRPr lang="en-US" sz="1650" dirty="0"/>
          </a:p>
        </p:txBody>
      </p:sp>
      <p:sp>
        <p:nvSpPr>
          <p:cNvPr id="25" name="Text 18"/>
          <p:cNvSpPr/>
          <p:nvPr/>
        </p:nvSpPr>
        <p:spPr>
          <a:xfrm>
            <a:off x="1527048" y="5687568"/>
            <a:ext cx="9823399" cy="512064"/>
          </a:xfrm>
          <a:prstGeom prst="rect">
            <a:avLst/>
          </a:prstGeom>
          <a:noFill/>
          <a:ln/>
        </p:spPr>
        <p:txBody>
          <a:bodyPr wrap="square" lIns="0" tIns="0" rIns="0" bIns="0" rtlCol="0" anchor="t"/>
          <a:lstStyle/>
          <a:p>
            <a:pPr indent="0" marL="0">
              <a:lnSpc>
                <a:spcPct val="102000"/>
              </a:lnSpc>
              <a:buNone/>
            </a:pPr>
            <a:r>
              <a:rPr lang="en-US" sz="1200" dirty="0">
                <a:solidFill>
                  <a:srgbClr val="44586E"/>
                </a:solidFill>
                <a:latin typeface="Calibri" pitchFamily="34" charset="0"/>
                <a:ea typeface="Calibri" pitchFamily="34" charset="-122"/>
                <a:cs typeface="Calibri" pitchFamily="34" charset="-120"/>
              </a:rPr>
              <a:t>Adding the TCPS ADDRESS needs a full lsnrctl stop/start — reload is not enough. (Cert renewal into the same wallet IS picked up by reload.)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A PRAGMATIC INTERIM CONTROL</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Native encryption (ANO) while TLS lands</a:t>
            </a:r>
            <a:endParaRPr lang="en-US" sz="2700" dirty="0"/>
          </a:p>
        </p:txBody>
      </p:sp>
      <p:sp>
        <p:nvSpPr>
          <p:cNvPr id="6" name="Shape 3"/>
          <p:cNvSpPr/>
          <p:nvPr/>
        </p:nvSpPr>
        <p:spPr>
          <a:xfrm>
            <a:off x="566928" y="1828800"/>
            <a:ext cx="5577840" cy="4389120"/>
          </a:xfrm>
          <a:prstGeom prst="roundRect">
            <a:avLst>
              <a:gd name="adj" fmla="val 1667"/>
            </a:avLst>
          </a:prstGeom>
          <a:solidFill>
            <a:srgbClr val="E7F4F3"/>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841248" y="2084832"/>
            <a:ext cx="603504" cy="603504"/>
          </a:xfrm>
          <a:prstGeom prst="ellipse">
            <a:avLst/>
          </a:prstGeom>
          <a:solidFill>
            <a:srgbClr val="0F8B85"/>
          </a:solidFill>
          <a:ln/>
        </p:spPr>
        <p:txBody>
          <a:bodyPr/>
          <a:p/>
        </p:txBody>
      </p:sp>
      <p:pic>
        <p:nvPicPr>
          <p:cNvPr id="8" name="Image 1" descr="preencoded.png">    </p:cNvPr>
          <p:cNvPicPr>
            <a:picLocks noChangeAspect="1"/>
          </p:cNvPicPr>
          <p:nvPr/>
        </p:nvPicPr>
        <p:blipFill>
          <a:blip r:embed="rId2"/>
          <a:stretch>
            <a:fillRect/>
          </a:stretch>
        </p:blipFill>
        <p:spPr>
          <a:xfrm>
            <a:off x="998159" y="2241743"/>
            <a:ext cx="289682" cy="289682"/>
          </a:xfrm>
          <a:prstGeom prst="rect">
            <a:avLst/>
          </a:prstGeom>
        </p:spPr>
      </p:pic>
      <p:sp>
        <p:nvSpPr>
          <p:cNvPr id="9" name="Text 5"/>
          <p:cNvSpPr/>
          <p:nvPr/>
        </p:nvSpPr>
        <p:spPr>
          <a:xfrm>
            <a:off x="1527048" y="2084832"/>
            <a:ext cx="4480560" cy="603504"/>
          </a:xfrm>
          <a:prstGeom prst="rect">
            <a:avLst/>
          </a:prstGeom>
          <a:noFill/>
          <a:ln/>
        </p:spPr>
        <p:txBody>
          <a:bodyPr wrap="square" lIns="0" tIns="0" rIns="0" bIns="0" rtlCol="0" anchor="ctr"/>
          <a:lstStyle/>
          <a:p>
            <a:pPr indent="0" marL="0">
              <a:buNone/>
            </a:pPr>
            <a:r>
              <a:rPr lang="en-US" sz="1900" b="1" dirty="0">
                <a:solidFill>
                  <a:srgbClr val="1C2A3E"/>
                </a:solidFill>
                <a:latin typeface="Cambria" pitchFamily="34" charset="0"/>
                <a:ea typeface="Cambria" pitchFamily="34" charset="-122"/>
                <a:cs typeface="Cambria" pitchFamily="34" charset="-120"/>
              </a:rPr>
              <a:t>The quick win</a:t>
            </a:r>
            <a:endParaRPr lang="en-US" sz="1900" dirty="0"/>
          </a:p>
        </p:txBody>
      </p:sp>
      <p:sp>
        <p:nvSpPr>
          <p:cNvPr id="10" name="Text 6"/>
          <p:cNvSpPr/>
          <p:nvPr/>
        </p:nvSpPr>
        <p:spPr>
          <a:xfrm>
            <a:off x="859536" y="2788920"/>
            <a:ext cx="5029200" cy="1371600"/>
          </a:xfrm>
          <a:prstGeom prst="rect">
            <a:avLst/>
          </a:prstGeom>
          <a:noFill/>
          <a:ln/>
        </p:spPr>
        <p:txBody>
          <a:bodyPr wrap="square" lIns="0" tIns="0" rIns="0" bIns="0" rtlCol="0" anchor="ctr"/>
          <a:lstStyle/>
          <a:p>
            <a:pPr indent="0" marL="0">
              <a:lnSpc>
                <a:spcPct val="110000"/>
              </a:lnSpc>
              <a:buNone/>
            </a:pPr>
            <a:r>
              <a:rPr lang="en-US" sz="1300" b="1" dirty="0">
                <a:solidFill>
                  <a:srgbClr val="0B6B66"/>
                </a:solidFill>
                <a:latin typeface="Calibri" pitchFamily="34" charset="0"/>
                <a:ea typeface="Calibri" pitchFamily="34" charset="-122"/>
                <a:cs typeface="Calibri" pitchFamily="34" charset="-120"/>
              </a:rPr>
              <a:t>Free since 2013.  </a:t>
            </a:r>
            <a:pPr indent="0" marL="0">
              <a:lnSpc>
                <a:spcPct val="110000"/>
              </a:lnSpc>
              <a:buNone/>
            </a:pPr>
            <a:r>
              <a:rPr lang="en-US" sz="1300" dirty="0">
                <a:solidFill>
                  <a:srgbClr val="1C2A3E"/>
                </a:solidFill>
                <a:latin typeface="Calibri" pitchFamily="34" charset="0"/>
                <a:ea typeface="Calibri" pitchFamily="34" charset="-122"/>
                <a:cs typeface="Calibri" pitchFamily="34" charset="-120"/>
              </a:rPr>
              <a:t>Native SQL*Net encryption was de-licensed — no ASO, no licence needed. (TDE still requires ASO.)</a:t>
            </a:r>
            <a:endParaRPr lang="en-US" sz="1300" dirty="0"/>
          </a:p>
          <a:p>
            <a:pPr indent="0" marL="0">
              <a:lnSpc>
                <a:spcPct val="110000"/>
              </a:lnSpc>
              <a:buNone/>
            </a:pPr>
            <a:endParaRPr lang="en-US" sz="1300" dirty="0"/>
          </a:p>
          <a:p>
            <a:pPr indent="0" marL="0">
              <a:lnSpc>
                <a:spcPct val="110000"/>
              </a:lnSpc>
              <a:buNone/>
            </a:pPr>
            <a:r>
              <a:rPr lang="en-US" sz="1300" b="1" dirty="0">
                <a:solidFill>
                  <a:srgbClr val="0B6B66"/>
                </a:solidFill>
                <a:latin typeface="Calibri" pitchFamily="34" charset="0"/>
                <a:ea typeface="Calibri" pitchFamily="34" charset="-122"/>
                <a:cs typeface="Calibri" pitchFamily="34" charset="-120"/>
              </a:rPr>
              <a:t>Zero client change.  </a:t>
            </a:r>
            <a:endParaRPr lang="en-US" sz="1300" dirty="0"/>
          </a:p>
          <a:p>
            <a:pPr indent="0" marL="0">
              <a:lnSpc>
                <a:spcPct val="110000"/>
              </a:lnSpc>
              <a:buNone/>
            </a:pPr>
            <a:r>
              <a:rPr lang="en-US" sz="1300" dirty="0">
                <a:solidFill>
                  <a:srgbClr val="1C2A3E"/>
                </a:solidFill>
                <a:latin typeface="Calibri" pitchFamily="34" charset="0"/>
                <a:ea typeface="Calibri" pitchFamily="34" charset="-122"/>
                <a:cs typeface="Calibri" pitchFamily="34" charset="-120"/>
              </a:rPr>
              <a:t>Set the server side alone and any 19c-era JDBC-thin / OCI client negotiates AES256 with no client config.</a:t>
            </a:r>
            <a:endParaRPr lang="en-US" sz="1300" dirty="0"/>
          </a:p>
        </p:txBody>
      </p:sp>
      <p:sp>
        <p:nvSpPr>
          <p:cNvPr id="11" name="Text 7"/>
          <p:cNvSpPr/>
          <p:nvPr/>
        </p:nvSpPr>
        <p:spPr>
          <a:xfrm>
            <a:off x="859536" y="4297680"/>
            <a:ext cx="5029200" cy="777240"/>
          </a:xfrm>
          <a:prstGeom prst="rect">
            <a:avLst/>
          </a:prstGeom>
          <a:solidFill>
            <a:srgbClr val="FFFFFF"/>
          </a:solidFill>
          <a:ln/>
        </p:spPr>
        <p:txBody>
          <a:bodyPr wrap="square" lIns="76200" tIns="76200" rIns="76200" bIns="76200" rtlCol="0" anchor="ctr"/>
          <a:lstStyle/>
          <a:p>
            <a:pPr algn="l" indent="0" marL="0">
              <a:lnSpc>
                <a:spcPct val="110000"/>
              </a:lnSpc>
              <a:buNone/>
            </a:pPr>
            <a:r>
              <a:rPr lang="en-US" sz="1200" dirty="0">
                <a:solidFill>
                  <a:srgbClr val="12223F"/>
                </a:solidFill>
                <a:latin typeface="Consolas" pitchFamily="34" charset="0"/>
                <a:ea typeface="Consolas" pitchFamily="34" charset="-122"/>
                <a:cs typeface="Consolas" pitchFamily="34" charset="-120"/>
              </a:rPr>
              <a:t>SQLNET.ENCRYPTION_SERVER = REQUIRED</a:t>
            </a:r>
            <a:endParaRPr lang="en-US" sz="1200" dirty="0"/>
          </a:p>
          <a:p>
            <a:pPr algn="l" indent="0" marL="0">
              <a:lnSpc>
                <a:spcPct val="110000"/>
              </a:lnSpc>
              <a:buNone/>
            </a:pPr>
            <a:r>
              <a:rPr lang="en-US" sz="1200" dirty="0">
                <a:solidFill>
                  <a:srgbClr val="12223F"/>
                </a:solidFill>
                <a:latin typeface="Consolas" pitchFamily="34" charset="0"/>
                <a:ea typeface="Consolas" pitchFamily="34" charset="-122"/>
                <a:cs typeface="Consolas" pitchFamily="34" charset="-120"/>
              </a:rPr>
              <a:t>SQLNET.ENCRYPTION_TYPES_SERVER = (AES256)</a:t>
            </a:r>
            <a:endParaRPr lang="en-US" sz="1200" dirty="0"/>
          </a:p>
        </p:txBody>
      </p:sp>
      <p:sp>
        <p:nvSpPr>
          <p:cNvPr id="12" name="Text 8"/>
          <p:cNvSpPr/>
          <p:nvPr/>
        </p:nvSpPr>
        <p:spPr>
          <a:xfrm>
            <a:off x="859536" y="5257800"/>
            <a:ext cx="5029200" cy="548640"/>
          </a:xfrm>
          <a:prstGeom prst="rect">
            <a:avLst/>
          </a:prstGeom>
          <a:noFill/>
          <a:ln/>
        </p:spPr>
        <p:txBody>
          <a:bodyPr wrap="square" lIns="0" tIns="0" rIns="0" bIns="0" rtlCol="0" anchor="ctr"/>
          <a:lstStyle/>
          <a:p>
            <a:pPr indent="0" marL="0">
              <a:buNone/>
            </a:pPr>
            <a:r>
              <a:rPr lang="en-US" sz="1250" i="1" dirty="0">
                <a:solidFill>
                  <a:srgbClr val="0B6B66"/>
                </a:solidFill>
                <a:latin typeface="Calibri" pitchFamily="34" charset="0"/>
                <a:ea typeface="Calibri" pitchFamily="34" charset="-122"/>
                <a:cs typeface="Calibri" pitchFamily="34" charset="-120"/>
              </a:rPr>
              <a:t>Closes the “cleartext on the wire” finding quickly and cheaply.</a:t>
            </a:r>
            <a:endParaRPr lang="en-US" sz="1250" dirty="0"/>
          </a:p>
        </p:txBody>
      </p:sp>
      <p:sp>
        <p:nvSpPr>
          <p:cNvPr id="13" name="Shape 9"/>
          <p:cNvSpPr/>
          <p:nvPr/>
        </p:nvSpPr>
        <p:spPr>
          <a:xfrm>
            <a:off x="6464808" y="1828800"/>
            <a:ext cx="5159959" cy="4389120"/>
          </a:xfrm>
          <a:prstGeom prst="roundRect">
            <a:avLst>
              <a:gd name="adj" fmla="val 166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4" name="Shape 10"/>
          <p:cNvSpPr/>
          <p:nvPr/>
        </p:nvSpPr>
        <p:spPr>
          <a:xfrm>
            <a:off x="6739128" y="2084832"/>
            <a:ext cx="603504" cy="603504"/>
          </a:xfrm>
          <a:prstGeom prst="ellipse">
            <a:avLst/>
          </a:prstGeom>
          <a:solidFill>
            <a:srgbClr val="C0392B"/>
          </a:solidFill>
          <a:ln/>
        </p:spPr>
        <p:txBody>
          <a:bodyPr/>
          <a:p/>
        </p:txBody>
      </p:sp>
      <p:pic>
        <p:nvPicPr>
          <p:cNvPr id="15" name="Image 2" descr="preencoded.png">    </p:cNvPr>
          <p:cNvPicPr>
            <a:picLocks noChangeAspect="1"/>
          </p:cNvPicPr>
          <p:nvPr/>
        </p:nvPicPr>
        <p:blipFill>
          <a:blip r:embed="rId3"/>
          <a:stretch>
            <a:fillRect/>
          </a:stretch>
        </p:blipFill>
        <p:spPr>
          <a:xfrm>
            <a:off x="6896039" y="2241743"/>
            <a:ext cx="289682" cy="289682"/>
          </a:xfrm>
          <a:prstGeom prst="rect">
            <a:avLst/>
          </a:prstGeom>
        </p:spPr>
      </p:pic>
      <p:sp>
        <p:nvSpPr>
          <p:cNvPr id="16" name="Text 11"/>
          <p:cNvSpPr/>
          <p:nvPr/>
        </p:nvSpPr>
        <p:spPr>
          <a:xfrm>
            <a:off x="7424928" y="2084832"/>
            <a:ext cx="4062679" cy="603504"/>
          </a:xfrm>
          <a:prstGeom prst="rect">
            <a:avLst/>
          </a:prstGeom>
          <a:noFill/>
          <a:ln/>
        </p:spPr>
        <p:txBody>
          <a:bodyPr wrap="square" lIns="0" tIns="0" rIns="0" bIns="0" rtlCol="0" anchor="ctr"/>
          <a:lstStyle/>
          <a:p>
            <a:pPr indent="0" marL="0">
              <a:buNone/>
            </a:pPr>
            <a:r>
              <a:rPr lang="en-US" sz="1900" b="1" dirty="0">
                <a:solidFill>
                  <a:srgbClr val="1C2A3E"/>
                </a:solidFill>
                <a:latin typeface="Cambria" pitchFamily="34" charset="0"/>
                <a:ea typeface="Cambria" pitchFamily="34" charset="-122"/>
                <a:cs typeface="Cambria" pitchFamily="34" charset="-120"/>
              </a:rPr>
              <a:t>Not a substitute for TLS</a:t>
            </a:r>
            <a:endParaRPr lang="en-US" sz="1900" dirty="0"/>
          </a:p>
        </p:txBody>
      </p:sp>
      <p:pic>
        <p:nvPicPr>
          <p:cNvPr id="17" name="Image 3" descr="preencoded.png">    </p:cNvPr>
          <p:cNvPicPr>
            <a:picLocks noChangeAspect="1"/>
          </p:cNvPicPr>
          <p:nvPr/>
        </p:nvPicPr>
        <p:blipFill>
          <a:blip r:embed="rId4"/>
          <a:stretch>
            <a:fillRect/>
          </a:stretch>
        </p:blipFill>
        <p:spPr>
          <a:xfrm>
            <a:off x="6757416" y="2871216"/>
            <a:ext cx="237744" cy="237744"/>
          </a:xfrm>
          <a:prstGeom prst="rect">
            <a:avLst/>
          </a:prstGeom>
        </p:spPr>
      </p:pic>
      <p:sp>
        <p:nvSpPr>
          <p:cNvPr id="18" name="Text 12"/>
          <p:cNvSpPr/>
          <p:nvPr/>
        </p:nvSpPr>
        <p:spPr>
          <a:xfrm>
            <a:off x="7104888" y="2788920"/>
            <a:ext cx="4245559" cy="457200"/>
          </a:xfrm>
          <a:prstGeom prst="rect">
            <a:avLst/>
          </a:prstGeom>
          <a:noFill/>
          <a:ln/>
        </p:spPr>
        <p:txBody>
          <a:bodyPr wrap="square" lIns="0" tIns="0" rIns="0" bIns="0" rtlCol="0" anchor="ctr"/>
          <a:lstStyle/>
          <a:p>
            <a:pPr indent="0" marL="0">
              <a:buNone/>
            </a:pPr>
            <a:r>
              <a:rPr lang="en-US" sz="1250" b="1" dirty="0">
                <a:solidFill>
                  <a:srgbClr val="1C2A3E"/>
                </a:solidFill>
                <a:latin typeface="Calibri" pitchFamily="34" charset="0"/>
                <a:ea typeface="Calibri" pitchFamily="34" charset="-122"/>
                <a:cs typeface="Calibri" pitchFamily="34" charset="-120"/>
              </a:rPr>
              <a:t>Encrypts the wire  —  </a:t>
            </a:r>
            <a:pPr indent="0" marL="0">
              <a:buNone/>
            </a:pPr>
            <a:r>
              <a:rPr lang="en-US" sz="1250" dirty="0">
                <a:solidFill>
                  <a:srgbClr val="2E7D5B"/>
                </a:solidFill>
                <a:latin typeface="Calibri" pitchFamily="34" charset="0"/>
                <a:ea typeface="Calibri" pitchFamily="34" charset="-122"/>
                <a:cs typeface="Calibri" pitchFamily="34" charset="-120"/>
              </a:rPr>
              <a:t>Yes — AES256</a:t>
            </a:r>
            <a:endParaRPr lang="en-US" sz="1250" dirty="0"/>
          </a:p>
        </p:txBody>
      </p:sp>
      <p:pic>
        <p:nvPicPr>
          <p:cNvPr id="19" name="Image 4" descr="preencoded.png">    </p:cNvPr>
          <p:cNvPicPr>
            <a:picLocks noChangeAspect="1"/>
          </p:cNvPicPr>
          <p:nvPr/>
        </p:nvPicPr>
        <p:blipFill>
          <a:blip r:embed="rId5"/>
          <a:stretch>
            <a:fillRect/>
          </a:stretch>
        </p:blipFill>
        <p:spPr>
          <a:xfrm>
            <a:off x="6757416" y="3529584"/>
            <a:ext cx="237744" cy="237744"/>
          </a:xfrm>
          <a:prstGeom prst="rect">
            <a:avLst/>
          </a:prstGeom>
        </p:spPr>
      </p:pic>
      <p:sp>
        <p:nvSpPr>
          <p:cNvPr id="20" name="Text 13"/>
          <p:cNvSpPr/>
          <p:nvPr/>
        </p:nvSpPr>
        <p:spPr>
          <a:xfrm>
            <a:off x="7104888" y="3447288"/>
            <a:ext cx="4245559" cy="457200"/>
          </a:xfrm>
          <a:prstGeom prst="rect">
            <a:avLst/>
          </a:prstGeom>
          <a:noFill/>
          <a:ln/>
        </p:spPr>
        <p:txBody>
          <a:bodyPr wrap="square" lIns="0" tIns="0" rIns="0" bIns="0" rtlCol="0" anchor="ctr"/>
          <a:lstStyle/>
          <a:p>
            <a:pPr indent="0" marL="0">
              <a:buNone/>
            </a:pPr>
            <a:r>
              <a:rPr lang="en-US" sz="1250" b="1" dirty="0">
                <a:solidFill>
                  <a:srgbClr val="1C2A3E"/>
                </a:solidFill>
                <a:latin typeface="Calibri" pitchFamily="34" charset="0"/>
                <a:ea typeface="Calibri" pitchFamily="34" charset="-122"/>
                <a:cs typeface="Calibri" pitchFamily="34" charset="-120"/>
              </a:rPr>
              <a:t>Server authentication  —  </a:t>
            </a:r>
            <a:pPr indent="0" marL="0">
              <a:buNone/>
            </a:pPr>
            <a:r>
              <a:rPr lang="en-US" sz="1250" b="1" dirty="0">
                <a:solidFill>
                  <a:srgbClr val="C0392B"/>
                </a:solidFill>
                <a:latin typeface="Calibri" pitchFamily="34" charset="0"/>
                <a:ea typeface="Calibri" pitchFamily="34" charset="-122"/>
                <a:cs typeface="Calibri" pitchFamily="34" charset="-120"/>
              </a:rPr>
              <a:t>No — client can't verify identity</a:t>
            </a:r>
            <a:endParaRPr lang="en-US" sz="1250" dirty="0"/>
          </a:p>
        </p:txBody>
      </p:sp>
      <p:pic>
        <p:nvPicPr>
          <p:cNvPr id="21" name="Image 5" descr="preencoded.png">    </p:cNvPr>
          <p:cNvPicPr>
            <a:picLocks noChangeAspect="1"/>
          </p:cNvPicPr>
          <p:nvPr/>
        </p:nvPicPr>
        <p:blipFill>
          <a:blip r:embed="rId6"/>
          <a:stretch>
            <a:fillRect/>
          </a:stretch>
        </p:blipFill>
        <p:spPr>
          <a:xfrm>
            <a:off x="6757416" y="4187952"/>
            <a:ext cx="237744" cy="237744"/>
          </a:xfrm>
          <a:prstGeom prst="rect">
            <a:avLst/>
          </a:prstGeom>
        </p:spPr>
      </p:pic>
      <p:sp>
        <p:nvSpPr>
          <p:cNvPr id="22" name="Text 14"/>
          <p:cNvSpPr/>
          <p:nvPr/>
        </p:nvSpPr>
        <p:spPr>
          <a:xfrm>
            <a:off x="7104888" y="4105656"/>
            <a:ext cx="4245559" cy="457200"/>
          </a:xfrm>
          <a:prstGeom prst="rect">
            <a:avLst/>
          </a:prstGeom>
          <a:noFill/>
          <a:ln/>
        </p:spPr>
        <p:txBody>
          <a:bodyPr wrap="square" lIns="0" tIns="0" rIns="0" bIns="0" rtlCol="0" anchor="ctr"/>
          <a:lstStyle/>
          <a:p>
            <a:pPr indent="0" marL="0">
              <a:buNone/>
            </a:pPr>
            <a:r>
              <a:rPr lang="en-US" sz="1250" b="1" dirty="0">
                <a:solidFill>
                  <a:srgbClr val="1C2A3E"/>
                </a:solidFill>
                <a:latin typeface="Calibri" pitchFamily="34" charset="0"/>
                <a:ea typeface="Calibri" pitchFamily="34" charset="-122"/>
                <a:cs typeface="Calibri" pitchFamily="34" charset="-120"/>
              </a:rPr>
              <a:t>MITM protection via PKI  —  </a:t>
            </a:r>
            <a:pPr indent="0" marL="0">
              <a:buNone/>
            </a:pPr>
            <a:r>
              <a:rPr lang="en-US" sz="1250" b="1" dirty="0">
                <a:solidFill>
                  <a:srgbClr val="C0392B"/>
                </a:solidFill>
                <a:latin typeface="Calibri" pitchFamily="34" charset="0"/>
                <a:ea typeface="Calibri" pitchFamily="34" charset="-122"/>
                <a:cs typeface="Calibri" pitchFamily="34" charset="-120"/>
              </a:rPr>
              <a:t>No</a:t>
            </a:r>
            <a:endParaRPr lang="en-US" sz="1250" dirty="0"/>
          </a:p>
        </p:txBody>
      </p:sp>
      <p:pic>
        <p:nvPicPr>
          <p:cNvPr id="23" name="Image 6" descr="preencoded.png">    </p:cNvPr>
          <p:cNvPicPr>
            <a:picLocks noChangeAspect="1"/>
          </p:cNvPicPr>
          <p:nvPr/>
        </p:nvPicPr>
        <p:blipFill>
          <a:blip r:embed="rId7"/>
          <a:stretch>
            <a:fillRect/>
          </a:stretch>
        </p:blipFill>
        <p:spPr>
          <a:xfrm>
            <a:off x="6757416" y="4846320"/>
            <a:ext cx="237744" cy="237744"/>
          </a:xfrm>
          <a:prstGeom prst="rect">
            <a:avLst/>
          </a:prstGeom>
        </p:spPr>
      </p:pic>
      <p:sp>
        <p:nvSpPr>
          <p:cNvPr id="24" name="Text 15"/>
          <p:cNvSpPr/>
          <p:nvPr/>
        </p:nvSpPr>
        <p:spPr>
          <a:xfrm>
            <a:off x="7104888" y="4764024"/>
            <a:ext cx="4245559" cy="457200"/>
          </a:xfrm>
          <a:prstGeom prst="rect">
            <a:avLst/>
          </a:prstGeom>
          <a:noFill/>
          <a:ln/>
        </p:spPr>
        <p:txBody>
          <a:bodyPr wrap="square" lIns="0" tIns="0" rIns="0" bIns="0" rtlCol="0" anchor="ctr"/>
          <a:lstStyle/>
          <a:p>
            <a:pPr indent="0" marL="0">
              <a:buNone/>
            </a:pPr>
            <a:r>
              <a:rPr lang="en-US" sz="1250" b="1" dirty="0">
                <a:solidFill>
                  <a:srgbClr val="1C2A3E"/>
                </a:solidFill>
                <a:latin typeface="Calibri" pitchFamily="34" charset="0"/>
                <a:ea typeface="Calibri" pitchFamily="34" charset="-122"/>
                <a:cs typeface="Calibri" pitchFamily="34" charset="-120"/>
              </a:rPr>
              <a:t>Audit control fully met  —  </a:t>
            </a:r>
            <a:pPr indent="0" marL="0">
              <a:buNone/>
            </a:pPr>
            <a:r>
              <a:rPr lang="en-US" sz="1250" b="1" dirty="0">
                <a:solidFill>
                  <a:srgbClr val="C0392B"/>
                </a:solidFill>
                <a:latin typeface="Calibri" pitchFamily="34" charset="0"/>
                <a:ea typeface="Calibri" pitchFamily="34" charset="-122"/>
                <a:cs typeface="Calibri" pitchFamily="34" charset="-120"/>
              </a:rPr>
              <a:t>Partially (encryption only, no auth)</a:t>
            </a:r>
            <a:endParaRPr lang="en-US" sz="1250" dirty="0"/>
          </a:p>
        </p:txBody>
      </p:sp>
      <p:sp>
        <p:nvSpPr>
          <p:cNvPr id="25" name="Text 16"/>
          <p:cNvSpPr/>
          <p:nvPr/>
        </p:nvSpPr>
        <p:spPr>
          <a:xfrm>
            <a:off x="6757416" y="5486400"/>
            <a:ext cx="4611319" cy="685800"/>
          </a:xfrm>
          <a:prstGeom prst="rect">
            <a:avLst/>
          </a:prstGeom>
          <a:noFill/>
          <a:ln/>
        </p:spPr>
        <p:txBody>
          <a:bodyPr wrap="square" lIns="0" tIns="0" rIns="0" bIns="0" rtlCol="0" anchor="ctr"/>
          <a:lstStyle/>
          <a:p>
            <a:pPr indent="0" marL="0">
              <a:lnSpc>
                <a:spcPct val="105000"/>
              </a:lnSpc>
              <a:buNone/>
            </a:pPr>
            <a:r>
              <a:rPr lang="en-US" sz="1250" b="1" dirty="0">
                <a:solidFill>
                  <a:srgbClr val="0B6B66"/>
                </a:solidFill>
                <a:latin typeface="Calibri" pitchFamily="34" charset="0"/>
                <a:ea typeface="Calibri" pitchFamily="34" charset="-122"/>
                <a:cs typeface="Calibri" pitchFamily="34" charset="-120"/>
              </a:rPr>
              <a:t>Recommendation:  </a:t>
            </a:r>
            <a:pPr indent="0" marL="0">
              <a:lnSpc>
                <a:spcPct val="105000"/>
              </a:lnSpc>
              <a:buNone/>
            </a:pPr>
            <a:r>
              <a:rPr lang="en-US" sz="1250" dirty="0">
                <a:solidFill>
                  <a:srgbClr val="44586E"/>
                </a:solidFill>
                <a:latin typeface="Calibri" pitchFamily="34" charset="0"/>
                <a:ea typeface="Calibri" pitchFamily="34" charset="-122"/>
                <a:cs typeface="Calibri" pitchFamily="34" charset="-120"/>
              </a:rPr>
              <a:t>use as a short-lived interim, then supersede with TLS. Skip it if TLS lands on an acceptable timeline. Do not treat it as the end state.</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WHAT WE NEED TO PROCEED</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TLS — action points</a:t>
            </a:r>
            <a:endParaRPr lang="en-US" sz="2700" dirty="0"/>
          </a:p>
        </p:txBody>
      </p:sp>
      <p:sp>
        <p:nvSpPr>
          <p:cNvPr id="6" name="Shape 3"/>
          <p:cNvSpPr/>
          <p:nvPr/>
        </p:nvSpPr>
        <p:spPr>
          <a:xfrm>
            <a:off x="56692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768096" y="2048256"/>
            <a:ext cx="457200" cy="457200"/>
          </a:xfrm>
          <a:prstGeom prst="ellipse">
            <a:avLst/>
          </a:prstGeom>
          <a:solidFill>
            <a:srgbClr val="0F8B85"/>
          </a:solidFill>
          <a:ln/>
        </p:spPr>
        <p:txBody>
          <a:bodyPr/>
          <a:p/>
        </p:txBody>
      </p:sp>
      <p:sp>
        <p:nvSpPr>
          <p:cNvPr id="8" name="Text 5"/>
          <p:cNvSpPr/>
          <p:nvPr/>
        </p:nvSpPr>
        <p:spPr>
          <a:xfrm>
            <a:off x="76809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34416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CA &amp; certificate process</a:t>
            </a:r>
            <a:endParaRPr lang="en-US" sz="1550" dirty="0"/>
          </a:p>
        </p:txBody>
      </p:sp>
      <p:sp>
        <p:nvSpPr>
          <p:cNvPr id="10" name="Text 7"/>
          <p:cNvSpPr/>
          <p:nvPr/>
        </p:nvSpPr>
        <p:spPr>
          <a:xfrm>
            <a:off x="134416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Confirm the internal CA can issue with CN=FQDN + DNS SANs via a template, and agree the CSR turnaround SLA.</a:t>
            </a:r>
            <a:endParaRPr lang="en-US" sz="1180" dirty="0"/>
          </a:p>
        </p:txBody>
      </p:sp>
      <p:sp>
        <p:nvSpPr>
          <p:cNvPr id="11" name="Shape 8"/>
          <p:cNvSpPr/>
          <p:nvPr/>
        </p:nvSpPr>
        <p:spPr>
          <a:xfrm>
            <a:off x="625586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9"/>
          <p:cNvSpPr/>
          <p:nvPr/>
        </p:nvSpPr>
        <p:spPr>
          <a:xfrm>
            <a:off x="6457036" y="2048256"/>
            <a:ext cx="457200" cy="457200"/>
          </a:xfrm>
          <a:prstGeom prst="ellipse">
            <a:avLst/>
          </a:prstGeom>
          <a:solidFill>
            <a:srgbClr val="0F8B85"/>
          </a:solidFill>
          <a:ln/>
        </p:spPr>
        <p:txBody>
          <a:bodyPr/>
          <a:p/>
        </p:txBody>
      </p:sp>
      <p:sp>
        <p:nvSpPr>
          <p:cNvPr id="13" name="Text 10"/>
          <p:cNvSpPr/>
          <p:nvPr/>
        </p:nvSpPr>
        <p:spPr>
          <a:xfrm>
            <a:off x="645703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703310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Pre-flight the fleet</a:t>
            </a:r>
            <a:endParaRPr lang="en-US" sz="1550" dirty="0"/>
          </a:p>
        </p:txBody>
      </p:sp>
      <p:sp>
        <p:nvSpPr>
          <p:cNvPr id="15" name="Text 12"/>
          <p:cNvSpPr/>
          <p:nvPr/>
        </p:nvSpPr>
        <p:spPr>
          <a:xfrm>
            <a:off x="703310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Audit every sqlnet.ora for an existing WALLET_LOCATION / SEPS override before we touch it (grep -c WALLET_LOCATION).</a:t>
            </a:r>
            <a:endParaRPr lang="en-US" sz="1180" dirty="0"/>
          </a:p>
        </p:txBody>
      </p:sp>
      <p:sp>
        <p:nvSpPr>
          <p:cNvPr id="16" name="Shape 13"/>
          <p:cNvSpPr/>
          <p:nvPr/>
        </p:nvSpPr>
        <p:spPr>
          <a:xfrm>
            <a:off x="56692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4"/>
          <p:cNvSpPr/>
          <p:nvPr/>
        </p:nvSpPr>
        <p:spPr>
          <a:xfrm>
            <a:off x="768096" y="3465576"/>
            <a:ext cx="457200" cy="457200"/>
          </a:xfrm>
          <a:prstGeom prst="ellipse">
            <a:avLst/>
          </a:prstGeom>
          <a:solidFill>
            <a:srgbClr val="0F8B85"/>
          </a:solidFill>
          <a:ln/>
        </p:spPr>
        <p:txBody>
          <a:bodyPr/>
          <a:p/>
        </p:txBody>
      </p:sp>
      <p:sp>
        <p:nvSpPr>
          <p:cNvPr id="18" name="Text 15"/>
          <p:cNvSpPr/>
          <p:nvPr/>
        </p:nvSpPr>
        <p:spPr>
          <a:xfrm>
            <a:off x="76809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134416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Firewall 1527</a:t>
            </a:r>
            <a:endParaRPr lang="en-US" sz="1550" dirty="0"/>
          </a:p>
        </p:txBody>
      </p:sp>
      <p:sp>
        <p:nvSpPr>
          <p:cNvPr id="20" name="Text 17"/>
          <p:cNvSpPr/>
          <p:nvPr/>
        </p:nvSpPr>
        <p:spPr>
          <a:xfrm>
            <a:off x="134416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Open TCPS 1527 from all client subnets and between primary ↔ standby; keep 1526 open during coexistence.</a:t>
            </a:r>
            <a:endParaRPr lang="en-US" sz="1180" dirty="0"/>
          </a:p>
        </p:txBody>
      </p:sp>
      <p:sp>
        <p:nvSpPr>
          <p:cNvPr id="21" name="Shape 18"/>
          <p:cNvSpPr/>
          <p:nvPr/>
        </p:nvSpPr>
        <p:spPr>
          <a:xfrm>
            <a:off x="625586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9"/>
          <p:cNvSpPr/>
          <p:nvPr/>
        </p:nvSpPr>
        <p:spPr>
          <a:xfrm>
            <a:off x="6457036" y="3465576"/>
            <a:ext cx="457200" cy="457200"/>
          </a:xfrm>
          <a:prstGeom prst="ellipse">
            <a:avLst/>
          </a:prstGeom>
          <a:solidFill>
            <a:srgbClr val="0F8B85"/>
          </a:solidFill>
          <a:ln/>
        </p:spPr>
        <p:txBody>
          <a:bodyPr/>
          <a:p/>
        </p:txBody>
      </p:sp>
      <p:sp>
        <p:nvSpPr>
          <p:cNvPr id="23" name="Text 20"/>
          <p:cNvSpPr/>
          <p:nvPr/>
        </p:nvSpPr>
        <p:spPr>
          <a:xfrm>
            <a:off x="645703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1"/>
          <p:cNvSpPr/>
          <p:nvPr/>
        </p:nvSpPr>
        <p:spPr>
          <a:xfrm>
            <a:off x="703310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Decide on ANO interim</a:t>
            </a:r>
            <a:endParaRPr lang="en-US" sz="1550" dirty="0"/>
          </a:p>
        </p:txBody>
      </p:sp>
      <p:sp>
        <p:nvSpPr>
          <p:cNvPr id="25" name="Text 22"/>
          <p:cNvSpPr/>
          <p:nvPr/>
        </p:nvSpPr>
        <p:spPr>
          <a:xfrm>
            <a:off x="703310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Sponsor call: enable native encryption now as a quick win, or wait for TLS?</a:t>
            </a:r>
            <a:endParaRPr lang="en-US" sz="1180" dirty="0"/>
          </a:p>
        </p:txBody>
      </p:sp>
      <p:sp>
        <p:nvSpPr>
          <p:cNvPr id="26" name="Shape 23"/>
          <p:cNvSpPr/>
          <p:nvPr/>
        </p:nvSpPr>
        <p:spPr>
          <a:xfrm>
            <a:off x="56692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24"/>
          <p:cNvSpPr/>
          <p:nvPr/>
        </p:nvSpPr>
        <p:spPr>
          <a:xfrm>
            <a:off x="768096" y="4882896"/>
            <a:ext cx="457200" cy="457200"/>
          </a:xfrm>
          <a:prstGeom prst="ellipse">
            <a:avLst/>
          </a:prstGeom>
          <a:solidFill>
            <a:srgbClr val="0F8B85"/>
          </a:solidFill>
          <a:ln/>
        </p:spPr>
        <p:txBody>
          <a:bodyPr/>
          <a:p/>
        </p:txBody>
      </p:sp>
      <p:sp>
        <p:nvSpPr>
          <p:cNvPr id="28" name="Text 25"/>
          <p:cNvSpPr/>
          <p:nvPr/>
        </p:nvSpPr>
        <p:spPr>
          <a:xfrm>
            <a:off x="76809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6"/>
          <p:cNvSpPr/>
          <p:nvPr/>
        </p:nvSpPr>
        <p:spPr>
          <a:xfrm>
            <a:off x="134416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App-team engagement</a:t>
            </a:r>
            <a:endParaRPr lang="en-US" sz="1550" dirty="0"/>
          </a:p>
        </p:txBody>
      </p:sp>
      <p:sp>
        <p:nvSpPr>
          <p:cNvPr id="30" name="Text 27"/>
          <p:cNvSpPr/>
          <p:nvPr/>
        </p:nvSpPr>
        <p:spPr>
          <a:xfrm>
            <a:off x="134416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Start truststore + connect-string migration early — it is the long pole; provide the CA root and per-app instructions.</a:t>
            </a:r>
            <a:endParaRPr lang="en-US" sz="1180" dirty="0"/>
          </a:p>
        </p:txBody>
      </p:sp>
      <p:sp>
        <p:nvSpPr>
          <p:cNvPr id="31" name="Shape 28"/>
          <p:cNvSpPr/>
          <p:nvPr/>
        </p:nvSpPr>
        <p:spPr>
          <a:xfrm>
            <a:off x="625586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9"/>
          <p:cNvSpPr/>
          <p:nvPr/>
        </p:nvSpPr>
        <p:spPr>
          <a:xfrm>
            <a:off x="6457036" y="4882896"/>
            <a:ext cx="457200" cy="457200"/>
          </a:xfrm>
          <a:prstGeom prst="ellipse">
            <a:avLst/>
          </a:prstGeom>
          <a:solidFill>
            <a:srgbClr val="0F8B85"/>
          </a:solidFill>
          <a:ln/>
        </p:spPr>
        <p:txBody>
          <a:bodyPr/>
          <a:p/>
        </p:txBody>
      </p:sp>
      <p:sp>
        <p:nvSpPr>
          <p:cNvPr id="33" name="Text 30"/>
          <p:cNvSpPr/>
          <p:nvPr/>
        </p:nvSpPr>
        <p:spPr>
          <a:xfrm>
            <a:off x="645703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4" name="Text 31"/>
          <p:cNvSpPr/>
          <p:nvPr/>
        </p:nvSpPr>
        <p:spPr>
          <a:xfrm>
            <a:off x="703310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Expiry monitoring</a:t>
            </a:r>
            <a:endParaRPr lang="en-US" sz="1550" dirty="0"/>
          </a:p>
        </p:txBody>
      </p:sp>
      <p:sp>
        <p:nvSpPr>
          <p:cNvPr id="35" name="Text 32"/>
          <p:cNvSpPr/>
          <p:nvPr/>
        </p:nvSpPr>
        <p:spPr>
          <a:xfrm>
            <a:off x="703310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Stand up cert-expiry alerting (OEM / openssl probe) before any TCPS endpoint goes live.</a:t>
            </a:r>
            <a:endParaRPr lang="en-US" sz="118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2"/>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FREQUENTLY ASKED — TLS TRACK</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TLS FAQ — design &amp; setup</a:t>
            </a:r>
            <a:endParaRPr lang="en-US" sz="2700" dirty="0"/>
          </a:p>
        </p:txBody>
      </p:sp>
      <p:sp>
        <p:nvSpPr>
          <p:cNvPr id="6" name="Shape 3"/>
          <p:cNvSpPr/>
          <p:nvPr/>
        </p:nvSpPr>
        <p:spPr>
          <a:xfrm>
            <a:off x="56692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768096" y="2048256"/>
            <a:ext cx="457200" cy="457200"/>
          </a:xfrm>
          <a:prstGeom prst="ellipse">
            <a:avLst/>
          </a:prstGeom>
          <a:solidFill>
            <a:srgbClr val="0F8B85"/>
          </a:solidFill>
          <a:ln/>
        </p:spPr>
        <p:txBody>
          <a:bodyPr/>
          <a:p/>
        </p:txBody>
      </p:sp>
      <p:sp>
        <p:nvSpPr>
          <p:cNvPr id="8" name="Text 5"/>
          <p:cNvSpPr/>
          <p:nvPr/>
        </p:nvSpPr>
        <p:spPr>
          <a:xfrm>
            <a:off x="76809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34416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Do we need an outage to add TLS?</a:t>
            </a:r>
            <a:endParaRPr lang="en-US" sz="1550" dirty="0"/>
          </a:p>
        </p:txBody>
      </p:sp>
      <p:sp>
        <p:nvSpPr>
          <p:cNvPr id="10" name="Text 7"/>
          <p:cNvSpPr/>
          <p:nvPr/>
        </p:nvSpPr>
        <p:spPr>
          <a:xfrm>
            <a:off x="134416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No — dual-port coexistence. Only adding the new 1527 endpoint needs a full listener stop/start.</a:t>
            </a:r>
            <a:endParaRPr lang="en-US" sz="1180" dirty="0"/>
          </a:p>
        </p:txBody>
      </p:sp>
      <p:sp>
        <p:nvSpPr>
          <p:cNvPr id="11" name="Shape 8"/>
          <p:cNvSpPr/>
          <p:nvPr/>
        </p:nvSpPr>
        <p:spPr>
          <a:xfrm>
            <a:off x="625586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9"/>
          <p:cNvSpPr/>
          <p:nvPr/>
        </p:nvSpPr>
        <p:spPr>
          <a:xfrm>
            <a:off x="6457036" y="2048256"/>
            <a:ext cx="457200" cy="457200"/>
          </a:xfrm>
          <a:prstGeom prst="ellipse">
            <a:avLst/>
          </a:prstGeom>
          <a:solidFill>
            <a:srgbClr val="0F8B85"/>
          </a:solidFill>
          <a:ln/>
        </p:spPr>
        <p:txBody>
          <a:bodyPr/>
          <a:p/>
        </p:txBody>
      </p:sp>
      <p:sp>
        <p:nvSpPr>
          <p:cNvPr id="13" name="Text 10"/>
          <p:cNvSpPr/>
          <p:nvPr/>
        </p:nvSpPr>
        <p:spPr>
          <a:xfrm>
            <a:off x="645703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703310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Is this mutual TLS? Client certs?</a:t>
            </a:r>
            <a:endParaRPr lang="en-US" sz="1550" dirty="0"/>
          </a:p>
        </p:txBody>
      </p:sp>
      <p:sp>
        <p:nvSpPr>
          <p:cNvPr id="15" name="Text 12"/>
          <p:cNvSpPr/>
          <p:nvPr/>
        </p:nvSpPr>
        <p:spPr>
          <a:xfrm>
            <a:off x="703310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No — one-way, server-auth only. Clients just need the CSOB CA chain in a truststore.</a:t>
            </a:r>
            <a:endParaRPr lang="en-US" sz="1180" dirty="0"/>
          </a:p>
        </p:txBody>
      </p:sp>
      <p:sp>
        <p:nvSpPr>
          <p:cNvPr id="16" name="Shape 13"/>
          <p:cNvSpPr/>
          <p:nvPr/>
        </p:nvSpPr>
        <p:spPr>
          <a:xfrm>
            <a:off x="56692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4"/>
          <p:cNvSpPr/>
          <p:nvPr/>
        </p:nvSpPr>
        <p:spPr>
          <a:xfrm>
            <a:off x="768096" y="3465576"/>
            <a:ext cx="457200" cy="457200"/>
          </a:xfrm>
          <a:prstGeom prst="ellipse">
            <a:avLst/>
          </a:prstGeom>
          <a:solidFill>
            <a:srgbClr val="0F8B85"/>
          </a:solidFill>
          <a:ln/>
        </p:spPr>
        <p:txBody>
          <a:bodyPr/>
          <a:p/>
        </p:txBody>
      </p:sp>
      <p:sp>
        <p:nvSpPr>
          <p:cNvPr id="18" name="Text 15"/>
          <p:cNvSpPr/>
          <p:nvPr/>
        </p:nvSpPr>
        <p:spPr>
          <a:xfrm>
            <a:off x="76809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134416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Where does the TLS wallet live?</a:t>
            </a:r>
            <a:endParaRPr lang="en-US" sz="1550" dirty="0"/>
          </a:p>
        </p:txBody>
      </p:sp>
      <p:sp>
        <p:nvSpPr>
          <p:cNvPr id="20" name="Text 17"/>
          <p:cNvSpPr/>
          <p:nvPr/>
        </p:nvSpPr>
        <p:spPr>
          <a:xfrm>
            <a:off x="134416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In /oracle/admin/$SID/wallet_tls — kept strictly separate from the TDE keystore.</a:t>
            </a:r>
            <a:endParaRPr lang="en-US" sz="1180" dirty="0"/>
          </a:p>
        </p:txBody>
      </p:sp>
      <p:sp>
        <p:nvSpPr>
          <p:cNvPr id="21" name="Shape 18"/>
          <p:cNvSpPr/>
          <p:nvPr/>
        </p:nvSpPr>
        <p:spPr>
          <a:xfrm>
            <a:off x="625586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9"/>
          <p:cNvSpPr/>
          <p:nvPr/>
        </p:nvSpPr>
        <p:spPr>
          <a:xfrm>
            <a:off x="6457036" y="3465576"/>
            <a:ext cx="457200" cy="457200"/>
          </a:xfrm>
          <a:prstGeom prst="ellipse">
            <a:avLst/>
          </a:prstGeom>
          <a:solidFill>
            <a:srgbClr val="0F8B85"/>
          </a:solidFill>
          <a:ln/>
        </p:spPr>
        <p:txBody>
          <a:bodyPr/>
          <a:p/>
        </p:txBody>
      </p:sp>
      <p:sp>
        <p:nvSpPr>
          <p:cNvPr id="23" name="Text 20"/>
          <p:cNvSpPr/>
          <p:nvPr/>
        </p:nvSpPr>
        <p:spPr>
          <a:xfrm>
            <a:off x="645703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1"/>
          <p:cNvSpPr/>
          <p:nvPr/>
        </p:nvSpPr>
        <p:spPr>
          <a:xfrm>
            <a:off x="703310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Which auto-login wallet type?</a:t>
            </a:r>
            <a:endParaRPr lang="en-US" sz="1550" dirty="0"/>
          </a:p>
        </p:txBody>
      </p:sp>
      <p:sp>
        <p:nvSpPr>
          <p:cNvPr id="25" name="Text 22"/>
          <p:cNvSpPr/>
          <p:nvPr/>
        </p:nvSpPr>
        <p:spPr>
          <a:xfrm>
            <a:off x="703310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Plain -auto_login. Avoid -auto_login_local: it's host-bound and won't open after a DR move.</a:t>
            </a:r>
            <a:endParaRPr lang="en-US" sz="1180" dirty="0"/>
          </a:p>
        </p:txBody>
      </p:sp>
      <p:sp>
        <p:nvSpPr>
          <p:cNvPr id="26" name="Shape 23"/>
          <p:cNvSpPr/>
          <p:nvPr/>
        </p:nvSpPr>
        <p:spPr>
          <a:xfrm>
            <a:off x="56692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24"/>
          <p:cNvSpPr/>
          <p:nvPr/>
        </p:nvSpPr>
        <p:spPr>
          <a:xfrm>
            <a:off x="768096" y="4882896"/>
            <a:ext cx="457200" cy="457200"/>
          </a:xfrm>
          <a:prstGeom prst="ellipse">
            <a:avLst/>
          </a:prstGeom>
          <a:solidFill>
            <a:srgbClr val="0F8B85"/>
          </a:solidFill>
          <a:ln/>
        </p:spPr>
        <p:txBody>
          <a:bodyPr/>
          <a:p/>
        </p:txBody>
      </p:sp>
      <p:sp>
        <p:nvSpPr>
          <p:cNvPr id="28" name="Text 25"/>
          <p:cNvSpPr/>
          <p:nvPr/>
        </p:nvSpPr>
        <p:spPr>
          <a:xfrm>
            <a:off x="76809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6"/>
          <p:cNvSpPr/>
          <p:nvPr/>
        </p:nvSpPr>
        <p:spPr>
          <a:xfrm>
            <a:off x="134416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Pin TLS 1.2 or allow 1.3?</a:t>
            </a:r>
            <a:endParaRPr lang="en-US" sz="1550" dirty="0"/>
          </a:p>
        </p:txBody>
      </p:sp>
      <p:sp>
        <p:nvSpPr>
          <p:cNvPr id="30" name="Text 27"/>
          <p:cNvSpPr/>
          <p:nvPr/>
        </p:nvSpPr>
        <p:spPr>
          <a:xfrm>
            <a:off x="134416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Fleet on 19.30 supports 1.3. Keep 1.2 as the default until client drivers are validated, then allow 1.3.</a:t>
            </a:r>
            <a:endParaRPr lang="en-US" sz="1180" dirty="0"/>
          </a:p>
        </p:txBody>
      </p:sp>
      <p:sp>
        <p:nvSpPr>
          <p:cNvPr id="31" name="Shape 28"/>
          <p:cNvSpPr/>
          <p:nvPr/>
        </p:nvSpPr>
        <p:spPr>
          <a:xfrm>
            <a:off x="625586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9"/>
          <p:cNvSpPr/>
          <p:nvPr/>
        </p:nvSpPr>
        <p:spPr>
          <a:xfrm>
            <a:off x="6457036" y="4882896"/>
            <a:ext cx="457200" cy="457200"/>
          </a:xfrm>
          <a:prstGeom prst="ellipse">
            <a:avLst/>
          </a:prstGeom>
          <a:solidFill>
            <a:srgbClr val="0F8B85"/>
          </a:solidFill>
          <a:ln/>
        </p:spPr>
        <p:txBody>
          <a:bodyPr/>
          <a:p/>
        </p:txBody>
      </p:sp>
      <p:sp>
        <p:nvSpPr>
          <p:cNvPr id="33" name="Text 30"/>
          <p:cNvSpPr/>
          <p:nvPr/>
        </p:nvSpPr>
        <p:spPr>
          <a:xfrm>
            <a:off x="645703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4" name="Text 31"/>
          <p:cNvSpPr/>
          <p:nvPr/>
        </p:nvSpPr>
        <p:spPr>
          <a:xfrm>
            <a:off x="703310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Enable native (ANO) encryption too?</a:t>
            </a:r>
            <a:endParaRPr lang="en-US" sz="1550" dirty="0"/>
          </a:p>
        </p:txBody>
      </p:sp>
      <p:sp>
        <p:nvSpPr>
          <p:cNvPr id="35" name="Text 32"/>
          <p:cNvSpPr/>
          <p:nvPr/>
        </p:nvSpPr>
        <p:spPr>
          <a:xfrm>
            <a:off x="703310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Not on TCPS — it double-encrypts. Use ANO only as the interim control on the surviving 1526.</a:t>
            </a:r>
            <a:endParaRPr lang="en-US" sz="118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566928" y="457200"/>
            <a:ext cx="566928" cy="566928"/>
          </a:xfrm>
          <a:prstGeom prst="ellipse">
            <a:avLst/>
          </a:prstGeom>
          <a:solidFill>
            <a:srgbClr val="0F8B85"/>
          </a:solidFill>
          <a:ln/>
        </p:spPr>
        <p:txBody>
          <a:bodyPr/>
          <a:p/>
        </p:txBody>
      </p:sp>
      <p:pic>
        <p:nvPicPr>
          <p:cNvPr id="3" name="Image 0" descr="preencoded.png">    </p:cNvPr>
          <p:cNvPicPr>
            <a:picLocks noChangeAspect="1"/>
          </p:cNvPicPr>
          <p:nvPr/>
        </p:nvPicPr>
        <p:blipFill>
          <a:blip r:embed="rId2"/>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0F8B85"/>
                </a:solidFill>
                <a:latin typeface="Calibri" pitchFamily="34" charset="0"/>
                <a:ea typeface="Calibri" pitchFamily="34" charset="-122"/>
                <a:cs typeface="Calibri" pitchFamily="34" charset="-120"/>
              </a:rPr>
              <a:t>FREQUENTLY ASKED — TLS TRACK</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TLS FAQ — gotchas &amp; clients</a:t>
            </a:r>
            <a:endParaRPr lang="en-US" sz="2700" dirty="0"/>
          </a:p>
        </p:txBody>
      </p:sp>
      <p:sp>
        <p:nvSpPr>
          <p:cNvPr id="6" name="Shape 3"/>
          <p:cNvSpPr/>
          <p:nvPr/>
        </p:nvSpPr>
        <p:spPr>
          <a:xfrm>
            <a:off x="56692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768096" y="2048256"/>
            <a:ext cx="457200" cy="457200"/>
          </a:xfrm>
          <a:prstGeom prst="ellipse">
            <a:avLst/>
          </a:prstGeom>
          <a:solidFill>
            <a:srgbClr val="0F8B85"/>
          </a:solidFill>
          <a:ln/>
        </p:spPr>
        <p:txBody>
          <a:bodyPr/>
          <a:p/>
        </p:txBody>
      </p:sp>
      <p:sp>
        <p:nvSpPr>
          <p:cNvPr id="8" name="Text 5"/>
          <p:cNvSpPr/>
          <p:nvPr/>
        </p:nvSpPr>
        <p:spPr>
          <a:xfrm>
            <a:off x="76809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34416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Handshake OK, then ORA-28865?</a:t>
            </a:r>
            <a:endParaRPr lang="en-US" sz="1550" dirty="0"/>
          </a:p>
        </p:txBody>
      </p:sp>
      <p:sp>
        <p:nvSpPr>
          <p:cNvPr id="10" name="Text 7"/>
          <p:cNvSpPr/>
          <p:nvPr/>
        </p:nvSpPr>
        <p:spPr>
          <a:xfrm>
            <a:off x="134416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The wallet must be in sqlnet.ora too — the DB server process re-reads it, not just the listener.</a:t>
            </a:r>
            <a:endParaRPr lang="en-US" sz="1180" dirty="0"/>
          </a:p>
        </p:txBody>
      </p:sp>
      <p:sp>
        <p:nvSpPr>
          <p:cNvPr id="11" name="Shape 8"/>
          <p:cNvSpPr/>
          <p:nvPr/>
        </p:nvSpPr>
        <p:spPr>
          <a:xfrm>
            <a:off x="625586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9"/>
          <p:cNvSpPr/>
          <p:nvPr/>
        </p:nvSpPr>
        <p:spPr>
          <a:xfrm>
            <a:off x="6457036" y="2048256"/>
            <a:ext cx="457200" cy="457200"/>
          </a:xfrm>
          <a:prstGeom prst="ellipse">
            <a:avLst/>
          </a:prstGeom>
          <a:solidFill>
            <a:srgbClr val="0F8B85"/>
          </a:solidFill>
          <a:ln/>
        </p:spPr>
        <p:txBody>
          <a:bodyPr/>
          <a:p/>
        </p:txBody>
      </p:sp>
      <p:sp>
        <p:nvSpPr>
          <p:cNvPr id="13" name="Text 10"/>
          <p:cNvSpPr/>
          <p:nvPr/>
        </p:nvSpPr>
        <p:spPr>
          <a:xfrm>
            <a:off x="645703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703310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We use SEPS — will TLS break it?</a:t>
            </a:r>
            <a:endParaRPr lang="en-US" sz="1550" dirty="0"/>
          </a:p>
        </p:txBody>
      </p:sp>
      <p:sp>
        <p:nvSpPr>
          <p:cNvPr id="15" name="Text 12"/>
          <p:cNvSpPr/>
          <p:nvPr/>
        </p:nvSpPr>
        <p:spPr>
          <a:xfrm>
            <a:off x="703310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sqlnet.ora allows one WALLET_LOCATION. Merge the CA trust in — never append. Grep the fleet first.</a:t>
            </a:r>
            <a:endParaRPr lang="en-US" sz="1180" dirty="0"/>
          </a:p>
        </p:txBody>
      </p:sp>
      <p:sp>
        <p:nvSpPr>
          <p:cNvPr id="16" name="Shape 13"/>
          <p:cNvSpPr/>
          <p:nvPr/>
        </p:nvSpPr>
        <p:spPr>
          <a:xfrm>
            <a:off x="56692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4"/>
          <p:cNvSpPr/>
          <p:nvPr/>
        </p:nvSpPr>
        <p:spPr>
          <a:xfrm>
            <a:off x="768096" y="3465576"/>
            <a:ext cx="457200" cy="457200"/>
          </a:xfrm>
          <a:prstGeom prst="ellipse">
            <a:avLst/>
          </a:prstGeom>
          <a:solidFill>
            <a:srgbClr val="0F8B85"/>
          </a:solidFill>
          <a:ln/>
        </p:spPr>
        <p:txBody>
          <a:bodyPr/>
          <a:p/>
        </p:txBody>
      </p:sp>
      <p:sp>
        <p:nvSpPr>
          <p:cNvPr id="18" name="Text 15"/>
          <p:cNvSpPr/>
          <p:nvPr/>
        </p:nvSpPr>
        <p:spPr>
          <a:xfrm>
            <a:off x="76809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134416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orapki CSR carries no SANs?</a:t>
            </a:r>
            <a:endParaRPr lang="en-US" sz="1550" dirty="0"/>
          </a:p>
        </p:txBody>
      </p:sp>
      <p:sp>
        <p:nvSpPr>
          <p:cNvPr id="20" name="Text 17"/>
          <p:cNvSpPr/>
          <p:nvPr/>
        </p:nvSpPr>
        <p:spPr>
          <a:xfrm>
            <a:off x="134416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Have the CA template stamp CN=FQDN + DNS SANs, or build the CSR with openssl.</a:t>
            </a:r>
            <a:endParaRPr lang="en-US" sz="1180" dirty="0"/>
          </a:p>
        </p:txBody>
      </p:sp>
      <p:sp>
        <p:nvSpPr>
          <p:cNvPr id="21" name="Shape 18"/>
          <p:cNvSpPr/>
          <p:nvPr/>
        </p:nvSpPr>
        <p:spPr>
          <a:xfrm>
            <a:off x="625586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9"/>
          <p:cNvSpPr/>
          <p:nvPr/>
        </p:nvSpPr>
        <p:spPr>
          <a:xfrm>
            <a:off x="6457036" y="3465576"/>
            <a:ext cx="457200" cy="457200"/>
          </a:xfrm>
          <a:prstGeom prst="ellipse">
            <a:avLst/>
          </a:prstGeom>
          <a:solidFill>
            <a:srgbClr val="0F8B85"/>
          </a:solidFill>
          <a:ln/>
        </p:spPr>
        <p:txBody>
          <a:bodyPr/>
          <a:p/>
        </p:txBody>
      </p:sp>
      <p:sp>
        <p:nvSpPr>
          <p:cNvPr id="23" name="Text 20"/>
          <p:cNvSpPr/>
          <p:nvPr/>
        </p:nvSpPr>
        <p:spPr>
          <a:xfrm>
            <a:off x="645703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1"/>
          <p:cNvSpPr/>
          <p:nvPr/>
        </p:nvSpPr>
        <p:spPr>
          <a:xfrm>
            <a:off x="703310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DN-match fails from some apps?</a:t>
            </a:r>
            <a:endParaRPr lang="en-US" sz="1550" dirty="0"/>
          </a:p>
        </p:txBody>
      </p:sp>
      <p:sp>
        <p:nvSpPr>
          <p:cNvPr id="25" name="Text 22"/>
          <p:cNvSpPr/>
          <p:nvPr/>
        </p:nvSpPr>
        <p:spPr>
          <a:xfrm>
            <a:off x="703310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Set ssl_server_dn_match=true explicitly; the connect host must equal the cert CN and a SAN.</a:t>
            </a:r>
            <a:endParaRPr lang="en-US" sz="1180" dirty="0"/>
          </a:p>
        </p:txBody>
      </p:sp>
      <p:sp>
        <p:nvSpPr>
          <p:cNvPr id="26" name="Shape 23"/>
          <p:cNvSpPr/>
          <p:nvPr/>
        </p:nvSpPr>
        <p:spPr>
          <a:xfrm>
            <a:off x="56692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24"/>
          <p:cNvSpPr/>
          <p:nvPr/>
        </p:nvSpPr>
        <p:spPr>
          <a:xfrm>
            <a:off x="768096" y="4882896"/>
            <a:ext cx="457200" cy="457200"/>
          </a:xfrm>
          <a:prstGeom prst="ellipse">
            <a:avLst/>
          </a:prstGeom>
          <a:solidFill>
            <a:srgbClr val="0F8B85"/>
          </a:solidFill>
          <a:ln/>
        </p:spPr>
        <p:txBody>
          <a:bodyPr/>
          <a:p/>
        </p:txBody>
      </p:sp>
      <p:sp>
        <p:nvSpPr>
          <p:cNvPr id="28" name="Text 25"/>
          <p:cNvSpPr/>
          <p:nvPr/>
        </p:nvSpPr>
        <p:spPr>
          <a:xfrm>
            <a:off x="76809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6"/>
          <p:cNvSpPr/>
          <p:nvPr/>
        </p:nvSpPr>
        <p:spPr>
          <a:xfrm>
            <a:off x="134416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What do JDBC-thin apps need?</a:t>
            </a:r>
            <a:endParaRPr lang="en-US" sz="1550" dirty="0"/>
          </a:p>
        </p:txBody>
      </p:sp>
      <p:sp>
        <p:nvSpPr>
          <p:cNvPr id="30" name="Text 27"/>
          <p:cNvSpPr/>
          <p:nvPr/>
        </p:nvSpPr>
        <p:spPr>
          <a:xfrm>
            <a:off x="134416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A JKS truststore with the CSOB root + intermediate — no Oracle wallet or pki jars.</a:t>
            </a:r>
            <a:endParaRPr lang="en-US" sz="1180" dirty="0"/>
          </a:p>
        </p:txBody>
      </p:sp>
      <p:sp>
        <p:nvSpPr>
          <p:cNvPr id="31" name="Shape 28"/>
          <p:cNvSpPr/>
          <p:nvPr/>
        </p:nvSpPr>
        <p:spPr>
          <a:xfrm>
            <a:off x="625586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9"/>
          <p:cNvSpPr/>
          <p:nvPr/>
        </p:nvSpPr>
        <p:spPr>
          <a:xfrm>
            <a:off x="6457036" y="4882896"/>
            <a:ext cx="457200" cy="457200"/>
          </a:xfrm>
          <a:prstGeom prst="ellipse">
            <a:avLst/>
          </a:prstGeom>
          <a:solidFill>
            <a:srgbClr val="0F8B85"/>
          </a:solidFill>
          <a:ln/>
        </p:spPr>
        <p:txBody>
          <a:bodyPr/>
          <a:p/>
        </p:txBody>
      </p:sp>
      <p:sp>
        <p:nvSpPr>
          <p:cNvPr id="33" name="Text 30"/>
          <p:cNvSpPr/>
          <p:nvPr/>
        </p:nvSpPr>
        <p:spPr>
          <a:xfrm>
            <a:off x="645703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4" name="Text 31"/>
          <p:cNvSpPr/>
          <p:nvPr/>
        </p:nvSpPr>
        <p:spPr>
          <a:xfrm>
            <a:off x="703310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Does DG redo need mutual TLS?</a:t>
            </a:r>
            <a:endParaRPr lang="en-US" sz="1550" dirty="0"/>
          </a:p>
        </p:txBody>
      </p:sp>
      <p:sp>
        <p:nvSpPr>
          <p:cNvPr id="35" name="Text 32"/>
          <p:cNvSpPr/>
          <p:nvPr/>
        </p:nvSpPr>
        <p:spPr>
          <a:xfrm>
            <a:off x="703310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No — password-file auth. Add static registration so the standby's 1527 is reachable when MOUNTED.</a:t>
            </a:r>
            <a:endParaRPr lang="en-US" sz="11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2223F"/>
        </a:solidFill>
      </p:bgPr>
    </p:bg>
    <p:spTree>
      <p:nvGrpSpPr>
        <p:cNvPr id="1" name=""/>
        <p:cNvGrpSpPr/>
        <p:nvPr/>
      </p:nvGrpSpPr>
      <p:grpSpPr>
        <a:xfrm>
          <a:off x="0" y="0"/>
          <a:ext cx="0" cy="0"/>
          <a:chOff x="0" y="0"/>
          <a:chExt cx="0" cy="0"/>
        </a:xfrm>
      </p:grpSpPr>
      <p:sp>
        <p:nvSpPr>
          <p:cNvPr id="2" name="Shape 0"/>
          <p:cNvSpPr/>
          <p:nvPr/>
        </p:nvSpPr>
        <p:spPr>
          <a:xfrm>
            <a:off x="566928" y="2286000"/>
            <a:ext cx="1005840" cy="1005840"/>
          </a:xfrm>
          <a:prstGeom prst="ellipse">
            <a:avLst/>
          </a:prstGeom>
          <a:solidFill>
            <a:srgbClr val="C6881B"/>
          </a:solidFill>
          <a:ln/>
        </p:spPr>
        <p:txBody>
          <a:bodyPr/>
          <a:p/>
        </p:txBody>
      </p:sp>
      <p:pic>
        <p:nvPicPr>
          <p:cNvPr id="3" name="Image 0" descr="preencoded.png">    </p:cNvPr>
          <p:cNvPicPr>
            <a:picLocks noChangeAspect="1"/>
          </p:cNvPicPr>
          <p:nvPr/>
        </p:nvPicPr>
        <p:blipFill>
          <a:blip r:embed="rId1"/>
          <a:stretch>
            <a:fillRect/>
          </a:stretch>
        </p:blipFill>
        <p:spPr>
          <a:xfrm>
            <a:off x="828446" y="2547518"/>
            <a:ext cx="482803" cy="482803"/>
          </a:xfrm>
          <a:prstGeom prst="rect">
            <a:avLst/>
          </a:prstGeom>
        </p:spPr>
      </p:pic>
      <p:sp>
        <p:nvSpPr>
          <p:cNvPr id="4" name="Text 1"/>
          <p:cNvSpPr/>
          <p:nvPr/>
        </p:nvSpPr>
        <p:spPr>
          <a:xfrm>
            <a:off x="566928" y="3429000"/>
            <a:ext cx="7315200" cy="320040"/>
          </a:xfrm>
          <a:prstGeom prst="rect">
            <a:avLst/>
          </a:prstGeom>
          <a:noFill/>
          <a:ln/>
        </p:spPr>
        <p:txBody>
          <a:bodyPr wrap="square" lIns="0" tIns="0" rIns="0" bIns="0" rtlCol="0" anchor="ctr"/>
          <a:lstStyle/>
          <a:p>
            <a:pPr indent="0" marL="0">
              <a:buNone/>
            </a:pPr>
            <a:r>
              <a:rPr lang="en-US" sz="1400" b="1" spc="300" kern="0" dirty="0">
                <a:solidFill>
                  <a:srgbClr val="C6881B"/>
                </a:solidFill>
                <a:latin typeface="Calibri" pitchFamily="34" charset="0"/>
                <a:ea typeface="Calibri" pitchFamily="34" charset="-122"/>
                <a:cs typeface="Calibri" pitchFamily="34" charset="-120"/>
              </a:rPr>
              <a:t>SECTION 2</a:t>
            </a:r>
            <a:endParaRPr lang="en-US" sz="1400" dirty="0"/>
          </a:p>
        </p:txBody>
      </p:sp>
      <p:sp>
        <p:nvSpPr>
          <p:cNvPr id="5" name="Text 2"/>
          <p:cNvSpPr/>
          <p:nvPr/>
        </p:nvSpPr>
        <p:spPr>
          <a:xfrm>
            <a:off x="566928" y="3703320"/>
            <a:ext cx="10058400" cy="822960"/>
          </a:xfrm>
          <a:prstGeom prst="rect">
            <a:avLst/>
          </a:prstGeom>
          <a:noFill/>
          <a:ln/>
        </p:spPr>
        <p:txBody>
          <a:bodyPr wrap="square" lIns="0" tIns="0" rIns="0" bIns="0" rtlCol="0" anchor="ctr"/>
          <a:lstStyle/>
          <a:p>
            <a:pPr indent="0" marL="0">
              <a:buNone/>
            </a:pPr>
            <a:r>
              <a:rPr lang="en-US" sz="4200" b="1" dirty="0">
                <a:solidFill>
                  <a:srgbClr val="FFFFFF"/>
                </a:solidFill>
                <a:latin typeface="Cambria" pitchFamily="34" charset="0"/>
                <a:ea typeface="Cambria" pitchFamily="34" charset="-122"/>
                <a:cs typeface="Cambria" pitchFamily="34" charset="-120"/>
              </a:rPr>
              <a:t>TDE — data at rest</a:t>
            </a:r>
            <a:endParaRPr lang="en-US" sz="4200" dirty="0"/>
          </a:p>
        </p:txBody>
      </p:sp>
      <p:sp>
        <p:nvSpPr>
          <p:cNvPr id="6" name="Text 3"/>
          <p:cNvSpPr/>
          <p:nvPr/>
        </p:nvSpPr>
        <p:spPr>
          <a:xfrm>
            <a:off x="566928" y="4572000"/>
            <a:ext cx="10058400" cy="548640"/>
          </a:xfrm>
          <a:prstGeom prst="rect">
            <a:avLst/>
          </a:prstGeom>
          <a:noFill/>
          <a:ln/>
        </p:spPr>
        <p:txBody>
          <a:bodyPr wrap="square" lIns="0" tIns="0" rIns="0" bIns="0" rtlCol="0" anchor="ctr"/>
          <a:lstStyle/>
          <a:p>
            <a:pPr indent="0" marL="0">
              <a:buNone/>
            </a:pPr>
            <a:r>
              <a:rPr lang="en-US" sz="1600" i="1" dirty="0">
                <a:solidFill>
                  <a:srgbClr val="C7D2E0"/>
                </a:solidFill>
                <a:latin typeface="Calibri" pitchFamily="34" charset="0"/>
                <a:ea typeface="Calibri" pitchFamily="34" charset="-122"/>
                <a:cs typeface="Calibri" pitchFamily="34" charset="-120"/>
              </a:rPr>
              <a:t>Transparent Data Encryption on tablespaces, backups and Data Guard redo — with keys we can never lose</a:t>
            </a:r>
            <a:endParaRPr lang="en-US" sz="1600" dirty="0"/>
          </a:p>
        </p:txBody>
      </p:sp>
      <p:pic>
        <p:nvPicPr>
          <p:cNvPr id="7" name="Image 1" descr="preencoded.png">    </p:cNvPr>
          <p:cNvPicPr>
            <a:picLocks noChangeAspect="1"/>
          </p:cNvPicPr>
          <p:nvPr/>
        </p:nvPicPr>
        <p:blipFill>
          <a:blip r:embed="rId2"/>
          <a:stretch>
            <a:fillRect/>
          </a:stretch>
        </p:blipFill>
        <p:spPr>
          <a:xfrm>
            <a:off x="9418320" y="2331720"/>
            <a:ext cx="146304" cy="146304"/>
          </a:xfrm>
          <a:prstGeom prst="rect">
            <a:avLst/>
          </a:prstGeom>
        </p:spPr>
      </p:pic>
      <p:sp>
        <p:nvSpPr>
          <p:cNvPr id="8" name="Text 4"/>
          <p:cNvSpPr/>
          <p:nvPr/>
        </p:nvSpPr>
        <p:spPr>
          <a:xfrm>
            <a:off x="9692640" y="2231136"/>
            <a:ext cx="228600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What &amp; why</a:t>
            </a:r>
            <a:endParaRPr lang="en-US" sz="1300" dirty="0"/>
          </a:p>
        </p:txBody>
      </p:sp>
      <p:pic>
        <p:nvPicPr>
          <p:cNvPr id="9" name="Image 2" descr="preencoded.png">    </p:cNvPr>
          <p:cNvPicPr>
            <a:picLocks noChangeAspect="1"/>
          </p:cNvPicPr>
          <p:nvPr/>
        </p:nvPicPr>
        <p:blipFill>
          <a:blip r:embed="rId3"/>
          <a:stretch>
            <a:fillRect/>
          </a:stretch>
        </p:blipFill>
        <p:spPr>
          <a:xfrm>
            <a:off x="9418320" y="2734056"/>
            <a:ext cx="146304" cy="146304"/>
          </a:xfrm>
          <a:prstGeom prst="rect">
            <a:avLst/>
          </a:prstGeom>
        </p:spPr>
      </p:pic>
      <p:sp>
        <p:nvSpPr>
          <p:cNvPr id="10" name="Text 5"/>
          <p:cNvSpPr/>
          <p:nvPr/>
        </p:nvSpPr>
        <p:spPr>
          <a:xfrm>
            <a:off x="9692640" y="2633472"/>
            <a:ext cx="228600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Key-management decision</a:t>
            </a:r>
            <a:endParaRPr lang="en-US" sz="1300" dirty="0"/>
          </a:p>
        </p:txBody>
      </p:sp>
      <p:pic>
        <p:nvPicPr>
          <p:cNvPr id="11" name="Image 3" descr="preencoded.png">    </p:cNvPr>
          <p:cNvPicPr>
            <a:picLocks noChangeAspect="1"/>
          </p:cNvPicPr>
          <p:nvPr/>
        </p:nvPicPr>
        <p:blipFill>
          <a:blip r:embed="rId4"/>
          <a:stretch>
            <a:fillRect/>
          </a:stretch>
        </p:blipFill>
        <p:spPr>
          <a:xfrm>
            <a:off x="9418320" y="3136392"/>
            <a:ext cx="146304" cy="146304"/>
          </a:xfrm>
          <a:prstGeom prst="rect">
            <a:avLst/>
          </a:prstGeom>
        </p:spPr>
      </p:pic>
      <p:sp>
        <p:nvSpPr>
          <p:cNvPr id="12" name="Text 6"/>
          <p:cNvSpPr/>
          <p:nvPr/>
        </p:nvSpPr>
        <p:spPr>
          <a:xfrm>
            <a:off x="9692640" y="3035808"/>
            <a:ext cx="228600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What's built</a:t>
            </a:r>
            <a:endParaRPr lang="en-US" sz="1300" dirty="0"/>
          </a:p>
        </p:txBody>
      </p:sp>
      <p:pic>
        <p:nvPicPr>
          <p:cNvPr id="13" name="Image 4" descr="preencoded.png">    </p:cNvPr>
          <p:cNvPicPr>
            <a:picLocks noChangeAspect="1"/>
          </p:cNvPicPr>
          <p:nvPr/>
        </p:nvPicPr>
        <p:blipFill>
          <a:blip r:embed="rId5"/>
          <a:stretch>
            <a:fillRect/>
          </a:stretch>
        </p:blipFill>
        <p:spPr>
          <a:xfrm>
            <a:off x="9418320" y="3538728"/>
            <a:ext cx="146304" cy="146304"/>
          </a:xfrm>
          <a:prstGeom prst="rect">
            <a:avLst/>
          </a:prstGeom>
        </p:spPr>
      </p:pic>
      <p:sp>
        <p:nvSpPr>
          <p:cNvPr id="14" name="Text 7"/>
          <p:cNvSpPr/>
          <p:nvPr/>
        </p:nvSpPr>
        <p:spPr>
          <a:xfrm>
            <a:off x="9692640" y="3438144"/>
            <a:ext cx="228600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Conversion methods</a:t>
            </a:r>
            <a:endParaRPr lang="en-US" sz="1300" dirty="0"/>
          </a:p>
        </p:txBody>
      </p:sp>
      <p:pic>
        <p:nvPicPr>
          <p:cNvPr id="15" name="Image 5" descr="preencoded.png">    </p:cNvPr>
          <p:cNvPicPr>
            <a:picLocks noChangeAspect="1"/>
          </p:cNvPicPr>
          <p:nvPr/>
        </p:nvPicPr>
        <p:blipFill>
          <a:blip r:embed="rId6"/>
          <a:stretch>
            <a:fillRect/>
          </a:stretch>
        </p:blipFill>
        <p:spPr>
          <a:xfrm>
            <a:off x="9418320" y="3941064"/>
            <a:ext cx="146304" cy="146304"/>
          </a:xfrm>
          <a:prstGeom prst="rect">
            <a:avLst/>
          </a:prstGeom>
        </p:spPr>
      </p:pic>
      <p:sp>
        <p:nvSpPr>
          <p:cNvPr id="16" name="Text 8"/>
          <p:cNvSpPr/>
          <p:nvPr/>
        </p:nvSpPr>
        <p:spPr>
          <a:xfrm>
            <a:off x="9692640" y="3840480"/>
            <a:ext cx="228600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Validation &amp; caveats</a:t>
            </a:r>
            <a:endParaRPr lang="en-US" sz="1300" dirty="0"/>
          </a:p>
        </p:txBody>
      </p:sp>
      <p:pic>
        <p:nvPicPr>
          <p:cNvPr id="17" name="Image 6" descr="preencoded.png">    </p:cNvPr>
          <p:cNvPicPr>
            <a:picLocks noChangeAspect="1"/>
          </p:cNvPicPr>
          <p:nvPr/>
        </p:nvPicPr>
        <p:blipFill>
          <a:blip r:embed="rId7"/>
          <a:stretch>
            <a:fillRect/>
          </a:stretch>
        </p:blipFill>
        <p:spPr>
          <a:xfrm>
            <a:off x="9418320" y="4343400"/>
            <a:ext cx="146304" cy="146304"/>
          </a:xfrm>
          <a:prstGeom prst="rect">
            <a:avLst/>
          </a:prstGeom>
        </p:spPr>
      </p:pic>
      <p:sp>
        <p:nvSpPr>
          <p:cNvPr id="18" name="Text 9"/>
          <p:cNvSpPr/>
          <p:nvPr/>
        </p:nvSpPr>
        <p:spPr>
          <a:xfrm>
            <a:off x="9692640" y="4242816"/>
            <a:ext cx="2286000" cy="320040"/>
          </a:xfrm>
          <a:prstGeom prst="rect">
            <a:avLst/>
          </a:prstGeom>
          <a:noFill/>
          <a:ln/>
        </p:spPr>
        <p:txBody>
          <a:bodyPr wrap="square" lIns="0" tIns="0" rIns="0" bIns="0" rtlCol="0" anchor="ctr"/>
          <a:lstStyle/>
          <a:p>
            <a:pPr indent="0" marL="0">
              <a:buNone/>
            </a:pPr>
            <a:r>
              <a:rPr lang="en-US" sz="1300" dirty="0">
                <a:solidFill>
                  <a:srgbClr val="C7D2E0"/>
                </a:solidFill>
                <a:latin typeface="Calibri" pitchFamily="34" charset="0"/>
                <a:ea typeface="Calibri" pitchFamily="34" charset="-122"/>
                <a:cs typeface="Calibri" pitchFamily="34" charset="-120"/>
              </a:rPr>
              <a:t>Action points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INTRODUCTION TO THE TOPIC</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TDE: the two-tier key hierarchy</a:t>
            </a:r>
            <a:endParaRPr lang="en-US" sz="2700" dirty="0"/>
          </a:p>
        </p:txBody>
      </p:sp>
      <p:sp>
        <p:nvSpPr>
          <p:cNvPr id="6" name="Shape 3"/>
          <p:cNvSpPr/>
          <p:nvPr/>
        </p:nvSpPr>
        <p:spPr>
          <a:xfrm>
            <a:off x="566928" y="1874520"/>
            <a:ext cx="3429000" cy="2331720"/>
          </a:xfrm>
          <a:prstGeom prst="roundRect">
            <a:avLst>
              <a:gd name="adj" fmla="val 313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822960" y="2130552"/>
            <a:ext cx="621792" cy="621792"/>
          </a:xfrm>
          <a:prstGeom prst="ellipse">
            <a:avLst/>
          </a:prstGeom>
          <a:solidFill>
            <a:srgbClr val="12223F"/>
          </a:solidFill>
          <a:ln/>
        </p:spPr>
        <p:txBody>
          <a:bodyPr/>
          <a:p/>
        </p:txBody>
      </p:sp>
      <p:pic>
        <p:nvPicPr>
          <p:cNvPr id="8" name="Image 1" descr="preencoded.png">    </p:cNvPr>
          <p:cNvPicPr>
            <a:picLocks noChangeAspect="1"/>
          </p:cNvPicPr>
          <p:nvPr/>
        </p:nvPicPr>
        <p:blipFill>
          <a:blip r:embed="rId2"/>
          <a:stretch>
            <a:fillRect/>
          </a:stretch>
        </p:blipFill>
        <p:spPr>
          <a:xfrm>
            <a:off x="984626" y="2292218"/>
            <a:ext cx="298460" cy="298460"/>
          </a:xfrm>
          <a:prstGeom prst="rect">
            <a:avLst/>
          </a:prstGeom>
        </p:spPr>
      </p:pic>
      <p:sp>
        <p:nvSpPr>
          <p:cNvPr id="9" name="Text 5"/>
          <p:cNvSpPr/>
          <p:nvPr/>
        </p:nvSpPr>
        <p:spPr>
          <a:xfrm>
            <a:off x="1591056" y="2130552"/>
            <a:ext cx="2240280" cy="621792"/>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Keystore</a:t>
            </a:r>
            <a:endParaRPr lang="en-US" sz="1700" dirty="0"/>
          </a:p>
        </p:txBody>
      </p:sp>
      <p:sp>
        <p:nvSpPr>
          <p:cNvPr id="10" name="Text 6"/>
          <p:cNvSpPr/>
          <p:nvPr/>
        </p:nvSpPr>
        <p:spPr>
          <a:xfrm>
            <a:off x="822960" y="2926080"/>
            <a:ext cx="2971800" cy="365760"/>
          </a:xfrm>
          <a:prstGeom prst="rect">
            <a:avLst/>
          </a:prstGeom>
          <a:noFill/>
          <a:ln/>
        </p:spPr>
        <p:txBody>
          <a:bodyPr wrap="square" lIns="0" tIns="0" rIns="0" bIns="0" rtlCol="0" anchor="ctr"/>
          <a:lstStyle/>
          <a:p>
            <a:pPr indent="0" marL="0">
              <a:buNone/>
            </a:pPr>
            <a:r>
              <a:rPr lang="en-US" sz="1400" b="1" dirty="0">
                <a:solidFill>
                  <a:srgbClr val="12223F"/>
                </a:solidFill>
                <a:latin typeface="Calibri" pitchFamily="34" charset="0"/>
                <a:ea typeface="Calibri" pitchFamily="34" charset="-122"/>
                <a:cs typeface="Calibri" pitchFamily="34" charset="-120"/>
              </a:rPr>
              <a:t>MEK — master key</a:t>
            </a:r>
            <a:endParaRPr lang="en-US" sz="1400" dirty="0"/>
          </a:p>
        </p:txBody>
      </p:sp>
      <p:sp>
        <p:nvSpPr>
          <p:cNvPr id="11" name="Text 7"/>
          <p:cNvSpPr/>
          <p:nvPr/>
        </p:nvSpPr>
        <p:spPr>
          <a:xfrm>
            <a:off x="822960" y="3337560"/>
            <a:ext cx="2971800" cy="777240"/>
          </a:xfrm>
          <a:prstGeom prst="rect">
            <a:avLst/>
          </a:prstGeom>
          <a:noFill/>
          <a:ln/>
        </p:spPr>
        <p:txBody>
          <a:bodyPr wrap="square" lIns="0" tIns="0" rIns="0" bIns="0" rtlCol="0" anchor="t"/>
          <a:lstStyle/>
          <a:p>
            <a:pPr indent="0" marL="0">
              <a:lnSpc>
                <a:spcPct val="105000"/>
              </a:lnSpc>
              <a:buNone/>
            </a:pPr>
            <a:r>
              <a:rPr lang="en-US" sz="1200" dirty="0">
                <a:solidFill>
                  <a:srgbClr val="44586E"/>
                </a:solidFill>
                <a:latin typeface="Calibri" pitchFamily="34" charset="0"/>
                <a:ea typeface="Calibri" pitchFamily="34" charset="-122"/>
                <a:cs typeface="Calibri" pitchFamily="34" charset="-120"/>
              </a:rPr>
              <a:t>Lives outside the DB</a:t>
            </a:r>
            <a:endParaRPr lang="en-US" sz="1200" dirty="0"/>
          </a:p>
          <a:p>
            <a:pPr indent="0" marL="0">
              <a:lnSpc>
                <a:spcPct val="105000"/>
              </a:lnSpc>
              <a:buNone/>
            </a:pPr>
            <a:r>
              <a:rPr lang="en-US" sz="1200" dirty="0">
                <a:solidFill>
                  <a:srgbClr val="44586E"/>
                </a:solidFill>
                <a:latin typeface="Calibri" pitchFamily="34" charset="0"/>
                <a:ea typeface="Calibri" pitchFamily="34" charset="-122"/>
                <a:cs typeface="Calibri" pitchFamily="34" charset="-120"/>
              </a:rPr>
              <a:t>(software wallet now → OKV later)</a:t>
            </a:r>
            <a:endParaRPr lang="en-US" sz="1200" dirty="0"/>
          </a:p>
        </p:txBody>
      </p:sp>
      <p:sp>
        <p:nvSpPr>
          <p:cNvPr id="12" name="Text 8"/>
          <p:cNvSpPr/>
          <p:nvPr/>
        </p:nvSpPr>
        <p:spPr>
          <a:xfrm>
            <a:off x="3977640" y="2697480"/>
            <a:ext cx="420624" cy="274320"/>
          </a:xfrm>
          <a:prstGeom prst="rect">
            <a:avLst/>
          </a:prstGeom>
          <a:noFill/>
          <a:ln/>
        </p:spPr>
        <p:txBody>
          <a:bodyPr wrap="square" lIns="0" tIns="0" rIns="0" bIns="0" rtlCol="0" anchor="ctr"/>
          <a:lstStyle/>
          <a:p>
            <a:pPr algn="ctr" indent="0" marL="0">
              <a:buNone/>
            </a:pPr>
            <a:r>
              <a:rPr lang="en-US" sz="900" i="1" dirty="0">
                <a:solidFill>
                  <a:srgbClr val="8194A8"/>
                </a:solidFill>
                <a:latin typeface="Calibri" pitchFamily="34" charset="0"/>
                <a:ea typeface="Calibri" pitchFamily="34" charset="-122"/>
                <a:cs typeface="Calibri" pitchFamily="34" charset="-120"/>
              </a:rPr>
              <a:t>wraps</a:t>
            </a:r>
            <a:endParaRPr lang="en-US" sz="900" dirty="0"/>
          </a:p>
        </p:txBody>
      </p:sp>
      <p:pic>
        <p:nvPicPr>
          <p:cNvPr id="13" name="Image 2" descr="preencoded.png">    </p:cNvPr>
          <p:cNvPicPr>
            <a:picLocks noChangeAspect="1"/>
          </p:cNvPicPr>
          <p:nvPr/>
        </p:nvPicPr>
        <p:blipFill>
          <a:blip r:embed="rId3"/>
          <a:stretch>
            <a:fillRect/>
          </a:stretch>
        </p:blipFill>
        <p:spPr>
          <a:xfrm>
            <a:off x="4078224" y="2926080"/>
            <a:ext cx="219456" cy="219456"/>
          </a:xfrm>
          <a:prstGeom prst="rect">
            <a:avLst/>
          </a:prstGeom>
        </p:spPr>
      </p:pic>
      <p:sp>
        <p:nvSpPr>
          <p:cNvPr id="14" name="Shape 9"/>
          <p:cNvSpPr/>
          <p:nvPr/>
        </p:nvSpPr>
        <p:spPr>
          <a:xfrm>
            <a:off x="4379976" y="1874520"/>
            <a:ext cx="3429000" cy="2331720"/>
          </a:xfrm>
          <a:prstGeom prst="roundRect">
            <a:avLst>
              <a:gd name="adj" fmla="val 313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5" name="Shape 10"/>
          <p:cNvSpPr/>
          <p:nvPr/>
        </p:nvSpPr>
        <p:spPr>
          <a:xfrm>
            <a:off x="4636008" y="2130552"/>
            <a:ext cx="621792" cy="621792"/>
          </a:xfrm>
          <a:prstGeom prst="ellipse">
            <a:avLst/>
          </a:prstGeom>
          <a:solidFill>
            <a:srgbClr val="C6881B"/>
          </a:solidFill>
          <a:ln/>
        </p:spPr>
        <p:txBody>
          <a:bodyPr/>
          <a:p/>
        </p:txBody>
      </p:sp>
      <p:pic>
        <p:nvPicPr>
          <p:cNvPr id="16" name="Image 3" descr="preencoded.png">    </p:cNvPr>
          <p:cNvPicPr>
            <a:picLocks noChangeAspect="1"/>
          </p:cNvPicPr>
          <p:nvPr/>
        </p:nvPicPr>
        <p:blipFill>
          <a:blip r:embed="rId4"/>
          <a:stretch>
            <a:fillRect/>
          </a:stretch>
        </p:blipFill>
        <p:spPr>
          <a:xfrm>
            <a:off x="4797674" y="2292218"/>
            <a:ext cx="298460" cy="298460"/>
          </a:xfrm>
          <a:prstGeom prst="rect">
            <a:avLst/>
          </a:prstGeom>
        </p:spPr>
      </p:pic>
      <p:sp>
        <p:nvSpPr>
          <p:cNvPr id="17" name="Text 11"/>
          <p:cNvSpPr/>
          <p:nvPr/>
        </p:nvSpPr>
        <p:spPr>
          <a:xfrm>
            <a:off x="5404104" y="2130552"/>
            <a:ext cx="2240280" cy="621792"/>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Datafile header</a:t>
            </a:r>
            <a:endParaRPr lang="en-US" sz="1700" dirty="0"/>
          </a:p>
        </p:txBody>
      </p:sp>
      <p:sp>
        <p:nvSpPr>
          <p:cNvPr id="18" name="Text 12"/>
          <p:cNvSpPr/>
          <p:nvPr/>
        </p:nvSpPr>
        <p:spPr>
          <a:xfrm>
            <a:off x="4636008" y="2926080"/>
            <a:ext cx="2971800" cy="365760"/>
          </a:xfrm>
          <a:prstGeom prst="rect">
            <a:avLst/>
          </a:prstGeom>
          <a:noFill/>
          <a:ln/>
        </p:spPr>
        <p:txBody>
          <a:bodyPr wrap="square" lIns="0" tIns="0" rIns="0" bIns="0" rtlCol="0" anchor="ctr"/>
          <a:lstStyle/>
          <a:p>
            <a:pPr indent="0" marL="0">
              <a:buNone/>
            </a:pPr>
            <a:r>
              <a:rPr lang="en-US" sz="1400" b="1" dirty="0">
                <a:solidFill>
                  <a:srgbClr val="9C6B12"/>
                </a:solidFill>
                <a:latin typeface="Calibri" pitchFamily="34" charset="0"/>
                <a:ea typeface="Calibri" pitchFamily="34" charset="-122"/>
                <a:cs typeface="Calibri" pitchFamily="34" charset="-120"/>
              </a:rPr>
              <a:t>DEK — tablespace key</a:t>
            </a:r>
            <a:endParaRPr lang="en-US" sz="1400" dirty="0"/>
          </a:p>
        </p:txBody>
      </p:sp>
      <p:sp>
        <p:nvSpPr>
          <p:cNvPr id="19" name="Text 13"/>
          <p:cNvSpPr/>
          <p:nvPr/>
        </p:nvSpPr>
        <p:spPr>
          <a:xfrm>
            <a:off x="4636008" y="3337560"/>
            <a:ext cx="2971800" cy="777240"/>
          </a:xfrm>
          <a:prstGeom prst="rect">
            <a:avLst/>
          </a:prstGeom>
          <a:noFill/>
          <a:ln/>
        </p:spPr>
        <p:txBody>
          <a:bodyPr wrap="square" lIns="0" tIns="0" rIns="0" bIns="0" rtlCol="0" anchor="t"/>
          <a:lstStyle/>
          <a:p>
            <a:pPr indent="0" marL="0">
              <a:lnSpc>
                <a:spcPct val="105000"/>
              </a:lnSpc>
              <a:buNone/>
            </a:pPr>
            <a:r>
              <a:rPr lang="en-US" sz="1200" dirty="0">
                <a:solidFill>
                  <a:srgbClr val="44586E"/>
                </a:solidFill>
                <a:latin typeface="Calibri" pitchFamily="34" charset="0"/>
                <a:ea typeface="Calibri" pitchFamily="34" charset="-122"/>
                <a:cs typeface="Calibri" pitchFamily="34" charset="-120"/>
              </a:rPr>
              <a:t>Wrapped (encrypted) by the MEK</a:t>
            </a:r>
            <a:endParaRPr lang="en-US" sz="1200" dirty="0"/>
          </a:p>
          <a:p>
            <a:pPr indent="0" marL="0">
              <a:lnSpc>
                <a:spcPct val="105000"/>
              </a:lnSpc>
              <a:buNone/>
            </a:pPr>
            <a:r>
              <a:rPr lang="en-US" sz="1200" dirty="0">
                <a:solidFill>
                  <a:srgbClr val="44586E"/>
                </a:solidFill>
                <a:latin typeface="Calibri" pitchFamily="34" charset="0"/>
                <a:ea typeface="Calibri" pitchFamily="34" charset="-122"/>
                <a:cs typeface="Calibri" pitchFamily="34" charset="-120"/>
              </a:rPr>
              <a:t>Travels with the data</a:t>
            </a:r>
            <a:endParaRPr lang="en-US" sz="1200" dirty="0"/>
          </a:p>
        </p:txBody>
      </p:sp>
      <p:sp>
        <p:nvSpPr>
          <p:cNvPr id="20" name="Text 14"/>
          <p:cNvSpPr/>
          <p:nvPr/>
        </p:nvSpPr>
        <p:spPr>
          <a:xfrm>
            <a:off x="7790688" y="2697480"/>
            <a:ext cx="420624" cy="274320"/>
          </a:xfrm>
          <a:prstGeom prst="rect">
            <a:avLst/>
          </a:prstGeom>
          <a:noFill/>
          <a:ln/>
        </p:spPr>
        <p:txBody>
          <a:bodyPr wrap="square" lIns="0" tIns="0" rIns="0" bIns="0" rtlCol="0" anchor="ctr"/>
          <a:lstStyle/>
          <a:p>
            <a:pPr algn="ctr" indent="0" marL="0">
              <a:buNone/>
            </a:pPr>
            <a:r>
              <a:rPr lang="en-US" sz="900" i="1" dirty="0">
                <a:solidFill>
                  <a:srgbClr val="8194A8"/>
                </a:solidFill>
                <a:latin typeface="Calibri" pitchFamily="34" charset="0"/>
                <a:ea typeface="Calibri" pitchFamily="34" charset="-122"/>
                <a:cs typeface="Calibri" pitchFamily="34" charset="-120"/>
              </a:rPr>
              <a:t>wraps</a:t>
            </a:r>
            <a:endParaRPr lang="en-US" sz="900" dirty="0"/>
          </a:p>
        </p:txBody>
      </p:sp>
      <p:pic>
        <p:nvPicPr>
          <p:cNvPr id="21" name="Image 4" descr="preencoded.png">    </p:cNvPr>
          <p:cNvPicPr>
            <a:picLocks noChangeAspect="1"/>
          </p:cNvPicPr>
          <p:nvPr/>
        </p:nvPicPr>
        <p:blipFill>
          <a:blip r:embed="rId5"/>
          <a:stretch>
            <a:fillRect/>
          </a:stretch>
        </p:blipFill>
        <p:spPr>
          <a:xfrm>
            <a:off x="7891272" y="2926080"/>
            <a:ext cx="219456" cy="219456"/>
          </a:xfrm>
          <a:prstGeom prst="rect">
            <a:avLst/>
          </a:prstGeom>
        </p:spPr>
      </p:pic>
      <p:sp>
        <p:nvSpPr>
          <p:cNvPr id="22" name="Shape 15"/>
          <p:cNvSpPr/>
          <p:nvPr/>
        </p:nvSpPr>
        <p:spPr>
          <a:xfrm>
            <a:off x="8193024" y="1874520"/>
            <a:ext cx="3429000" cy="2331720"/>
          </a:xfrm>
          <a:prstGeom prst="roundRect">
            <a:avLst>
              <a:gd name="adj" fmla="val 313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3" name="Shape 16"/>
          <p:cNvSpPr/>
          <p:nvPr/>
        </p:nvSpPr>
        <p:spPr>
          <a:xfrm>
            <a:off x="8449056" y="2130552"/>
            <a:ext cx="621792" cy="621792"/>
          </a:xfrm>
          <a:prstGeom prst="ellipse">
            <a:avLst/>
          </a:prstGeom>
          <a:solidFill>
            <a:srgbClr val="0F8B85"/>
          </a:solidFill>
          <a:ln/>
        </p:spPr>
        <p:txBody>
          <a:bodyPr/>
          <a:p/>
        </p:txBody>
      </p:sp>
      <p:pic>
        <p:nvPicPr>
          <p:cNvPr id="24" name="Image 5" descr="preencoded.png">    </p:cNvPr>
          <p:cNvPicPr>
            <a:picLocks noChangeAspect="1"/>
          </p:cNvPicPr>
          <p:nvPr/>
        </p:nvPicPr>
        <p:blipFill>
          <a:blip r:embed="rId6"/>
          <a:stretch>
            <a:fillRect/>
          </a:stretch>
        </p:blipFill>
        <p:spPr>
          <a:xfrm>
            <a:off x="8610722" y="2292218"/>
            <a:ext cx="298460" cy="298460"/>
          </a:xfrm>
          <a:prstGeom prst="rect">
            <a:avLst/>
          </a:prstGeom>
        </p:spPr>
      </p:pic>
      <p:sp>
        <p:nvSpPr>
          <p:cNvPr id="25" name="Text 17"/>
          <p:cNvSpPr/>
          <p:nvPr/>
        </p:nvSpPr>
        <p:spPr>
          <a:xfrm>
            <a:off x="9217152" y="2130552"/>
            <a:ext cx="2240280" cy="621792"/>
          </a:xfrm>
          <a:prstGeom prst="rect">
            <a:avLst/>
          </a:prstGeom>
          <a:noFill/>
          <a:ln/>
        </p:spPr>
        <p:txBody>
          <a:bodyPr wrap="square" lIns="0" tIns="0" rIns="0" bIns="0" rtlCol="0" anchor="ctr"/>
          <a:lstStyle/>
          <a:p>
            <a:pPr indent="0" marL="0">
              <a:buNone/>
            </a:pPr>
            <a:r>
              <a:rPr lang="en-US" sz="1700" b="1" dirty="0">
                <a:solidFill>
                  <a:srgbClr val="1C2A3E"/>
                </a:solidFill>
                <a:latin typeface="Cambria" pitchFamily="34" charset="0"/>
                <a:ea typeface="Cambria" pitchFamily="34" charset="-122"/>
                <a:cs typeface="Cambria" pitchFamily="34" charset="-120"/>
              </a:rPr>
              <a:t>Data blocks</a:t>
            </a:r>
            <a:endParaRPr lang="en-US" sz="1700" dirty="0"/>
          </a:p>
        </p:txBody>
      </p:sp>
      <p:sp>
        <p:nvSpPr>
          <p:cNvPr id="26" name="Text 18"/>
          <p:cNvSpPr/>
          <p:nvPr/>
        </p:nvSpPr>
        <p:spPr>
          <a:xfrm>
            <a:off x="8449056" y="2926080"/>
            <a:ext cx="2971800" cy="365760"/>
          </a:xfrm>
          <a:prstGeom prst="rect">
            <a:avLst/>
          </a:prstGeom>
          <a:noFill/>
          <a:ln/>
        </p:spPr>
        <p:txBody>
          <a:bodyPr wrap="square" lIns="0" tIns="0" rIns="0" bIns="0" rtlCol="0" anchor="ctr"/>
          <a:lstStyle/>
          <a:p>
            <a:pPr indent="0" marL="0">
              <a:buNone/>
            </a:pPr>
            <a:r>
              <a:rPr lang="en-US" sz="1400" b="1" dirty="0">
                <a:solidFill>
                  <a:srgbClr val="0B6B66"/>
                </a:solidFill>
                <a:latin typeface="Calibri" pitchFamily="34" charset="0"/>
                <a:ea typeface="Calibri" pitchFamily="34" charset="-122"/>
                <a:cs typeface="Calibri" pitchFamily="34" charset="-120"/>
              </a:rPr>
              <a:t>AES256 ciphertext</a:t>
            </a:r>
            <a:endParaRPr lang="en-US" sz="1400" dirty="0"/>
          </a:p>
        </p:txBody>
      </p:sp>
      <p:sp>
        <p:nvSpPr>
          <p:cNvPr id="27" name="Text 19"/>
          <p:cNvSpPr/>
          <p:nvPr/>
        </p:nvSpPr>
        <p:spPr>
          <a:xfrm>
            <a:off x="8449056" y="3337560"/>
            <a:ext cx="2971800" cy="777240"/>
          </a:xfrm>
          <a:prstGeom prst="rect">
            <a:avLst/>
          </a:prstGeom>
          <a:noFill/>
          <a:ln/>
        </p:spPr>
        <p:txBody>
          <a:bodyPr wrap="square" lIns="0" tIns="0" rIns="0" bIns="0" rtlCol="0" anchor="t"/>
          <a:lstStyle/>
          <a:p>
            <a:pPr indent="0" marL="0">
              <a:lnSpc>
                <a:spcPct val="105000"/>
              </a:lnSpc>
              <a:buNone/>
            </a:pPr>
            <a:r>
              <a:rPr lang="en-US" sz="1200" dirty="0">
                <a:solidFill>
                  <a:srgbClr val="44586E"/>
                </a:solidFill>
                <a:latin typeface="Calibri" pitchFamily="34" charset="0"/>
                <a:ea typeface="Calibri" pitchFamily="34" charset="-122"/>
                <a:cs typeface="Calibri" pitchFamily="34" charset="-120"/>
              </a:rPr>
              <a:t>DEK encrypts every block</a:t>
            </a:r>
            <a:endParaRPr lang="en-US" sz="1200" dirty="0"/>
          </a:p>
          <a:p>
            <a:pPr indent="0" marL="0">
              <a:lnSpc>
                <a:spcPct val="105000"/>
              </a:lnSpc>
              <a:buNone/>
            </a:pPr>
            <a:r>
              <a:rPr lang="en-US" sz="1200" dirty="0">
                <a:solidFill>
                  <a:srgbClr val="44586E"/>
                </a:solidFill>
                <a:latin typeface="Calibri" pitchFamily="34" charset="0"/>
                <a:ea typeface="Calibri" pitchFamily="34" charset="-122"/>
                <a:cs typeface="Calibri" pitchFamily="34" charset="-120"/>
              </a:rPr>
              <a:t>on its way to / from disk</a:t>
            </a:r>
            <a:endParaRPr lang="en-US" sz="1200" dirty="0"/>
          </a:p>
        </p:txBody>
      </p:sp>
      <p:sp>
        <p:nvSpPr>
          <p:cNvPr id="28" name="Shape 20"/>
          <p:cNvSpPr/>
          <p:nvPr/>
        </p:nvSpPr>
        <p:spPr>
          <a:xfrm>
            <a:off x="566928" y="4434840"/>
            <a:ext cx="5368900" cy="1783080"/>
          </a:xfrm>
          <a:prstGeom prst="roundRect">
            <a:avLst>
              <a:gd name="adj" fmla="val 4103"/>
            </a:avLst>
          </a:prstGeom>
          <a:solidFill>
            <a:srgbClr val="FAEBE9"/>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pic>
        <p:nvPicPr>
          <p:cNvPr id="29" name="Image 6" descr="preencoded.png">    </p:cNvPr>
          <p:cNvPicPr>
            <a:picLocks noChangeAspect="1"/>
          </p:cNvPicPr>
          <p:nvPr/>
        </p:nvPicPr>
        <p:blipFill>
          <a:blip r:embed="rId7"/>
          <a:stretch>
            <a:fillRect/>
          </a:stretch>
        </p:blipFill>
        <p:spPr>
          <a:xfrm>
            <a:off x="822960" y="4645152"/>
            <a:ext cx="457200" cy="457200"/>
          </a:xfrm>
          <a:prstGeom prst="rect">
            <a:avLst/>
          </a:prstGeom>
        </p:spPr>
      </p:pic>
      <p:sp>
        <p:nvSpPr>
          <p:cNvPr id="30" name="Text 21"/>
          <p:cNvSpPr/>
          <p:nvPr/>
        </p:nvSpPr>
        <p:spPr>
          <a:xfrm>
            <a:off x="1435608" y="4617720"/>
            <a:ext cx="4317340" cy="502920"/>
          </a:xfrm>
          <a:prstGeom prst="rect">
            <a:avLst/>
          </a:prstGeom>
          <a:noFill/>
          <a:ln/>
        </p:spPr>
        <p:txBody>
          <a:bodyPr wrap="square" lIns="0" tIns="0" rIns="0" bIns="0" rtlCol="0" anchor="ctr"/>
          <a:lstStyle/>
          <a:p>
            <a:pPr indent="0" marL="0">
              <a:buNone/>
            </a:pPr>
            <a:r>
              <a:rPr lang="en-US" sz="1550" b="1" dirty="0">
                <a:solidFill>
                  <a:srgbClr val="C0392B"/>
                </a:solidFill>
                <a:latin typeface="Cambria" pitchFamily="34" charset="0"/>
                <a:ea typeface="Cambria" pitchFamily="34" charset="-122"/>
                <a:cs typeface="Cambria" pitchFamily="34" charset="-120"/>
              </a:rPr>
              <a:t>Lose the keystore → lose the data</a:t>
            </a:r>
            <a:endParaRPr lang="en-US" sz="1550" dirty="0"/>
          </a:p>
        </p:txBody>
      </p:sp>
      <p:sp>
        <p:nvSpPr>
          <p:cNvPr id="31" name="Text 22"/>
          <p:cNvSpPr/>
          <p:nvPr/>
        </p:nvSpPr>
        <p:spPr>
          <a:xfrm>
            <a:off x="822960" y="5212080"/>
            <a:ext cx="4865980" cy="868680"/>
          </a:xfrm>
          <a:prstGeom prst="rect">
            <a:avLst/>
          </a:prstGeom>
          <a:noFill/>
          <a:ln/>
        </p:spPr>
        <p:txBody>
          <a:bodyPr wrap="square" lIns="0" tIns="0" rIns="0" bIns="0" rtlCol="0" anchor="t"/>
          <a:lstStyle/>
          <a:p>
            <a:pPr indent="0" marL="0">
              <a:lnSpc>
                <a:spcPct val="108000"/>
              </a:lnSpc>
              <a:buNone/>
            </a:pPr>
            <a:r>
              <a:rPr lang="en-US" sz="1230" dirty="0">
                <a:solidFill>
                  <a:srgbClr val="44586E"/>
                </a:solidFill>
                <a:latin typeface="Calibri" pitchFamily="34" charset="0"/>
                <a:ea typeface="Calibri" pitchFamily="34" charset="-122"/>
                <a:cs typeface="Calibri" pitchFamily="34" charset="-120"/>
              </a:rPr>
              <a:t>No MEK means the wrapped keys can't be unwrapped. No back door. Backup &amp; custody are the highest-stakes part of the programme.</a:t>
            </a:r>
            <a:endParaRPr lang="en-US" sz="1230" dirty="0"/>
          </a:p>
        </p:txBody>
      </p:sp>
      <p:sp>
        <p:nvSpPr>
          <p:cNvPr id="32" name="Shape 23"/>
          <p:cNvSpPr/>
          <p:nvPr/>
        </p:nvSpPr>
        <p:spPr>
          <a:xfrm>
            <a:off x="6255868" y="4434840"/>
            <a:ext cx="5368900" cy="1783080"/>
          </a:xfrm>
          <a:prstGeom prst="roundRect">
            <a:avLst>
              <a:gd name="adj" fmla="val 4103"/>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pic>
        <p:nvPicPr>
          <p:cNvPr id="33" name="Image 7" descr="preencoded.png">    </p:cNvPr>
          <p:cNvPicPr>
            <a:picLocks noChangeAspect="1"/>
          </p:cNvPicPr>
          <p:nvPr/>
        </p:nvPicPr>
        <p:blipFill>
          <a:blip r:embed="rId8"/>
          <a:stretch>
            <a:fillRect/>
          </a:stretch>
        </p:blipFill>
        <p:spPr>
          <a:xfrm>
            <a:off x="6511900" y="4645152"/>
            <a:ext cx="457200" cy="457200"/>
          </a:xfrm>
          <a:prstGeom prst="rect">
            <a:avLst/>
          </a:prstGeom>
        </p:spPr>
      </p:pic>
      <p:sp>
        <p:nvSpPr>
          <p:cNvPr id="34" name="Text 24"/>
          <p:cNvSpPr/>
          <p:nvPr/>
        </p:nvSpPr>
        <p:spPr>
          <a:xfrm>
            <a:off x="7124548" y="4617720"/>
            <a:ext cx="4317340" cy="502920"/>
          </a:xfrm>
          <a:prstGeom prst="rect">
            <a:avLst/>
          </a:prstGeom>
          <a:noFill/>
          <a:ln/>
        </p:spPr>
        <p:txBody>
          <a:bodyPr wrap="square" lIns="0" tIns="0" rIns="0" bIns="0" rtlCol="0" anchor="ctr"/>
          <a:lstStyle/>
          <a:p>
            <a:pPr indent="0" marL="0">
              <a:buNone/>
            </a:pPr>
            <a:r>
              <a:rPr lang="en-US" sz="1550" b="1" dirty="0">
                <a:solidFill>
                  <a:srgbClr val="2E7D5B"/>
                </a:solidFill>
                <a:latin typeface="Cambria" pitchFamily="34" charset="0"/>
                <a:ea typeface="Cambria" pitchFamily="34" charset="-122"/>
                <a:cs typeface="Cambria" pitchFamily="34" charset="-120"/>
              </a:rPr>
              <a:t>Rotating the MEK does NOT re-encrypt data</a:t>
            </a:r>
            <a:endParaRPr lang="en-US" sz="1550" dirty="0"/>
          </a:p>
        </p:txBody>
      </p:sp>
      <p:sp>
        <p:nvSpPr>
          <p:cNvPr id="35" name="Text 25"/>
          <p:cNvSpPr/>
          <p:nvPr/>
        </p:nvSpPr>
        <p:spPr>
          <a:xfrm>
            <a:off x="6511900" y="5212080"/>
            <a:ext cx="4865980" cy="868680"/>
          </a:xfrm>
          <a:prstGeom prst="rect">
            <a:avLst/>
          </a:prstGeom>
          <a:noFill/>
          <a:ln/>
        </p:spPr>
        <p:txBody>
          <a:bodyPr wrap="square" lIns="0" tIns="0" rIns="0" bIns="0" rtlCol="0" anchor="t"/>
          <a:lstStyle/>
          <a:p>
            <a:pPr indent="0" marL="0">
              <a:lnSpc>
                <a:spcPct val="108000"/>
              </a:lnSpc>
              <a:buNone/>
            </a:pPr>
            <a:r>
              <a:rPr lang="en-US" sz="1230" dirty="0">
                <a:solidFill>
                  <a:srgbClr val="44586E"/>
                </a:solidFill>
                <a:latin typeface="Calibri" pitchFamily="34" charset="0"/>
                <a:ea typeface="Calibri" pitchFamily="34" charset="-122"/>
                <a:cs typeface="Calibri" pitchFamily="34" charset="-120"/>
              </a:rPr>
              <a:t>It only re-wraps the data keys — fast, low-I/O. But old MEKs must be kept forever: old backups and archived redo need them.</a:t>
            </a:r>
            <a:endParaRPr lang="en-US" sz="123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THE DECISION THAT UNBLOCKS EVERYTHING</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Key management: start local, aim for OKV</a:t>
            </a:r>
            <a:endParaRPr lang="en-US" sz="2700" dirty="0"/>
          </a:p>
        </p:txBody>
      </p:sp>
      <p:sp>
        <p:nvSpPr>
          <p:cNvPr id="6" name="Shape 3"/>
          <p:cNvSpPr/>
          <p:nvPr/>
        </p:nvSpPr>
        <p:spPr>
          <a:xfrm>
            <a:off x="566928" y="1828800"/>
            <a:ext cx="5257800" cy="2788920"/>
          </a:xfrm>
          <a:prstGeom prst="roundRect">
            <a:avLst>
              <a:gd name="adj" fmla="val 2623"/>
            </a:avLst>
          </a:prstGeom>
          <a:solidFill>
            <a:srgbClr val="FBF1DC"/>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Text 4"/>
          <p:cNvSpPr/>
          <p:nvPr/>
        </p:nvSpPr>
        <p:spPr>
          <a:xfrm>
            <a:off x="841248" y="2029968"/>
            <a:ext cx="4709160" cy="274320"/>
          </a:xfrm>
          <a:prstGeom prst="rect">
            <a:avLst/>
          </a:prstGeom>
          <a:noFill/>
          <a:ln/>
        </p:spPr>
        <p:txBody>
          <a:bodyPr wrap="square" lIns="0" tIns="0" rIns="0" bIns="0" rtlCol="0" anchor="ctr"/>
          <a:lstStyle/>
          <a:p>
            <a:pPr indent="0" marL="0">
              <a:buNone/>
            </a:pPr>
            <a:r>
              <a:rPr lang="en-US" sz="1200" b="1" spc="200" kern="0" dirty="0">
                <a:solidFill>
                  <a:srgbClr val="9C6B12"/>
                </a:solidFill>
                <a:latin typeface="Calibri" pitchFamily="34" charset="0"/>
                <a:ea typeface="Calibri" pitchFamily="34" charset="-122"/>
                <a:cs typeface="Calibri" pitchFamily="34" charset="-120"/>
              </a:rPr>
              <a:t>PHASE 1 — NOW</a:t>
            </a:r>
            <a:endParaRPr lang="en-US" sz="1200" dirty="0"/>
          </a:p>
        </p:txBody>
      </p:sp>
      <p:sp>
        <p:nvSpPr>
          <p:cNvPr id="8" name="Text 5"/>
          <p:cNvSpPr/>
          <p:nvPr/>
        </p:nvSpPr>
        <p:spPr>
          <a:xfrm>
            <a:off x="841248" y="2286000"/>
            <a:ext cx="4709160" cy="411480"/>
          </a:xfrm>
          <a:prstGeom prst="rect">
            <a:avLst/>
          </a:prstGeom>
          <a:noFill/>
          <a:ln/>
        </p:spPr>
        <p:txBody>
          <a:bodyPr wrap="square" lIns="0" tIns="0" rIns="0" bIns="0" rtlCol="0" anchor="ctr"/>
          <a:lstStyle/>
          <a:p>
            <a:pPr indent="0" marL="0">
              <a:buNone/>
            </a:pPr>
            <a:r>
              <a:rPr lang="en-US" sz="2000" b="1" dirty="0">
                <a:solidFill>
                  <a:srgbClr val="1C2A3E"/>
                </a:solidFill>
                <a:latin typeface="Cambria" pitchFamily="34" charset="0"/>
                <a:ea typeface="Cambria" pitchFamily="34" charset="-122"/>
                <a:cs typeface="Cambria" pitchFamily="34" charset="-120"/>
              </a:rPr>
              <a:t>Local software keystore</a:t>
            </a:r>
            <a:endParaRPr lang="en-US" sz="2000" dirty="0"/>
          </a:p>
        </p:txBody>
      </p:sp>
      <p:sp>
        <p:nvSpPr>
          <p:cNvPr id="9" name="Text 6"/>
          <p:cNvSpPr/>
          <p:nvPr/>
        </p:nvSpPr>
        <p:spPr>
          <a:xfrm>
            <a:off x="859536" y="2788920"/>
            <a:ext cx="4709160" cy="17373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44586E"/>
                </a:solidFill>
                <a:latin typeface="Calibri" pitchFamily="34" charset="0"/>
                <a:ea typeface="Calibri" pitchFamily="34" charset="-122"/>
                <a:cs typeface="Calibri" pitchFamily="34" charset="-120"/>
              </a:rPr>
              <a:t>Auto-login wallet per DB — no run-time external dependency</a:t>
            </a:r>
            <a:endParaRPr lang="en-US" sz="1250" dirty="0"/>
          </a:p>
          <a:p>
            <a:pPr marL="342900" indent="-342900">
              <a:spcAft>
                <a:spcPts val="500"/>
              </a:spcAft>
              <a:buSzPct val="100000"/>
              <a:buChar char="•"/>
            </a:pPr>
            <a:r>
              <a:rPr lang="en-US" sz="1250" dirty="0">
                <a:solidFill>
                  <a:srgbClr val="44586E"/>
                </a:solidFill>
                <a:latin typeface="Calibri" pitchFamily="34" charset="0"/>
                <a:ea typeface="Calibri" pitchFamily="34" charset="-122"/>
                <a:cs typeface="Calibri" pitchFamily="34" charset="-120"/>
              </a:rPr>
              <a:t>Starts the track immediately — no procurement on the critical path</a:t>
            </a:r>
            <a:endParaRPr lang="en-US" sz="1250" dirty="0"/>
          </a:p>
          <a:p>
            <a:pPr marL="342900" indent="-342900">
              <a:spcAft>
                <a:spcPts val="500"/>
              </a:spcAft>
              <a:buSzPct val="100000"/>
              <a:buChar char="•"/>
            </a:pPr>
            <a:r>
              <a:rPr lang="en-US" sz="1250" dirty="0">
                <a:solidFill>
                  <a:srgbClr val="44586E"/>
                </a:solidFill>
                <a:latin typeface="Calibri" pitchFamily="34" charset="0"/>
                <a:ea typeface="Calibri" pitchFamily="34" charset="-122"/>
                <a:cs typeface="Calibri" pitchFamily="34" charset="-120"/>
              </a:rPr>
              <a:t>Included in ASO — no new spend</a:t>
            </a:r>
            <a:endParaRPr lang="en-US" sz="1250" dirty="0"/>
          </a:p>
          <a:p>
            <a:pPr marL="342900" indent="-342900">
              <a:spcAft>
                <a:spcPts val="500"/>
              </a:spcAft>
              <a:buSzPct val="100000"/>
              <a:buChar char="•"/>
            </a:pPr>
            <a:r>
              <a:rPr lang="en-US" sz="1250" dirty="0">
                <a:solidFill>
                  <a:srgbClr val="44586E"/>
                </a:solidFill>
                <a:latin typeface="Calibri" pitchFamily="34" charset="0"/>
                <a:ea typeface="Calibri" pitchFamily="34" charset="-122"/>
                <a:cs typeface="Calibri" pitchFamily="34" charset="-120"/>
              </a:rPr>
              <a:t>Weak central-evidence story; per-host backup toil at scale</a:t>
            </a:r>
            <a:endParaRPr lang="en-US" sz="1250" dirty="0"/>
          </a:p>
        </p:txBody>
      </p:sp>
      <p:pic>
        <p:nvPicPr>
          <p:cNvPr id="10" name="Image 1" descr="preencoded.png">    </p:cNvPr>
          <p:cNvPicPr>
            <a:picLocks noChangeAspect="1"/>
          </p:cNvPicPr>
          <p:nvPr/>
        </p:nvPicPr>
        <p:blipFill>
          <a:blip r:embed="rId2"/>
          <a:stretch>
            <a:fillRect/>
          </a:stretch>
        </p:blipFill>
        <p:spPr>
          <a:xfrm>
            <a:off x="5879592" y="3017520"/>
            <a:ext cx="384048" cy="384048"/>
          </a:xfrm>
          <a:prstGeom prst="rect">
            <a:avLst/>
          </a:prstGeom>
        </p:spPr>
      </p:pic>
      <p:sp>
        <p:nvSpPr>
          <p:cNvPr id="11" name="Shape 7"/>
          <p:cNvSpPr/>
          <p:nvPr/>
        </p:nvSpPr>
        <p:spPr>
          <a:xfrm>
            <a:off x="6373368" y="1828800"/>
            <a:ext cx="5251399" cy="2788920"/>
          </a:xfrm>
          <a:prstGeom prst="roundRect">
            <a:avLst>
              <a:gd name="adj" fmla="val 2623"/>
            </a:avLst>
          </a:prstGeom>
          <a:solidFill>
            <a:srgbClr val="12223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Text 8"/>
          <p:cNvSpPr/>
          <p:nvPr/>
        </p:nvSpPr>
        <p:spPr>
          <a:xfrm>
            <a:off x="6647688" y="2029968"/>
            <a:ext cx="4702759" cy="274320"/>
          </a:xfrm>
          <a:prstGeom prst="rect">
            <a:avLst/>
          </a:prstGeom>
          <a:noFill/>
          <a:ln/>
        </p:spPr>
        <p:txBody>
          <a:bodyPr wrap="square" lIns="0" tIns="0" rIns="0" bIns="0" rtlCol="0" anchor="ctr"/>
          <a:lstStyle/>
          <a:p>
            <a:pPr indent="0" marL="0">
              <a:buNone/>
            </a:pPr>
            <a:r>
              <a:rPr lang="en-US" sz="1200" b="1" spc="200" kern="0" dirty="0">
                <a:solidFill>
                  <a:srgbClr val="C6881B"/>
                </a:solidFill>
                <a:latin typeface="Calibri" pitchFamily="34" charset="0"/>
                <a:ea typeface="Calibri" pitchFamily="34" charset="-122"/>
                <a:cs typeface="Calibri" pitchFamily="34" charset="-120"/>
              </a:rPr>
              <a:t>PHASE 2 — TARGET</a:t>
            </a:r>
            <a:endParaRPr lang="en-US" sz="1200" dirty="0"/>
          </a:p>
        </p:txBody>
      </p:sp>
      <p:sp>
        <p:nvSpPr>
          <p:cNvPr id="13" name="Text 9"/>
          <p:cNvSpPr/>
          <p:nvPr/>
        </p:nvSpPr>
        <p:spPr>
          <a:xfrm>
            <a:off x="6647688" y="2286000"/>
            <a:ext cx="4702759" cy="41148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Oracle Key Vault (multi-master)</a:t>
            </a:r>
            <a:endParaRPr lang="en-US" sz="2000" dirty="0"/>
          </a:p>
        </p:txBody>
      </p:sp>
      <p:sp>
        <p:nvSpPr>
          <p:cNvPr id="14" name="Text 10"/>
          <p:cNvSpPr/>
          <p:nvPr/>
        </p:nvSpPr>
        <p:spPr>
          <a:xfrm>
            <a:off x="6665976" y="2788920"/>
            <a:ext cx="4702759" cy="1737360"/>
          </a:xfrm>
          <a:prstGeom prst="rect">
            <a:avLst/>
          </a:prstGeom>
          <a:noFill/>
          <a:ln/>
        </p:spPr>
        <p:txBody>
          <a:bodyPr wrap="square" lIns="0" tIns="0" rIns="0" bIns="0" rtlCol="0" anchor="ctr"/>
          <a:lstStyle/>
          <a:p>
            <a:pPr marL="342900" indent="-342900">
              <a:spcAft>
                <a:spcPts val="500"/>
              </a:spcAft>
              <a:buSzPct val="100000"/>
              <a:buChar char="•"/>
            </a:pPr>
            <a:r>
              <a:rPr lang="en-US" sz="1250" dirty="0">
                <a:solidFill>
                  <a:srgbClr val="C7D2E0"/>
                </a:solidFill>
                <a:latin typeface="Calibri" pitchFamily="34" charset="0"/>
                <a:ea typeface="Calibri" pitchFamily="34" charset="-122"/>
                <a:cs typeface="Calibri" pitchFamily="34" charset="-120"/>
              </a:rPr>
              <a:t>Central custody, fleet-wide audit &amp; rotation — the DORA/PCI evidence story</a:t>
            </a:r>
            <a:endParaRPr lang="en-US" sz="1250" dirty="0"/>
          </a:p>
          <a:p>
            <a:pPr marL="342900" indent="-342900">
              <a:spcAft>
                <a:spcPts val="500"/>
              </a:spcAft>
              <a:buSzPct val="100000"/>
              <a:buChar char="•"/>
            </a:pPr>
            <a:r>
              <a:rPr lang="en-US" sz="1250" dirty="0">
                <a:solidFill>
                  <a:srgbClr val="C7D2E0"/>
                </a:solidFill>
                <a:latin typeface="Calibri" pitchFamily="34" charset="0"/>
                <a:ea typeface="Calibri" pitchFamily="34" charset="-122"/>
                <a:cs typeface="Calibri" pitchFamily="34" charset="-120"/>
              </a:rPr>
              <a:t>Optional HSM as root of trust</a:t>
            </a:r>
            <a:endParaRPr lang="en-US" sz="1250" dirty="0"/>
          </a:p>
          <a:p>
            <a:pPr marL="342900" indent="-342900">
              <a:spcAft>
                <a:spcPts val="500"/>
              </a:spcAft>
              <a:buSzPct val="100000"/>
              <a:buChar char="•"/>
            </a:pPr>
            <a:r>
              <a:rPr lang="en-US" sz="1250" dirty="0">
                <a:solidFill>
                  <a:srgbClr val="C7D2E0"/>
                </a:solidFill>
                <a:latin typeface="Calibri" pitchFamily="34" charset="0"/>
                <a:ea typeface="Calibri" pitchFamily="34" charset="-122"/>
                <a:cs typeface="Calibri" pitchFamily="34" charset="-120"/>
              </a:rPr>
              <a:t>Must be clustered + persistent cache so it's not a fleet SPOF</a:t>
            </a:r>
            <a:endParaRPr lang="en-US" sz="1250" dirty="0"/>
          </a:p>
          <a:p>
            <a:pPr marL="342900" indent="-342900">
              <a:spcAft>
                <a:spcPts val="500"/>
              </a:spcAft>
              <a:buSzPct val="100000"/>
              <a:buChar char="•"/>
            </a:pPr>
            <a:r>
              <a:rPr lang="en-US" sz="1250" dirty="0">
                <a:solidFill>
                  <a:srgbClr val="C7D2E0"/>
                </a:solidFill>
                <a:latin typeface="Calibri" pitchFamily="34" charset="0"/>
                <a:ea typeface="Calibri" pitchFamily="34" charset="-122"/>
                <a:cs typeface="Calibri" pitchFamily="34" charset="-120"/>
              </a:rPr>
              <a:t>Separate OKV licence — not yet purchased</a:t>
            </a:r>
            <a:endParaRPr lang="en-US" sz="1250" dirty="0"/>
          </a:p>
        </p:txBody>
      </p:sp>
      <p:sp>
        <p:nvSpPr>
          <p:cNvPr id="15" name="Shape 11"/>
          <p:cNvSpPr/>
          <p:nvPr/>
        </p:nvSpPr>
        <p:spPr>
          <a:xfrm>
            <a:off x="566928" y="4828032"/>
            <a:ext cx="11057839" cy="1389888"/>
          </a:xfrm>
          <a:prstGeom prst="roundRect">
            <a:avLst>
              <a:gd name="adj" fmla="val 5263"/>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6" name="Shape 12"/>
          <p:cNvSpPr/>
          <p:nvPr/>
        </p:nvSpPr>
        <p:spPr>
          <a:xfrm>
            <a:off x="859536" y="5074920"/>
            <a:ext cx="621792" cy="621792"/>
          </a:xfrm>
          <a:prstGeom prst="ellipse">
            <a:avLst/>
          </a:prstGeom>
          <a:solidFill>
            <a:srgbClr val="C6881B"/>
          </a:solidFill>
          <a:ln/>
        </p:spPr>
        <p:txBody>
          <a:bodyPr/>
          <a:p/>
        </p:txBody>
      </p:sp>
      <p:pic>
        <p:nvPicPr>
          <p:cNvPr id="17" name="Image 2" descr="preencoded.png">    </p:cNvPr>
          <p:cNvPicPr>
            <a:picLocks noChangeAspect="1"/>
          </p:cNvPicPr>
          <p:nvPr/>
        </p:nvPicPr>
        <p:blipFill>
          <a:blip r:embed="rId3"/>
          <a:stretch>
            <a:fillRect/>
          </a:stretch>
        </p:blipFill>
        <p:spPr>
          <a:xfrm>
            <a:off x="1021202" y="5236586"/>
            <a:ext cx="298460" cy="298460"/>
          </a:xfrm>
          <a:prstGeom prst="rect">
            <a:avLst/>
          </a:prstGeom>
        </p:spPr>
      </p:pic>
      <p:sp>
        <p:nvSpPr>
          <p:cNvPr id="18" name="Text 13"/>
          <p:cNvSpPr/>
          <p:nvPr/>
        </p:nvSpPr>
        <p:spPr>
          <a:xfrm>
            <a:off x="1664208" y="4956048"/>
            <a:ext cx="9777679" cy="365760"/>
          </a:xfrm>
          <a:prstGeom prst="rect">
            <a:avLst/>
          </a:prstGeom>
          <a:noFill/>
          <a:ln/>
        </p:spPr>
        <p:txBody>
          <a:bodyPr wrap="square" lIns="0" tIns="0" rIns="0" bIns="0" rtlCol="0" anchor="ctr"/>
          <a:lstStyle/>
          <a:p>
            <a:pPr indent="0" marL="0">
              <a:buNone/>
            </a:pPr>
            <a:r>
              <a:rPr lang="en-US" sz="1650" b="1" dirty="0">
                <a:solidFill>
                  <a:srgbClr val="1C2A3E"/>
                </a:solidFill>
                <a:latin typeface="Cambria" pitchFamily="34" charset="0"/>
                <a:ea typeface="Cambria" pitchFamily="34" charset="-122"/>
                <a:cs typeface="Cambria" pitchFamily="34" charset="-120"/>
              </a:rPr>
              <a:t>Critical enabler — starting local does not block OKV later</a:t>
            </a:r>
            <a:endParaRPr lang="en-US" sz="1650" dirty="0"/>
          </a:p>
        </p:txBody>
      </p:sp>
      <p:sp>
        <p:nvSpPr>
          <p:cNvPr id="19" name="Text 14"/>
          <p:cNvSpPr/>
          <p:nvPr/>
        </p:nvSpPr>
        <p:spPr>
          <a:xfrm>
            <a:off x="1664208" y="5349240"/>
            <a:ext cx="9731959" cy="777240"/>
          </a:xfrm>
          <a:prstGeom prst="rect">
            <a:avLst/>
          </a:prstGeom>
          <a:noFill/>
          <a:ln/>
        </p:spPr>
        <p:txBody>
          <a:bodyPr wrap="square" lIns="0" tIns="0" rIns="0" bIns="0" rtlCol="0" anchor="t"/>
          <a:lstStyle/>
          <a:p>
            <a:pPr indent="0" marL="0">
              <a:lnSpc>
                <a:spcPct val="108000"/>
              </a:lnSpc>
              <a:buNone/>
            </a:pPr>
            <a:r>
              <a:rPr lang="en-US" sz="1280" dirty="0">
                <a:solidFill>
                  <a:srgbClr val="44586E"/>
                </a:solidFill>
                <a:latin typeface="Calibri" pitchFamily="34" charset="0"/>
                <a:ea typeface="Calibri" pitchFamily="34" charset="-122"/>
                <a:cs typeface="Calibri" pitchFamily="34" charset="-120"/>
              </a:rPr>
              <a:t>Standardise WALLET_ROOT + TDE_CONFIGURATION now, united keystore with per-PDB MEKs, non-local auto-login for Data Guard.  </a:t>
            </a:r>
            <a:pPr indent="0" marL="0">
              <a:lnSpc>
                <a:spcPct val="108000"/>
              </a:lnSpc>
              <a:buNone/>
            </a:pPr>
            <a:r>
              <a:rPr lang="en-US" sz="1280" b="1" dirty="0">
                <a:solidFill>
                  <a:srgbClr val="9C6B12"/>
                </a:solidFill>
                <a:latin typeface="Calibri" pitchFamily="34" charset="0"/>
                <a:ea typeface="Calibri" pitchFamily="34" charset="-122"/>
                <a:cs typeface="Calibri" pitchFamily="34" charset="-120"/>
              </a:rPr>
              <a:t>Migration to OKV is then a supported, online one-liner per DB</a:t>
            </a:r>
            <a:pPr indent="0" marL="0">
              <a:lnSpc>
                <a:spcPct val="108000"/>
              </a:lnSpc>
              <a:buNone/>
            </a:pPr>
            <a:r>
              <a:rPr lang="en-US" sz="1280" dirty="0">
                <a:solidFill>
                  <a:srgbClr val="44586E"/>
                </a:solidFill>
                <a:latin typeface="Calibri" pitchFamily="34" charset="0"/>
                <a:ea typeface="Calibri" pitchFamily="34" charset="-122"/>
                <a:cs typeface="Calibri" pitchFamily="34" charset="-120"/>
              </a:rPr>
              <a:t> (SET ENCRYPTION KEY … MIGRATE USING …) applied wave-by-wave — and it's reversible.</a:t>
            </a:r>
            <a:endParaRPr lang="en-US" sz="128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DELIVERABLES ON THIS TRACK</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TDE — what's built</a:t>
            </a:r>
            <a:endParaRPr lang="en-US" sz="2700" dirty="0"/>
          </a:p>
        </p:txBody>
      </p:sp>
      <p:sp>
        <p:nvSpPr>
          <p:cNvPr id="6" name="Shape 3"/>
          <p:cNvSpPr/>
          <p:nvPr/>
        </p:nvSpPr>
        <p:spPr>
          <a:xfrm>
            <a:off x="566928" y="1810512"/>
            <a:ext cx="5368900" cy="676656"/>
          </a:xfrm>
          <a:prstGeom prst="roundRect">
            <a:avLst>
              <a:gd name="adj" fmla="val 8108"/>
            </a:avLst>
          </a:prstGeom>
          <a:solidFill>
            <a:srgbClr val="F3F6FA"/>
          </a:solidFill>
          <a:ln w="12700">
            <a:solidFill>
              <a:srgbClr val="D8E0EA"/>
            </a:solidFill>
            <a:prstDash val="solid"/>
          </a:ln>
        </p:spPr>
        <p:txBody>
          <a:bodyPr/>
          <a:p/>
        </p:txBody>
      </p:sp>
      <p:sp>
        <p:nvSpPr>
          <p:cNvPr id="7" name="Shape 4"/>
          <p:cNvSpPr/>
          <p:nvPr/>
        </p:nvSpPr>
        <p:spPr>
          <a:xfrm>
            <a:off x="694944" y="1911096"/>
            <a:ext cx="475488" cy="475488"/>
          </a:xfrm>
          <a:prstGeom prst="ellipse">
            <a:avLst/>
          </a:prstGeom>
          <a:solidFill>
            <a:srgbClr val="C6881B"/>
          </a:solidFill>
          <a:ln/>
        </p:spPr>
        <p:txBody>
          <a:bodyPr/>
          <a:p/>
        </p:txBody>
      </p:sp>
      <p:pic>
        <p:nvPicPr>
          <p:cNvPr id="8" name="Image 1" descr="preencoded.png">    </p:cNvPr>
          <p:cNvPicPr>
            <a:picLocks noChangeAspect="1"/>
          </p:cNvPicPr>
          <p:nvPr/>
        </p:nvPicPr>
        <p:blipFill>
          <a:blip r:embed="rId2"/>
          <a:stretch>
            <a:fillRect/>
          </a:stretch>
        </p:blipFill>
        <p:spPr>
          <a:xfrm>
            <a:off x="818571" y="2034723"/>
            <a:ext cx="228234" cy="228234"/>
          </a:xfrm>
          <a:prstGeom prst="rect">
            <a:avLst/>
          </a:prstGeom>
        </p:spPr>
      </p:pic>
      <p:sp>
        <p:nvSpPr>
          <p:cNvPr id="9" name="Text 5"/>
          <p:cNvSpPr/>
          <p:nvPr/>
        </p:nvSpPr>
        <p:spPr>
          <a:xfrm>
            <a:off x="1289304" y="1883664"/>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WALLET_ROOT config</a:t>
            </a:r>
            <a:endParaRPr lang="en-US" sz="1400" dirty="0"/>
          </a:p>
        </p:txBody>
      </p:sp>
      <p:sp>
        <p:nvSpPr>
          <p:cNvPr id="10" name="Text 6"/>
          <p:cNvSpPr/>
          <p:nvPr/>
        </p:nvSpPr>
        <p:spPr>
          <a:xfrm>
            <a:off x="1289304" y="2157984"/>
            <a:ext cx="4500220" cy="274320"/>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01 — static param + restart, TDE_CONFIGURATION=FILE</a:t>
            </a:r>
            <a:endParaRPr lang="en-US" sz="1080" dirty="0"/>
          </a:p>
        </p:txBody>
      </p:sp>
      <p:sp>
        <p:nvSpPr>
          <p:cNvPr id="11" name="Shape 7"/>
          <p:cNvSpPr/>
          <p:nvPr/>
        </p:nvSpPr>
        <p:spPr>
          <a:xfrm>
            <a:off x="6255868" y="1810512"/>
            <a:ext cx="5368900" cy="676656"/>
          </a:xfrm>
          <a:prstGeom prst="roundRect">
            <a:avLst>
              <a:gd name="adj" fmla="val 8108"/>
            </a:avLst>
          </a:prstGeom>
          <a:solidFill>
            <a:srgbClr val="F3F6FA"/>
          </a:solidFill>
          <a:ln w="12700">
            <a:solidFill>
              <a:srgbClr val="D8E0EA"/>
            </a:solidFill>
            <a:prstDash val="solid"/>
          </a:ln>
        </p:spPr>
        <p:txBody>
          <a:bodyPr/>
          <a:p/>
        </p:txBody>
      </p:sp>
      <p:sp>
        <p:nvSpPr>
          <p:cNvPr id="12" name="Shape 8"/>
          <p:cNvSpPr/>
          <p:nvPr/>
        </p:nvSpPr>
        <p:spPr>
          <a:xfrm>
            <a:off x="6383884" y="1911096"/>
            <a:ext cx="475488" cy="475488"/>
          </a:xfrm>
          <a:prstGeom prst="ellipse">
            <a:avLst/>
          </a:prstGeom>
          <a:solidFill>
            <a:srgbClr val="C6881B"/>
          </a:solidFill>
          <a:ln/>
        </p:spPr>
        <p:txBody>
          <a:bodyPr/>
          <a:p/>
        </p:txBody>
      </p:sp>
      <p:pic>
        <p:nvPicPr>
          <p:cNvPr id="13" name="Image 2" descr="preencoded.png">    </p:cNvPr>
          <p:cNvPicPr>
            <a:picLocks noChangeAspect="1"/>
          </p:cNvPicPr>
          <p:nvPr/>
        </p:nvPicPr>
        <p:blipFill>
          <a:blip r:embed="rId3"/>
          <a:stretch>
            <a:fillRect/>
          </a:stretch>
        </p:blipFill>
        <p:spPr>
          <a:xfrm>
            <a:off x="6507510" y="2034723"/>
            <a:ext cx="228234" cy="228234"/>
          </a:xfrm>
          <a:prstGeom prst="rect">
            <a:avLst/>
          </a:prstGeom>
        </p:spPr>
      </p:pic>
      <p:sp>
        <p:nvSpPr>
          <p:cNvPr id="14" name="Text 9"/>
          <p:cNvSpPr/>
          <p:nvPr/>
        </p:nvSpPr>
        <p:spPr>
          <a:xfrm>
            <a:off x="6978244" y="1883664"/>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Keystore + first MEK</a:t>
            </a:r>
            <a:endParaRPr lang="en-US" sz="1400" dirty="0"/>
          </a:p>
        </p:txBody>
      </p:sp>
      <p:sp>
        <p:nvSpPr>
          <p:cNvPr id="15" name="Text 10"/>
          <p:cNvSpPr/>
          <p:nvPr/>
        </p:nvSpPr>
        <p:spPr>
          <a:xfrm>
            <a:off x="6978244" y="2157984"/>
            <a:ext cx="4500220" cy="274320"/>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02 — create, open, SET KEY, non-local auto-login</a:t>
            </a:r>
            <a:endParaRPr lang="en-US" sz="1080" dirty="0"/>
          </a:p>
        </p:txBody>
      </p:sp>
      <p:sp>
        <p:nvSpPr>
          <p:cNvPr id="16" name="Shape 11"/>
          <p:cNvSpPr/>
          <p:nvPr/>
        </p:nvSpPr>
        <p:spPr>
          <a:xfrm>
            <a:off x="566928" y="2596896"/>
            <a:ext cx="5368900" cy="676656"/>
          </a:xfrm>
          <a:prstGeom prst="roundRect">
            <a:avLst>
              <a:gd name="adj" fmla="val 8108"/>
            </a:avLst>
          </a:prstGeom>
          <a:solidFill>
            <a:srgbClr val="F3F6FA"/>
          </a:solidFill>
          <a:ln w="12700">
            <a:solidFill>
              <a:srgbClr val="D8E0EA"/>
            </a:solidFill>
            <a:prstDash val="solid"/>
          </a:ln>
        </p:spPr>
        <p:txBody>
          <a:bodyPr/>
          <a:p/>
        </p:txBody>
      </p:sp>
      <p:sp>
        <p:nvSpPr>
          <p:cNvPr id="17" name="Shape 12"/>
          <p:cNvSpPr/>
          <p:nvPr/>
        </p:nvSpPr>
        <p:spPr>
          <a:xfrm>
            <a:off x="694944" y="2697480"/>
            <a:ext cx="475488" cy="475488"/>
          </a:xfrm>
          <a:prstGeom prst="ellipse">
            <a:avLst/>
          </a:prstGeom>
          <a:solidFill>
            <a:srgbClr val="C6881B"/>
          </a:solidFill>
          <a:ln/>
        </p:spPr>
        <p:txBody>
          <a:bodyPr/>
          <a:p/>
        </p:txBody>
      </p:sp>
      <p:pic>
        <p:nvPicPr>
          <p:cNvPr id="18" name="Image 3" descr="preencoded.png">    </p:cNvPr>
          <p:cNvPicPr>
            <a:picLocks noChangeAspect="1"/>
          </p:cNvPicPr>
          <p:nvPr/>
        </p:nvPicPr>
        <p:blipFill>
          <a:blip r:embed="rId4"/>
          <a:stretch>
            <a:fillRect/>
          </a:stretch>
        </p:blipFill>
        <p:spPr>
          <a:xfrm>
            <a:off x="818571" y="2821107"/>
            <a:ext cx="228234" cy="228234"/>
          </a:xfrm>
          <a:prstGeom prst="rect">
            <a:avLst/>
          </a:prstGeom>
        </p:spPr>
      </p:pic>
      <p:sp>
        <p:nvSpPr>
          <p:cNvPr id="19" name="Text 13"/>
          <p:cNvSpPr/>
          <p:nvPr/>
        </p:nvSpPr>
        <p:spPr>
          <a:xfrm>
            <a:off x="1289304" y="2670048"/>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Online tbs encryption</a:t>
            </a:r>
            <a:endParaRPr lang="en-US" sz="1400" dirty="0"/>
          </a:p>
        </p:txBody>
      </p:sp>
      <p:sp>
        <p:nvSpPr>
          <p:cNvPr id="20" name="Text 14"/>
          <p:cNvSpPr/>
          <p:nvPr/>
        </p:nvSpPr>
        <p:spPr>
          <a:xfrm>
            <a:off x="1289304" y="2944368"/>
            <a:ext cx="4500220" cy="274320"/>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03 — generates ALTER statements; run one at a time</a:t>
            </a:r>
            <a:endParaRPr lang="en-US" sz="1080" dirty="0"/>
          </a:p>
        </p:txBody>
      </p:sp>
      <p:sp>
        <p:nvSpPr>
          <p:cNvPr id="21" name="Shape 15"/>
          <p:cNvSpPr/>
          <p:nvPr/>
        </p:nvSpPr>
        <p:spPr>
          <a:xfrm>
            <a:off x="6255868" y="2596896"/>
            <a:ext cx="5368900" cy="676656"/>
          </a:xfrm>
          <a:prstGeom prst="roundRect">
            <a:avLst>
              <a:gd name="adj" fmla="val 8108"/>
            </a:avLst>
          </a:prstGeom>
          <a:solidFill>
            <a:srgbClr val="F3F6FA"/>
          </a:solidFill>
          <a:ln w="12700">
            <a:solidFill>
              <a:srgbClr val="D8E0EA"/>
            </a:solidFill>
            <a:prstDash val="solid"/>
          </a:ln>
        </p:spPr>
        <p:txBody>
          <a:bodyPr/>
          <a:p/>
        </p:txBody>
      </p:sp>
      <p:sp>
        <p:nvSpPr>
          <p:cNvPr id="22" name="Shape 16"/>
          <p:cNvSpPr/>
          <p:nvPr/>
        </p:nvSpPr>
        <p:spPr>
          <a:xfrm>
            <a:off x="6383884" y="2697480"/>
            <a:ext cx="475488" cy="475488"/>
          </a:xfrm>
          <a:prstGeom prst="ellipse">
            <a:avLst/>
          </a:prstGeom>
          <a:solidFill>
            <a:srgbClr val="C6881B"/>
          </a:solidFill>
          <a:ln/>
        </p:spPr>
        <p:txBody>
          <a:bodyPr/>
          <a:p/>
        </p:txBody>
      </p:sp>
      <p:pic>
        <p:nvPicPr>
          <p:cNvPr id="23" name="Image 4" descr="preencoded.png">    </p:cNvPr>
          <p:cNvPicPr>
            <a:picLocks noChangeAspect="1"/>
          </p:cNvPicPr>
          <p:nvPr/>
        </p:nvPicPr>
        <p:blipFill>
          <a:blip r:embed="rId5"/>
          <a:stretch>
            <a:fillRect/>
          </a:stretch>
        </p:blipFill>
        <p:spPr>
          <a:xfrm>
            <a:off x="6507510" y="2821107"/>
            <a:ext cx="228234" cy="228234"/>
          </a:xfrm>
          <a:prstGeom prst="rect">
            <a:avLst/>
          </a:prstGeom>
        </p:spPr>
      </p:pic>
      <p:sp>
        <p:nvSpPr>
          <p:cNvPr id="24" name="Text 17"/>
          <p:cNvSpPr/>
          <p:nvPr/>
        </p:nvSpPr>
        <p:spPr>
          <a:xfrm>
            <a:off x="6978244" y="2670048"/>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Status / verification</a:t>
            </a:r>
            <a:endParaRPr lang="en-US" sz="1400" dirty="0"/>
          </a:p>
        </p:txBody>
      </p:sp>
      <p:sp>
        <p:nvSpPr>
          <p:cNvPr id="25" name="Text 18"/>
          <p:cNvSpPr/>
          <p:nvPr/>
        </p:nvSpPr>
        <p:spPr>
          <a:xfrm>
            <a:off x="6978244" y="2944368"/>
            <a:ext cx="4500220" cy="274320"/>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04 — keystore + encrypted-tablespace report</a:t>
            </a:r>
            <a:endParaRPr lang="en-US" sz="1080" dirty="0"/>
          </a:p>
        </p:txBody>
      </p:sp>
      <p:sp>
        <p:nvSpPr>
          <p:cNvPr id="26" name="Shape 19"/>
          <p:cNvSpPr/>
          <p:nvPr/>
        </p:nvSpPr>
        <p:spPr>
          <a:xfrm>
            <a:off x="566928" y="3383280"/>
            <a:ext cx="5368900" cy="676656"/>
          </a:xfrm>
          <a:prstGeom prst="roundRect">
            <a:avLst>
              <a:gd name="adj" fmla="val 8108"/>
            </a:avLst>
          </a:prstGeom>
          <a:solidFill>
            <a:srgbClr val="F3F6FA"/>
          </a:solidFill>
          <a:ln w="12700">
            <a:solidFill>
              <a:srgbClr val="D8E0EA"/>
            </a:solidFill>
            <a:prstDash val="solid"/>
          </a:ln>
        </p:spPr>
        <p:txBody>
          <a:bodyPr/>
          <a:p/>
        </p:txBody>
      </p:sp>
      <p:sp>
        <p:nvSpPr>
          <p:cNvPr id="27" name="Shape 20"/>
          <p:cNvSpPr/>
          <p:nvPr/>
        </p:nvSpPr>
        <p:spPr>
          <a:xfrm>
            <a:off x="694944" y="3483864"/>
            <a:ext cx="475488" cy="475488"/>
          </a:xfrm>
          <a:prstGeom prst="ellipse">
            <a:avLst/>
          </a:prstGeom>
          <a:solidFill>
            <a:srgbClr val="C6881B"/>
          </a:solidFill>
          <a:ln/>
        </p:spPr>
        <p:txBody>
          <a:bodyPr/>
          <a:p/>
        </p:txBody>
      </p:sp>
      <p:pic>
        <p:nvPicPr>
          <p:cNvPr id="28" name="Image 5" descr="preencoded.png">    </p:cNvPr>
          <p:cNvPicPr>
            <a:picLocks noChangeAspect="1"/>
          </p:cNvPicPr>
          <p:nvPr/>
        </p:nvPicPr>
        <p:blipFill>
          <a:blip r:embed="rId6"/>
          <a:stretch>
            <a:fillRect/>
          </a:stretch>
        </p:blipFill>
        <p:spPr>
          <a:xfrm>
            <a:off x="818571" y="3607491"/>
            <a:ext cx="228234" cy="228234"/>
          </a:xfrm>
          <a:prstGeom prst="rect">
            <a:avLst/>
          </a:prstGeom>
        </p:spPr>
      </p:pic>
      <p:sp>
        <p:nvSpPr>
          <p:cNvPr id="29" name="Text 21"/>
          <p:cNvSpPr/>
          <p:nvPr/>
        </p:nvSpPr>
        <p:spPr>
          <a:xfrm>
            <a:off x="1289304" y="3456432"/>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MEK rotation</a:t>
            </a:r>
            <a:endParaRPr lang="en-US" sz="1400" dirty="0"/>
          </a:p>
        </p:txBody>
      </p:sp>
      <p:sp>
        <p:nvSpPr>
          <p:cNvPr id="30" name="Text 22"/>
          <p:cNvSpPr/>
          <p:nvPr/>
        </p:nvSpPr>
        <p:spPr>
          <a:xfrm>
            <a:off x="1289304" y="3730752"/>
            <a:ext cx="4500220" cy="274320"/>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05 — re-wrap keys, tag, WITH BACKUP</a:t>
            </a:r>
            <a:endParaRPr lang="en-US" sz="1080" dirty="0"/>
          </a:p>
        </p:txBody>
      </p:sp>
      <p:sp>
        <p:nvSpPr>
          <p:cNvPr id="31" name="Shape 23"/>
          <p:cNvSpPr/>
          <p:nvPr/>
        </p:nvSpPr>
        <p:spPr>
          <a:xfrm>
            <a:off x="6255868" y="3383280"/>
            <a:ext cx="5368900" cy="676656"/>
          </a:xfrm>
          <a:prstGeom prst="roundRect">
            <a:avLst>
              <a:gd name="adj" fmla="val 8108"/>
            </a:avLst>
          </a:prstGeom>
          <a:solidFill>
            <a:srgbClr val="F3F6FA"/>
          </a:solidFill>
          <a:ln w="12700">
            <a:solidFill>
              <a:srgbClr val="D8E0EA"/>
            </a:solidFill>
            <a:prstDash val="solid"/>
          </a:ln>
        </p:spPr>
        <p:txBody>
          <a:bodyPr/>
          <a:p/>
        </p:txBody>
      </p:sp>
      <p:sp>
        <p:nvSpPr>
          <p:cNvPr id="32" name="Shape 24"/>
          <p:cNvSpPr/>
          <p:nvPr/>
        </p:nvSpPr>
        <p:spPr>
          <a:xfrm>
            <a:off x="6383884" y="3483864"/>
            <a:ext cx="475488" cy="475488"/>
          </a:xfrm>
          <a:prstGeom prst="ellipse">
            <a:avLst/>
          </a:prstGeom>
          <a:solidFill>
            <a:srgbClr val="C6881B"/>
          </a:solidFill>
          <a:ln/>
        </p:spPr>
        <p:txBody>
          <a:bodyPr/>
          <a:p/>
        </p:txBody>
      </p:sp>
      <p:pic>
        <p:nvPicPr>
          <p:cNvPr id="33" name="Image 6" descr="preencoded.png">    </p:cNvPr>
          <p:cNvPicPr>
            <a:picLocks noChangeAspect="1"/>
          </p:cNvPicPr>
          <p:nvPr/>
        </p:nvPicPr>
        <p:blipFill>
          <a:blip r:embed="rId7"/>
          <a:stretch>
            <a:fillRect/>
          </a:stretch>
        </p:blipFill>
        <p:spPr>
          <a:xfrm>
            <a:off x="6507510" y="3607491"/>
            <a:ext cx="228234" cy="228234"/>
          </a:xfrm>
          <a:prstGeom prst="rect">
            <a:avLst/>
          </a:prstGeom>
        </p:spPr>
      </p:pic>
      <p:sp>
        <p:nvSpPr>
          <p:cNvPr id="34" name="Text 25"/>
          <p:cNvSpPr/>
          <p:nvPr/>
        </p:nvSpPr>
        <p:spPr>
          <a:xfrm>
            <a:off x="6978244" y="3456432"/>
            <a:ext cx="4500220" cy="292608"/>
          </a:xfrm>
          <a:prstGeom prst="rect">
            <a:avLst/>
          </a:prstGeom>
          <a:noFill/>
          <a:ln/>
        </p:spPr>
        <p:txBody>
          <a:bodyPr wrap="square" lIns="0" tIns="0" rIns="0" bIns="0" rtlCol="0" anchor="ctr"/>
          <a:lstStyle/>
          <a:p>
            <a:pPr indent="0" marL="0">
              <a:buNone/>
            </a:pPr>
            <a:r>
              <a:rPr lang="en-US" sz="1400" b="1" dirty="0">
                <a:solidFill>
                  <a:srgbClr val="1C2A3E"/>
                </a:solidFill>
                <a:latin typeface="Calibri" pitchFamily="34" charset="0"/>
                <a:ea typeface="Calibri" pitchFamily="34" charset="-122"/>
                <a:cs typeface="Calibri" pitchFamily="34" charset="-120"/>
              </a:rPr>
              <a:t>Standby wallet sync</a:t>
            </a:r>
            <a:endParaRPr lang="en-US" sz="1400" dirty="0"/>
          </a:p>
        </p:txBody>
      </p:sp>
      <p:sp>
        <p:nvSpPr>
          <p:cNvPr id="35" name="Text 26"/>
          <p:cNvSpPr/>
          <p:nvPr/>
        </p:nvSpPr>
        <p:spPr>
          <a:xfrm>
            <a:off x="6978244" y="3730752"/>
            <a:ext cx="4500220" cy="274320"/>
          </a:xfrm>
          <a:prstGeom prst="rect">
            <a:avLst/>
          </a:prstGeom>
          <a:noFill/>
          <a:ln/>
        </p:spPr>
        <p:txBody>
          <a:bodyPr wrap="square" lIns="0" tIns="0" rIns="0" bIns="0" rtlCol="0" anchor="ctr"/>
          <a:lstStyle/>
          <a:p>
            <a:pPr indent="0" marL="0">
              <a:buNone/>
            </a:pPr>
            <a:r>
              <a:rPr lang="en-US" sz="1080" dirty="0">
                <a:solidFill>
                  <a:srgbClr val="44586E"/>
                </a:solidFill>
                <a:latin typeface="Calibri" pitchFamily="34" charset="0"/>
                <a:ea typeface="Calibri" pitchFamily="34" charset="-122"/>
                <a:cs typeface="Calibri" pitchFamily="34" charset="-120"/>
              </a:rPr>
              <a:t>dg/ — copy ewallet.p12 + cwallet.sso, verify</a:t>
            </a:r>
            <a:endParaRPr lang="en-US" sz="1080" dirty="0"/>
          </a:p>
        </p:txBody>
      </p:sp>
      <p:sp>
        <p:nvSpPr>
          <p:cNvPr id="36" name="Shape 27"/>
          <p:cNvSpPr/>
          <p:nvPr/>
        </p:nvSpPr>
        <p:spPr>
          <a:xfrm>
            <a:off x="566928" y="4297680"/>
            <a:ext cx="11057839" cy="1920240"/>
          </a:xfrm>
          <a:prstGeom prst="roundRect">
            <a:avLst>
              <a:gd name="adj" fmla="val 3810"/>
            </a:avLst>
          </a:prstGeom>
          <a:solidFill>
            <a:srgbClr val="12223F"/>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7" name="Text 28"/>
          <p:cNvSpPr/>
          <p:nvPr/>
        </p:nvSpPr>
        <p:spPr>
          <a:xfrm>
            <a:off x="841248" y="4434840"/>
            <a:ext cx="2743200" cy="274320"/>
          </a:xfrm>
          <a:prstGeom prst="rect">
            <a:avLst/>
          </a:prstGeom>
          <a:noFill/>
          <a:ln/>
        </p:spPr>
        <p:txBody>
          <a:bodyPr wrap="square" lIns="0" tIns="0" rIns="0" bIns="0" rtlCol="0" anchor="ctr"/>
          <a:lstStyle/>
          <a:p>
            <a:pPr indent="0" marL="0">
              <a:buNone/>
            </a:pPr>
            <a:r>
              <a:rPr lang="en-US" sz="1200" b="1" spc="200" kern="0" dirty="0">
                <a:solidFill>
                  <a:srgbClr val="C6881B"/>
                </a:solidFill>
                <a:latin typeface="Calibri" pitchFamily="34" charset="0"/>
                <a:ea typeface="Calibri" pitchFamily="34" charset="-122"/>
                <a:cs typeface="Calibri" pitchFamily="34" charset="-120"/>
              </a:rPr>
              <a:t>ALSO COVERED</a:t>
            </a:r>
            <a:endParaRPr lang="en-US" sz="1200" dirty="0"/>
          </a:p>
        </p:txBody>
      </p:sp>
      <p:sp>
        <p:nvSpPr>
          <p:cNvPr id="38" name="Shape 29"/>
          <p:cNvSpPr/>
          <p:nvPr/>
        </p:nvSpPr>
        <p:spPr>
          <a:xfrm>
            <a:off x="841248" y="4892040"/>
            <a:ext cx="548640" cy="548640"/>
          </a:xfrm>
          <a:prstGeom prst="ellipse">
            <a:avLst/>
          </a:prstGeom>
          <a:solidFill>
            <a:srgbClr val="C6881B"/>
          </a:solidFill>
          <a:ln/>
        </p:spPr>
        <p:txBody>
          <a:bodyPr/>
          <a:p/>
        </p:txBody>
      </p:sp>
      <p:pic>
        <p:nvPicPr>
          <p:cNvPr id="39" name="Image 7" descr="preencoded.png">    </p:cNvPr>
          <p:cNvPicPr>
            <a:picLocks noChangeAspect="1"/>
          </p:cNvPicPr>
          <p:nvPr/>
        </p:nvPicPr>
        <p:blipFill>
          <a:blip r:embed="rId8"/>
          <a:stretch>
            <a:fillRect/>
          </a:stretch>
        </p:blipFill>
        <p:spPr>
          <a:xfrm>
            <a:off x="983894" y="5034686"/>
            <a:ext cx="263347" cy="263347"/>
          </a:xfrm>
          <a:prstGeom prst="rect">
            <a:avLst/>
          </a:prstGeom>
        </p:spPr>
      </p:pic>
      <p:sp>
        <p:nvSpPr>
          <p:cNvPr id="40" name="Text 30"/>
          <p:cNvSpPr/>
          <p:nvPr/>
        </p:nvSpPr>
        <p:spPr>
          <a:xfrm>
            <a:off x="1527048" y="4846320"/>
            <a:ext cx="2603906"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United, per-PDB MEKs</a:t>
            </a:r>
            <a:endParaRPr lang="en-US" sz="1300" dirty="0"/>
          </a:p>
        </p:txBody>
      </p:sp>
      <p:sp>
        <p:nvSpPr>
          <p:cNvPr id="41" name="Text 31"/>
          <p:cNvSpPr/>
          <p:nvPr/>
        </p:nvSpPr>
        <p:spPr>
          <a:xfrm>
            <a:off x="841248" y="5532120"/>
            <a:ext cx="3472586" cy="594360"/>
          </a:xfrm>
          <a:prstGeom prst="rect">
            <a:avLst/>
          </a:prstGeom>
          <a:noFill/>
          <a:ln/>
        </p:spPr>
        <p:txBody>
          <a:bodyPr wrap="square" lIns="0" tIns="0" rIns="0" bIns="0" rtlCol="0" anchor="t"/>
          <a:lstStyle/>
          <a:p>
            <a:pPr indent="0" marL="0">
              <a:lnSpc>
                <a:spcPct val="103000"/>
              </a:lnSpc>
              <a:buNone/>
            </a:pPr>
            <a:r>
              <a:rPr lang="en-US" sz="1100" dirty="0">
                <a:solidFill>
                  <a:srgbClr val="C7D2E0"/>
                </a:solidFill>
                <a:latin typeface="Calibri" pitchFamily="34" charset="0"/>
                <a:ea typeface="Calibri" pitchFamily="34" charset="-122"/>
                <a:cs typeface="Calibri" pitchFamily="34" charset="-120"/>
              </a:rPr>
              <a:t>One keystore in CDB$ROOT; each PDB keyed separately</a:t>
            </a:r>
            <a:endParaRPr lang="en-US" sz="1100" dirty="0"/>
          </a:p>
        </p:txBody>
      </p:sp>
      <p:sp>
        <p:nvSpPr>
          <p:cNvPr id="42" name="Shape 32"/>
          <p:cNvSpPr/>
          <p:nvPr/>
        </p:nvSpPr>
        <p:spPr>
          <a:xfrm>
            <a:off x="4450994" y="4892040"/>
            <a:ext cx="548640" cy="548640"/>
          </a:xfrm>
          <a:prstGeom prst="ellipse">
            <a:avLst/>
          </a:prstGeom>
          <a:solidFill>
            <a:srgbClr val="C6881B"/>
          </a:solidFill>
          <a:ln/>
        </p:spPr>
        <p:txBody>
          <a:bodyPr/>
          <a:p/>
        </p:txBody>
      </p:sp>
      <p:pic>
        <p:nvPicPr>
          <p:cNvPr id="43" name="Image 8" descr="preencoded.png">    </p:cNvPr>
          <p:cNvPicPr>
            <a:picLocks noChangeAspect="1"/>
          </p:cNvPicPr>
          <p:nvPr/>
        </p:nvPicPr>
        <p:blipFill>
          <a:blip r:embed="rId9"/>
          <a:stretch>
            <a:fillRect/>
          </a:stretch>
        </p:blipFill>
        <p:spPr>
          <a:xfrm>
            <a:off x="4593641" y="5034686"/>
            <a:ext cx="263347" cy="263347"/>
          </a:xfrm>
          <a:prstGeom prst="rect">
            <a:avLst/>
          </a:prstGeom>
        </p:spPr>
      </p:pic>
      <p:sp>
        <p:nvSpPr>
          <p:cNvPr id="44" name="Text 33"/>
          <p:cNvSpPr/>
          <p:nvPr/>
        </p:nvSpPr>
        <p:spPr>
          <a:xfrm>
            <a:off x="5136794" y="4846320"/>
            <a:ext cx="2603906"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Born-encrypted</a:t>
            </a:r>
            <a:endParaRPr lang="en-US" sz="1300" dirty="0"/>
          </a:p>
        </p:txBody>
      </p:sp>
      <p:sp>
        <p:nvSpPr>
          <p:cNvPr id="45" name="Text 34"/>
          <p:cNvSpPr/>
          <p:nvPr/>
        </p:nvSpPr>
        <p:spPr>
          <a:xfrm>
            <a:off x="4450994" y="5532120"/>
            <a:ext cx="3472586" cy="594360"/>
          </a:xfrm>
          <a:prstGeom prst="rect">
            <a:avLst/>
          </a:prstGeom>
          <a:noFill/>
          <a:ln/>
        </p:spPr>
        <p:txBody>
          <a:bodyPr wrap="square" lIns="0" tIns="0" rIns="0" bIns="0" rtlCol="0" anchor="t"/>
          <a:lstStyle/>
          <a:p>
            <a:pPr indent="0" marL="0">
              <a:lnSpc>
                <a:spcPct val="103000"/>
              </a:lnSpc>
              <a:buNone/>
            </a:pPr>
            <a:r>
              <a:rPr lang="en-US" sz="1100" dirty="0">
                <a:solidFill>
                  <a:srgbClr val="C7D2E0"/>
                </a:solidFill>
                <a:latin typeface="Calibri" pitchFamily="34" charset="0"/>
                <a:ea typeface="Calibri" pitchFamily="34" charset="-122"/>
                <a:cs typeface="Calibri" pitchFamily="34" charset="-120"/>
              </a:rPr>
              <a:t>ENCRYPT_NEW_TABLESPACES = ALWAYS for new tablespaces</a:t>
            </a:r>
            <a:endParaRPr lang="en-US" sz="1100" dirty="0"/>
          </a:p>
        </p:txBody>
      </p:sp>
      <p:sp>
        <p:nvSpPr>
          <p:cNvPr id="46" name="Shape 35"/>
          <p:cNvSpPr/>
          <p:nvPr/>
        </p:nvSpPr>
        <p:spPr>
          <a:xfrm>
            <a:off x="8060741" y="4892040"/>
            <a:ext cx="548640" cy="548640"/>
          </a:xfrm>
          <a:prstGeom prst="ellipse">
            <a:avLst/>
          </a:prstGeom>
          <a:solidFill>
            <a:srgbClr val="C6881B"/>
          </a:solidFill>
          <a:ln/>
        </p:spPr>
        <p:txBody>
          <a:bodyPr/>
          <a:p/>
        </p:txBody>
      </p:sp>
      <p:pic>
        <p:nvPicPr>
          <p:cNvPr id="47" name="Image 9" descr="preencoded.png">    </p:cNvPr>
          <p:cNvPicPr>
            <a:picLocks noChangeAspect="1"/>
          </p:cNvPicPr>
          <p:nvPr/>
        </p:nvPicPr>
        <p:blipFill>
          <a:blip r:embed="rId10"/>
          <a:stretch>
            <a:fillRect/>
          </a:stretch>
        </p:blipFill>
        <p:spPr>
          <a:xfrm>
            <a:off x="8203387" y="5034686"/>
            <a:ext cx="263347" cy="263347"/>
          </a:xfrm>
          <a:prstGeom prst="rect">
            <a:avLst/>
          </a:prstGeom>
        </p:spPr>
      </p:pic>
      <p:sp>
        <p:nvSpPr>
          <p:cNvPr id="48" name="Text 36"/>
          <p:cNvSpPr/>
          <p:nvPr/>
        </p:nvSpPr>
        <p:spPr>
          <a:xfrm>
            <a:off x="8746541" y="4846320"/>
            <a:ext cx="2603906"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Full coverage</a:t>
            </a:r>
            <a:endParaRPr lang="en-US" sz="1300" dirty="0"/>
          </a:p>
        </p:txBody>
      </p:sp>
      <p:sp>
        <p:nvSpPr>
          <p:cNvPr id="49" name="Text 37"/>
          <p:cNvSpPr/>
          <p:nvPr/>
        </p:nvSpPr>
        <p:spPr>
          <a:xfrm>
            <a:off x="8060741" y="5532120"/>
            <a:ext cx="3472586" cy="594360"/>
          </a:xfrm>
          <a:prstGeom prst="rect">
            <a:avLst/>
          </a:prstGeom>
          <a:noFill/>
          <a:ln/>
        </p:spPr>
        <p:txBody>
          <a:bodyPr wrap="square" lIns="0" tIns="0" rIns="0" bIns="0" rtlCol="0" anchor="t"/>
          <a:lstStyle/>
          <a:p>
            <a:pPr indent="0" marL="0">
              <a:lnSpc>
                <a:spcPct val="103000"/>
              </a:lnSpc>
              <a:buNone/>
            </a:pPr>
            <a:r>
              <a:rPr lang="en-US" sz="1100" dirty="0">
                <a:solidFill>
                  <a:srgbClr val="C7D2E0"/>
                </a:solidFill>
                <a:latin typeface="Calibri" pitchFamily="34" charset="0"/>
                <a:ea typeface="Calibri" pitchFamily="34" charset="-122"/>
                <a:cs typeface="Calibri" pitchFamily="34" charset="-120"/>
              </a:rPr>
              <a:t>SYSTEM / SYSAUX / UNDO / TEMP paths documented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PICK PER DB SIZE, DOWNTIME &amp; STANDBY</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Four ways to encrypt existing data</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874520"/>
          <a:ext cx="11057839" cy="914400"/>
        </p:xfrm>
        <a:graphic>
          <a:graphicData uri="http://schemas.openxmlformats.org/drawingml/2006/table">
            <a:tbl>
              <a:tblPr/>
              <a:tblGrid>
                <a:gridCol w="2880360"/>
                <a:gridCol w="1371600"/>
                <a:gridCol w="1463040"/>
                <a:gridCol w="1463040"/>
                <a:gridCol w="3877056"/>
              </a:tblGrid>
              <a:tr h="457200">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Method</a:t>
                      </a:r>
                      <a:endParaRPr lang="en-US" sz="120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2223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Downtime</a:t>
                      </a:r>
                      <a:endParaRPr lang="en-US" sz="120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2223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Redo</a:t>
                      </a:r>
                      <a:endParaRPr lang="en-US" sz="120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2223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DG impact</a:t>
                      </a:r>
                      <a:endParaRPr lang="en-US" sz="120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2223F"/>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Best for</a:t>
                      </a:r>
                      <a:endParaRPr lang="en-US" sz="120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12223F"/>
                    </a:solidFill>
                  </a:tcPr>
                </a:tc>
              </a:tr>
              <a:tr h="749808">
                <a:tc>
                  <a:txBody>
                    <a:bodyPr/>
                    <a:lstStyle/>
                    <a:p>
                      <a:pPr algn="l" indent="0" marL="0">
                        <a:buNone/>
                      </a:pPr>
                      <a:r>
                        <a:rPr lang="en-US" sz="1150" b="1" dirty="0">
                          <a:solidFill>
                            <a:srgbClr val="1C2A3E"/>
                          </a:solidFill>
                          <a:latin typeface="Calibri" pitchFamily="34" charset="0"/>
                          <a:ea typeface="Calibri" pitchFamily="34" charset="-122"/>
                          <a:cs typeface="Calibri" pitchFamily="34" charset="-120"/>
                        </a:rPr>
                        <a:t>1 · Online tablespace encrypt</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5B"/>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C0392B"/>
                          </a:solidFill>
                          <a:latin typeface="Calibri" pitchFamily="34" charset="0"/>
                          <a:ea typeface="Calibri" pitchFamily="34" charset="-122"/>
                          <a:cs typeface="Calibri" pitchFamily="34" charset="-120"/>
                        </a:rPr>
                        <a:t>≈ full tbs size</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High</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A3E"/>
                          </a:solidFill>
                          <a:latin typeface="Calibri" pitchFamily="34" charset="0"/>
                          <a:ea typeface="Calibri" pitchFamily="34" charset="-122"/>
                          <a:cs typeface="Calibri" pitchFamily="34" charset="-120"/>
                        </a:rPr>
                        <a:t>Availability-critical DBs with space + redo headroom</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749808">
                <a:tc>
                  <a:txBody>
                    <a:bodyPr/>
                    <a:lstStyle/>
                    <a:p>
                      <a:pPr algn="l" indent="0" marL="0">
                        <a:buNone/>
                      </a:pPr>
                      <a:r>
                        <a:rPr lang="en-US" sz="1150" b="1" dirty="0">
                          <a:solidFill>
                            <a:srgbClr val="1C2A3E"/>
                          </a:solidFill>
                          <a:latin typeface="Calibri" pitchFamily="34" charset="0"/>
                          <a:ea typeface="Calibri" pitchFamily="34" charset="-122"/>
                          <a:cs typeface="Calibri" pitchFamily="34" charset="-120"/>
                        </a:rPr>
                        <a:t>2 · Offline conversion</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7D5B"/>
                          </a:solidFill>
                          <a:latin typeface="Calibri" pitchFamily="34" charset="0"/>
                          <a:ea typeface="Calibri" pitchFamily="34" charset="-122"/>
                          <a:cs typeface="Calibri" pitchFamily="34" charset="-120"/>
                        </a:rPr>
                        <a:t>Minimal</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7D5B"/>
                          </a:solidFill>
                          <a:latin typeface="Calibri" pitchFamily="34" charset="0"/>
                          <a:ea typeface="Calibri" pitchFamily="34" charset="-122"/>
                          <a:cs typeface="Calibri" pitchFamily="34" charset="-120"/>
                        </a:rPr>
                        <a:t>Low</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A3E"/>
                          </a:solidFill>
                          <a:latin typeface="Calibri" pitchFamily="34" charset="0"/>
                          <a:ea typeface="Calibri" pitchFamily="34" charset="-122"/>
                          <a:cs typeface="Calibri" pitchFamily="34" charset="-120"/>
                        </a:rPr>
                        <a:t>SYSTEM/SYSAUX/UNDO; the standby step of method 3</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749808">
                <a:tc>
                  <a:txBody>
                    <a:bodyPr/>
                    <a:lstStyle/>
                    <a:p>
                      <a:pPr algn="l" indent="0" marL="0">
                        <a:buNone/>
                      </a:pPr>
                      <a:r>
                        <a:rPr lang="en-US" sz="1150" b="1" dirty="0">
                          <a:solidFill>
                            <a:srgbClr val="9C6B12"/>
                          </a:solidFill>
                          <a:latin typeface="Calibri" pitchFamily="34" charset="0"/>
                          <a:ea typeface="Calibri" pitchFamily="34" charset="-122"/>
                          <a:cs typeface="Calibri" pitchFamily="34" charset="-120"/>
                        </a:rPr>
                        <a:t>3 · Standby-first</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2E7D5B"/>
                          </a:solidFill>
                          <a:latin typeface="Calibri" pitchFamily="34" charset="0"/>
                          <a:ea typeface="Calibri" pitchFamily="34" charset="-122"/>
                          <a:cs typeface="Calibri" pitchFamily="34" charset="-120"/>
                        </a:rPr>
                        <a:t>Near-zero</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E7D5B"/>
                          </a:solidFill>
                          <a:latin typeface="Calibri" pitchFamily="34" charset="0"/>
                          <a:ea typeface="Calibri" pitchFamily="34" charset="-122"/>
                          <a:cs typeface="Calibri" pitchFamily="34" charset="-120"/>
                        </a:rPr>
                        <a:t>Low / side</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9C6B12"/>
                          </a:solidFill>
                          <a:latin typeface="Calibri" pitchFamily="34" charset="0"/>
                          <a:ea typeface="Calibri" pitchFamily="34" charset="-122"/>
                          <a:cs typeface="Calibri" pitchFamily="34" charset="-120"/>
                        </a:rPr>
                        <a:t>Managed</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9C6B12"/>
                          </a:solidFill>
                          <a:latin typeface="Calibri" pitchFamily="34" charset="0"/>
                          <a:ea typeface="Calibri" pitchFamily="34" charset="-122"/>
                          <a:cs typeface="Calibri" pitchFamily="34" charset="-120"/>
                        </a:rPr>
                        <a:t>★ Fleet default for large DG-protected databases</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r h="749808">
                <a:tc>
                  <a:txBody>
                    <a:bodyPr/>
                    <a:lstStyle/>
                    <a:p>
                      <a:pPr algn="l" indent="0" marL="0">
                        <a:buNone/>
                      </a:pPr>
                      <a:r>
                        <a:rPr lang="en-US" sz="1150" b="1" dirty="0">
                          <a:solidFill>
                            <a:srgbClr val="1C2A3E"/>
                          </a:solidFill>
                          <a:latin typeface="Calibri" pitchFamily="34" charset="0"/>
                          <a:ea typeface="Calibri" pitchFamily="34" charset="-122"/>
                          <a:cs typeface="Calibri" pitchFamily="34" charset="-120"/>
                        </a:rPr>
                        <a:t>4 · Data Pump / RMAN rebuild</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C0392B"/>
                          </a:solidFill>
                          <a:latin typeface="Calibri" pitchFamily="34" charset="0"/>
                          <a:ea typeface="Calibri" pitchFamily="34" charset="-122"/>
                          <a:cs typeface="Calibri" pitchFamily="34" charset="-120"/>
                        </a:rPr>
                        <a:t>Yes</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2A3E"/>
                          </a:solidFill>
                          <a:latin typeface="Calibri" pitchFamily="34" charset="0"/>
                          <a:ea typeface="Calibri" pitchFamily="34" charset="-122"/>
                          <a:cs typeface="Calibri" pitchFamily="34" charset="-120"/>
                        </a:rPr>
                        <a:t>n/a (reload)</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C2A3E"/>
                          </a:solidFill>
                          <a:latin typeface="Calibri" pitchFamily="34" charset="0"/>
                          <a:ea typeface="Calibri" pitchFamily="34" charset="-122"/>
                          <a:cs typeface="Calibri" pitchFamily="34" charset="-120"/>
                        </a:rPr>
                        <a:t>Rebuild both</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C2A3E"/>
                          </a:solidFill>
                          <a:latin typeface="Calibri" pitchFamily="34" charset="0"/>
                          <a:ea typeface="Calibri" pitchFamily="34" charset="-122"/>
                          <a:cs typeface="Calibri" pitchFamily="34" charset="-120"/>
                        </a:rPr>
                        <a:t>Small DBs, or where a reorg is wanted anyway</a:t>
                      </a:r>
                      <a:endParaRPr lang="en-US" sz="1150" dirty="0">
                        <a:latin typeface="Calibri" charset="0"/>
                        <a:ea typeface="Calibri" charset="0"/>
                        <a:cs typeface="Calibri" charset="0"/>
                      </a:endParaRPr>
                    </a:p>
                  </a:txBody>
                  <a:tcPr marL="76200" marR="76200" marT="38100" marB="38100" anchor="ctr">
                    <a:lnL w="12700" cap="flat" cmpd="sng" algn="ctr">
                      <a:solidFill>
                        <a:srgbClr val="D8E0EA"/>
                      </a:solidFill>
                      <a:prstDash val="solid"/>
                      <a:round/>
                      <a:headEnd type="none" w="med" len="med"/>
                      <a:tailEnd type="none" w="med" len="med"/>
                    </a:lnL>
                    <a:lnR w="12700" cap="flat" cmpd="sng" algn="ctr">
                      <a:solidFill>
                        <a:srgbClr val="D8E0EA"/>
                      </a:solidFill>
                      <a:prstDash val="solid"/>
                      <a:round/>
                      <a:headEnd type="none" w="med" len="med"/>
                      <a:tailEnd type="none" w="med" len="med"/>
                    </a:lnR>
                    <a:lnT w="12700" cap="flat" cmpd="sng" algn="ctr">
                      <a:solidFill>
                        <a:srgbClr val="D8E0EA"/>
                      </a:solidFill>
                      <a:prstDash val="solid"/>
                      <a:round/>
                      <a:headEnd type="none" w="med" len="med"/>
                      <a:tailEnd type="none" w="med" len="med"/>
                    </a:lnT>
                    <a:lnB w="12700" cap="flat" cmpd="sng" algn="ctr">
                      <a:solidFill>
                        <a:srgbClr val="D8E0EA"/>
                      </a:solidFill>
                      <a:prstDash val="solid"/>
                      <a:round/>
                      <a:headEnd type="none" w="med" len="med"/>
                      <a:tailEnd type="none" w="med" len="med"/>
                    </a:lnB>
                    <a:solidFill>
                      <a:srgbClr val="FFFFFF"/>
                    </a:solidFill>
                  </a:tcPr>
                </a:tc>
              </a:tr>
            </a:tbl>
          </a:graphicData>
        </a:graphic>
      </p:graphicFrame>
      <p:sp>
        <p:nvSpPr>
          <p:cNvPr id="7" name="Shape 3"/>
          <p:cNvSpPr/>
          <p:nvPr/>
        </p:nvSpPr>
        <p:spPr>
          <a:xfrm>
            <a:off x="566928" y="5440680"/>
            <a:ext cx="11057839" cy="777240"/>
          </a:xfrm>
          <a:prstGeom prst="roundRect">
            <a:avLst>
              <a:gd name="adj" fmla="val 9412"/>
            </a:avLst>
          </a:prstGeom>
          <a:solidFill>
            <a:srgbClr val="FBF1DC"/>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8" name="Shape 4"/>
          <p:cNvSpPr/>
          <p:nvPr/>
        </p:nvSpPr>
        <p:spPr>
          <a:xfrm>
            <a:off x="822960" y="5559552"/>
            <a:ext cx="530352" cy="530352"/>
          </a:xfrm>
          <a:prstGeom prst="ellipse">
            <a:avLst/>
          </a:prstGeom>
          <a:solidFill>
            <a:srgbClr val="C6881B"/>
          </a:solidFill>
          <a:ln/>
        </p:spPr>
        <p:txBody>
          <a:bodyPr/>
          <a:p/>
        </p:txBody>
      </p:sp>
      <p:pic>
        <p:nvPicPr>
          <p:cNvPr id="9" name="Image 1" descr="preencoded.png">    </p:cNvPr>
          <p:cNvPicPr>
            <a:picLocks noChangeAspect="1"/>
          </p:cNvPicPr>
          <p:nvPr/>
        </p:nvPicPr>
        <p:blipFill>
          <a:blip r:embed="rId2"/>
          <a:stretch>
            <a:fillRect/>
          </a:stretch>
        </p:blipFill>
        <p:spPr>
          <a:xfrm>
            <a:off x="960852" y="5697444"/>
            <a:ext cx="254569" cy="254569"/>
          </a:xfrm>
          <a:prstGeom prst="rect">
            <a:avLst/>
          </a:prstGeom>
        </p:spPr>
      </p:pic>
      <p:sp>
        <p:nvSpPr>
          <p:cNvPr id="10" name="Text 5"/>
          <p:cNvSpPr/>
          <p:nvPr/>
        </p:nvSpPr>
        <p:spPr>
          <a:xfrm>
            <a:off x="1481328" y="5468112"/>
            <a:ext cx="9914839" cy="640080"/>
          </a:xfrm>
          <a:prstGeom prst="rect">
            <a:avLst/>
          </a:prstGeom>
          <a:noFill/>
          <a:ln/>
        </p:spPr>
        <p:txBody>
          <a:bodyPr wrap="square" lIns="0" tIns="0" rIns="0" bIns="0" rtlCol="0" anchor="ctr"/>
          <a:lstStyle/>
          <a:p>
            <a:pPr indent="0" marL="0">
              <a:lnSpc>
                <a:spcPct val="105000"/>
              </a:lnSpc>
              <a:buNone/>
            </a:pPr>
            <a:r>
              <a:rPr lang="en-US" sz="1230" b="1" dirty="0">
                <a:solidFill>
                  <a:srgbClr val="9C6B12"/>
                </a:solidFill>
                <a:latin typeface="Calibri" pitchFamily="34" charset="0"/>
                <a:ea typeface="Calibri" pitchFamily="34" charset="-122"/>
                <a:cs typeface="Calibri" pitchFamily="34" charset="-120"/>
              </a:rPr>
              <a:t>Online encryption generates redo ≈ the full tablespace size.  </a:t>
            </a:r>
            <a:pPr indent="0" marL="0">
              <a:lnSpc>
                <a:spcPct val="105000"/>
              </a:lnSpc>
              <a:buNone/>
            </a:pPr>
            <a:r>
              <a:rPr lang="en-US" sz="1230" dirty="0">
                <a:solidFill>
                  <a:srgbClr val="44586E"/>
                </a:solidFill>
                <a:latin typeface="Calibri" pitchFamily="34" charset="0"/>
                <a:ea typeface="Calibri" pitchFamily="34" charset="-122"/>
                <a:cs typeface="Calibri" pitchFamily="34" charset="-120"/>
              </a:rPr>
              <a:t>On a DG fleet that spikes archive volume, transport and standby apply — pace it one tablespace at a time and size archive + network first.</a:t>
            </a:r>
            <a:endParaRPr lang="en-US" sz="123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WHAT'S PROVEN, WHAT STILL NEEDS THE FLEET</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Validation status &amp; open caveats</a:t>
            </a:r>
            <a:endParaRPr lang="en-US" sz="2700" dirty="0"/>
          </a:p>
        </p:txBody>
      </p:sp>
      <p:sp>
        <p:nvSpPr>
          <p:cNvPr id="6" name="Shape 3"/>
          <p:cNvSpPr/>
          <p:nvPr/>
        </p:nvSpPr>
        <p:spPr>
          <a:xfrm>
            <a:off x="566928" y="1828800"/>
            <a:ext cx="5623560" cy="4389120"/>
          </a:xfrm>
          <a:prstGeom prst="roundRect">
            <a:avLst>
              <a:gd name="adj" fmla="val 1667"/>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841248" y="2084832"/>
            <a:ext cx="566928" cy="566928"/>
          </a:xfrm>
          <a:prstGeom prst="ellipse">
            <a:avLst/>
          </a:prstGeom>
          <a:solidFill>
            <a:srgbClr val="2E7D5B"/>
          </a:solidFill>
          <a:ln/>
        </p:spPr>
        <p:txBody>
          <a:bodyPr/>
          <a:p/>
        </p:txBody>
      </p:sp>
      <p:pic>
        <p:nvPicPr>
          <p:cNvPr id="8" name="Image 1" descr="preencoded.png">    </p:cNvPr>
          <p:cNvPicPr>
            <a:picLocks noChangeAspect="1"/>
          </p:cNvPicPr>
          <p:nvPr/>
        </p:nvPicPr>
        <p:blipFill>
          <a:blip r:embed="rId2"/>
          <a:stretch>
            <a:fillRect/>
          </a:stretch>
        </p:blipFill>
        <p:spPr>
          <a:xfrm>
            <a:off x="988649" y="2232233"/>
            <a:ext cx="272125" cy="272125"/>
          </a:xfrm>
          <a:prstGeom prst="rect">
            <a:avLst/>
          </a:prstGeom>
        </p:spPr>
      </p:pic>
      <p:sp>
        <p:nvSpPr>
          <p:cNvPr id="9" name="Text 5"/>
          <p:cNvSpPr/>
          <p:nvPr/>
        </p:nvSpPr>
        <p:spPr>
          <a:xfrm>
            <a:off x="1499616" y="2084832"/>
            <a:ext cx="4526280" cy="566928"/>
          </a:xfrm>
          <a:prstGeom prst="rect">
            <a:avLst/>
          </a:prstGeom>
          <a:noFill/>
          <a:ln/>
        </p:spPr>
        <p:txBody>
          <a:bodyPr wrap="square" lIns="0" tIns="0" rIns="0" bIns="0" rtlCol="0" anchor="ctr"/>
          <a:lstStyle/>
          <a:p>
            <a:pPr indent="0" marL="0">
              <a:buNone/>
            </a:pPr>
            <a:r>
              <a:rPr lang="en-US" sz="1800" b="1" dirty="0">
                <a:solidFill>
                  <a:srgbClr val="1C2A3E"/>
                </a:solidFill>
                <a:latin typeface="Cambria" pitchFamily="34" charset="0"/>
                <a:ea typeface="Cambria" pitchFamily="34" charset="-122"/>
                <a:cs typeface="Cambria" pitchFamily="34" charset="-120"/>
              </a:rPr>
              <a:t>Verified live</a:t>
            </a:r>
            <a:endParaRPr lang="en-US" sz="1800" dirty="0"/>
          </a:p>
        </p:txBody>
      </p:sp>
      <p:sp>
        <p:nvSpPr>
          <p:cNvPr id="10" name="Text 6"/>
          <p:cNvSpPr/>
          <p:nvPr/>
        </p:nvSpPr>
        <p:spPr>
          <a:xfrm>
            <a:off x="841248" y="2697480"/>
            <a:ext cx="5074920" cy="274320"/>
          </a:xfrm>
          <a:prstGeom prst="rect">
            <a:avLst/>
          </a:prstGeom>
          <a:noFill/>
          <a:ln/>
        </p:spPr>
        <p:txBody>
          <a:bodyPr wrap="square" lIns="0" tIns="0" rIns="0" bIns="0" rtlCol="0" anchor="ctr"/>
          <a:lstStyle/>
          <a:p>
            <a:pPr indent="0" marL="0">
              <a:buNone/>
            </a:pPr>
            <a:r>
              <a:rPr lang="en-US" sz="1150" i="1" dirty="0">
                <a:solidFill>
                  <a:srgbClr val="8194A8"/>
                </a:solidFill>
                <a:latin typeface="Calibri" pitchFamily="34" charset="0"/>
                <a:ea typeface="Calibri" pitchFamily="34" charset="-122"/>
                <a:cs typeface="Calibri" pitchFamily="34" charset="-120"/>
              </a:rPr>
              <a:t>19.27 Linux CDB test instance · 2026-07-07</a:t>
            </a:r>
            <a:endParaRPr lang="en-US" sz="1150" dirty="0"/>
          </a:p>
        </p:txBody>
      </p:sp>
      <p:pic>
        <p:nvPicPr>
          <p:cNvPr id="11" name="Image 2" descr="preencoded.png">    </p:cNvPr>
          <p:cNvPicPr>
            <a:picLocks noChangeAspect="1"/>
          </p:cNvPicPr>
          <p:nvPr/>
        </p:nvPicPr>
        <p:blipFill>
          <a:blip r:embed="rId3"/>
          <a:stretch>
            <a:fillRect/>
          </a:stretch>
        </p:blipFill>
        <p:spPr>
          <a:xfrm>
            <a:off x="859536" y="3099816"/>
            <a:ext cx="201168" cy="201168"/>
          </a:xfrm>
          <a:prstGeom prst="rect">
            <a:avLst/>
          </a:prstGeom>
        </p:spPr>
      </p:pic>
      <p:sp>
        <p:nvSpPr>
          <p:cNvPr id="12" name="Text 7"/>
          <p:cNvSpPr/>
          <p:nvPr/>
        </p:nvSpPr>
        <p:spPr>
          <a:xfrm>
            <a:off x="1170432" y="3026664"/>
            <a:ext cx="4754880" cy="548640"/>
          </a:xfrm>
          <a:prstGeom prst="rect">
            <a:avLst/>
          </a:prstGeom>
          <a:noFill/>
          <a:ln/>
        </p:spPr>
        <p:txBody>
          <a:bodyPr wrap="square" lIns="0" tIns="0" rIns="0" bIns="0" rtlCol="0" anchor="t"/>
          <a:lstStyle/>
          <a:p>
            <a:pPr indent="0" marL="0">
              <a:lnSpc>
                <a:spcPct val="103000"/>
              </a:lnSpc>
              <a:buNone/>
            </a:pPr>
            <a:r>
              <a:rPr lang="en-US" sz="1230" dirty="0">
                <a:solidFill>
                  <a:srgbClr val="44586E"/>
                </a:solidFill>
                <a:latin typeface="Calibri" pitchFamily="34" charset="0"/>
                <a:ea typeface="Calibri" pitchFamily="34" charset="-122"/>
                <a:cs typeface="Calibri" pitchFamily="34" charset="-120"/>
              </a:rPr>
              <a:t>Full chain 01 → 02 → online encrypt → 04 → 05 ran end-to-end</a:t>
            </a:r>
            <a:endParaRPr lang="en-US" sz="1230" dirty="0"/>
          </a:p>
        </p:txBody>
      </p:sp>
      <p:pic>
        <p:nvPicPr>
          <p:cNvPr id="13" name="Image 3" descr="preencoded.png">    </p:cNvPr>
          <p:cNvPicPr>
            <a:picLocks noChangeAspect="1"/>
          </p:cNvPicPr>
          <p:nvPr/>
        </p:nvPicPr>
        <p:blipFill>
          <a:blip r:embed="rId4"/>
          <a:stretch>
            <a:fillRect/>
          </a:stretch>
        </p:blipFill>
        <p:spPr>
          <a:xfrm>
            <a:off x="859536" y="3721608"/>
            <a:ext cx="201168" cy="201168"/>
          </a:xfrm>
          <a:prstGeom prst="rect">
            <a:avLst/>
          </a:prstGeom>
        </p:spPr>
      </p:pic>
      <p:sp>
        <p:nvSpPr>
          <p:cNvPr id="14" name="Text 8"/>
          <p:cNvSpPr/>
          <p:nvPr/>
        </p:nvSpPr>
        <p:spPr>
          <a:xfrm>
            <a:off x="1170432" y="3648456"/>
            <a:ext cx="4754880" cy="548640"/>
          </a:xfrm>
          <a:prstGeom prst="rect">
            <a:avLst/>
          </a:prstGeom>
          <a:noFill/>
          <a:ln/>
        </p:spPr>
        <p:txBody>
          <a:bodyPr wrap="square" lIns="0" tIns="0" rIns="0" bIns="0" rtlCol="0" anchor="t"/>
          <a:lstStyle/>
          <a:p>
            <a:pPr indent="0" marL="0">
              <a:lnSpc>
                <a:spcPct val="103000"/>
              </a:lnSpc>
              <a:buNone/>
            </a:pPr>
            <a:r>
              <a:rPr lang="en-US" sz="1230" dirty="0">
                <a:solidFill>
                  <a:srgbClr val="44586E"/>
                </a:solidFill>
                <a:latin typeface="Calibri" pitchFamily="34" charset="0"/>
                <a:ea typeface="Calibri" pitchFamily="34" charset="-122"/>
                <a:cs typeface="Calibri" pitchFamily="34" charset="-120"/>
              </a:rPr>
              <a:t>United (per-PDB MEK) + isolated both work — FORCE ISOLATE / UNITE verified on 19.27</a:t>
            </a:r>
            <a:endParaRPr lang="en-US" sz="1230" dirty="0"/>
          </a:p>
        </p:txBody>
      </p:sp>
      <p:pic>
        <p:nvPicPr>
          <p:cNvPr id="15" name="Image 4" descr="preencoded.png">    </p:cNvPr>
          <p:cNvPicPr>
            <a:picLocks noChangeAspect="1"/>
          </p:cNvPicPr>
          <p:nvPr/>
        </p:nvPicPr>
        <p:blipFill>
          <a:blip r:embed="rId5"/>
          <a:stretch>
            <a:fillRect/>
          </a:stretch>
        </p:blipFill>
        <p:spPr>
          <a:xfrm>
            <a:off x="859536" y="4343400"/>
            <a:ext cx="201168" cy="201168"/>
          </a:xfrm>
          <a:prstGeom prst="rect">
            <a:avLst/>
          </a:prstGeom>
        </p:spPr>
      </p:pic>
      <p:sp>
        <p:nvSpPr>
          <p:cNvPr id="16" name="Text 9"/>
          <p:cNvSpPr/>
          <p:nvPr/>
        </p:nvSpPr>
        <p:spPr>
          <a:xfrm>
            <a:off x="1170432" y="4270248"/>
            <a:ext cx="4754880" cy="548640"/>
          </a:xfrm>
          <a:prstGeom prst="rect">
            <a:avLst/>
          </a:prstGeom>
          <a:noFill/>
          <a:ln/>
        </p:spPr>
        <p:txBody>
          <a:bodyPr wrap="square" lIns="0" tIns="0" rIns="0" bIns="0" rtlCol="0" anchor="t"/>
          <a:lstStyle/>
          <a:p>
            <a:pPr indent="0" marL="0">
              <a:lnSpc>
                <a:spcPct val="103000"/>
              </a:lnSpc>
              <a:buNone/>
            </a:pPr>
            <a:r>
              <a:rPr lang="en-US" sz="1230" dirty="0">
                <a:solidFill>
                  <a:srgbClr val="44586E"/>
                </a:solidFill>
                <a:latin typeface="Calibri" pitchFamily="34" charset="0"/>
                <a:ea typeface="Calibri" pitchFamily="34" charset="-122"/>
                <a:cs typeface="Calibri" pitchFamily="34" charset="-120"/>
              </a:rPr>
              <a:t>Non-local auto-login opens OPEN / AUTOLOGIN after restart</a:t>
            </a:r>
            <a:endParaRPr lang="en-US" sz="1230" dirty="0"/>
          </a:p>
        </p:txBody>
      </p:sp>
      <p:pic>
        <p:nvPicPr>
          <p:cNvPr id="17" name="Image 5" descr="preencoded.png">    </p:cNvPr>
          <p:cNvPicPr>
            <a:picLocks noChangeAspect="1"/>
          </p:cNvPicPr>
          <p:nvPr/>
        </p:nvPicPr>
        <p:blipFill>
          <a:blip r:embed="rId6"/>
          <a:stretch>
            <a:fillRect/>
          </a:stretch>
        </p:blipFill>
        <p:spPr>
          <a:xfrm>
            <a:off x="859536" y="4965192"/>
            <a:ext cx="201168" cy="201168"/>
          </a:xfrm>
          <a:prstGeom prst="rect">
            <a:avLst/>
          </a:prstGeom>
        </p:spPr>
      </p:pic>
      <p:sp>
        <p:nvSpPr>
          <p:cNvPr id="18" name="Text 10"/>
          <p:cNvSpPr/>
          <p:nvPr/>
        </p:nvSpPr>
        <p:spPr>
          <a:xfrm>
            <a:off x="1170432" y="4892040"/>
            <a:ext cx="4754880" cy="548640"/>
          </a:xfrm>
          <a:prstGeom prst="rect">
            <a:avLst/>
          </a:prstGeom>
          <a:noFill/>
          <a:ln/>
        </p:spPr>
        <p:txBody>
          <a:bodyPr wrap="square" lIns="0" tIns="0" rIns="0" bIns="0" rtlCol="0" anchor="t"/>
          <a:lstStyle/>
          <a:p>
            <a:pPr indent="0" marL="0">
              <a:lnSpc>
                <a:spcPct val="103000"/>
              </a:lnSpc>
              <a:buNone/>
            </a:pPr>
            <a:r>
              <a:rPr lang="en-US" sz="1230" dirty="0">
                <a:solidFill>
                  <a:srgbClr val="44586E"/>
                </a:solidFill>
                <a:latin typeface="Calibri" pitchFamily="34" charset="0"/>
                <a:ea typeface="Calibri" pitchFamily="34" charset="-122"/>
                <a:cs typeface="Calibri" pitchFamily="34" charset="-120"/>
              </a:rPr>
              <a:t>FILE_NAME_CONVERT=NONE fails on OMF (ORA-28437) — omit it</a:t>
            </a:r>
            <a:endParaRPr lang="en-US" sz="1230" dirty="0"/>
          </a:p>
        </p:txBody>
      </p:sp>
      <p:pic>
        <p:nvPicPr>
          <p:cNvPr id="19" name="Image 6" descr="preencoded.png">    </p:cNvPr>
          <p:cNvPicPr>
            <a:picLocks noChangeAspect="1"/>
          </p:cNvPicPr>
          <p:nvPr/>
        </p:nvPicPr>
        <p:blipFill>
          <a:blip r:embed="rId7"/>
          <a:stretch>
            <a:fillRect/>
          </a:stretch>
        </p:blipFill>
        <p:spPr>
          <a:xfrm>
            <a:off x="859536" y="5586984"/>
            <a:ext cx="201168" cy="201168"/>
          </a:xfrm>
          <a:prstGeom prst="rect">
            <a:avLst/>
          </a:prstGeom>
        </p:spPr>
      </p:pic>
      <p:sp>
        <p:nvSpPr>
          <p:cNvPr id="20" name="Text 11"/>
          <p:cNvSpPr/>
          <p:nvPr/>
        </p:nvSpPr>
        <p:spPr>
          <a:xfrm>
            <a:off x="1170432" y="5513832"/>
            <a:ext cx="4754880" cy="548640"/>
          </a:xfrm>
          <a:prstGeom prst="rect">
            <a:avLst/>
          </a:prstGeom>
          <a:noFill/>
          <a:ln/>
        </p:spPr>
        <p:txBody>
          <a:bodyPr wrap="square" lIns="0" tIns="0" rIns="0" bIns="0" rtlCol="0" anchor="t"/>
          <a:lstStyle/>
          <a:p>
            <a:pPr indent="0" marL="0">
              <a:lnSpc>
                <a:spcPct val="103000"/>
              </a:lnSpc>
              <a:buNone/>
            </a:pPr>
            <a:r>
              <a:rPr lang="en-US" sz="1230" dirty="0">
                <a:solidFill>
                  <a:srgbClr val="44586E"/>
                </a:solidFill>
                <a:latin typeface="Calibri" pitchFamily="34" charset="0"/>
                <a:ea typeface="Calibri" pitchFamily="34" charset="-122"/>
                <a:cs typeface="Calibri" pitchFamily="34" charset="-120"/>
              </a:rPr>
              <a:t>CONTAINER=ALL rotation works but leaves keys UNTAGGED</a:t>
            </a:r>
            <a:endParaRPr lang="en-US" sz="1230" dirty="0"/>
          </a:p>
        </p:txBody>
      </p:sp>
      <p:sp>
        <p:nvSpPr>
          <p:cNvPr id="21" name="Shape 12"/>
          <p:cNvSpPr/>
          <p:nvPr/>
        </p:nvSpPr>
        <p:spPr>
          <a:xfrm>
            <a:off x="6510528" y="1828800"/>
            <a:ext cx="5114239" cy="4389120"/>
          </a:xfrm>
          <a:prstGeom prst="roundRect">
            <a:avLst>
              <a:gd name="adj" fmla="val 1667"/>
            </a:avLst>
          </a:prstGeom>
          <a:solidFill>
            <a:srgbClr val="FBF1DC"/>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3"/>
          <p:cNvSpPr/>
          <p:nvPr/>
        </p:nvSpPr>
        <p:spPr>
          <a:xfrm>
            <a:off x="6784848" y="2084832"/>
            <a:ext cx="566928" cy="566928"/>
          </a:xfrm>
          <a:prstGeom prst="ellipse">
            <a:avLst/>
          </a:prstGeom>
          <a:solidFill>
            <a:srgbClr val="C6881B"/>
          </a:solidFill>
          <a:ln/>
        </p:spPr>
        <p:txBody>
          <a:bodyPr/>
          <a:p/>
        </p:txBody>
      </p:sp>
      <p:pic>
        <p:nvPicPr>
          <p:cNvPr id="23" name="Image 7" descr="preencoded.png">    </p:cNvPr>
          <p:cNvPicPr>
            <a:picLocks noChangeAspect="1"/>
          </p:cNvPicPr>
          <p:nvPr/>
        </p:nvPicPr>
        <p:blipFill>
          <a:blip r:embed="rId8"/>
          <a:stretch>
            <a:fillRect/>
          </a:stretch>
        </p:blipFill>
        <p:spPr>
          <a:xfrm>
            <a:off x="6932249" y="2232233"/>
            <a:ext cx="272125" cy="272125"/>
          </a:xfrm>
          <a:prstGeom prst="rect">
            <a:avLst/>
          </a:prstGeom>
        </p:spPr>
      </p:pic>
      <p:sp>
        <p:nvSpPr>
          <p:cNvPr id="24" name="Text 14"/>
          <p:cNvSpPr/>
          <p:nvPr/>
        </p:nvSpPr>
        <p:spPr>
          <a:xfrm>
            <a:off x="7443216" y="2084832"/>
            <a:ext cx="4016959" cy="566928"/>
          </a:xfrm>
          <a:prstGeom prst="rect">
            <a:avLst/>
          </a:prstGeom>
          <a:noFill/>
          <a:ln/>
        </p:spPr>
        <p:txBody>
          <a:bodyPr wrap="square" lIns="0" tIns="0" rIns="0" bIns="0" rtlCol="0" anchor="ctr"/>
          <a:lstStyle/>
          <a:p>
            <a:pPr indent="0" marL="0">
              <a:buNone/>
            </a:pPr>
            <a:r>
              <a:rPr lang="en-US" sz="1650" b="1" dirty="0">
                <a:solidFill>
                  <a:srgbClr val="1C2A3E"/>
                </a:solidFill>
                <a:latin typeface="Cambria" pitchFamily="34" charset="0"/>
                <a:ea typeface="Cambria" pitchFamily="34" charset="-122"/>
                <a:cs typeface="Cambria" pitchFamily="34" charset="-120"/>
              </a:rPr>
              <a:t>Still open — confirm at fleet RU / on AIX</a:t>
            </a:r>
            <a:endParaRPr lang="en-US" sz="1650" dirty="0"/>
          </a:p>
        </p:txBody>
      </p:sp>
      <p:sp>
        <p:nvSpPr>
          <p:cNvPr id="25" name="Text 15"/>
          <p:cNvSpPr/>
          <p:nvPr/>
        </p:nvSpPr>
        <p:spPr>
          <a:xfrm>
            <a:off x="6784848" y="3017520"/>
            <a:ext cx="320040" cy="320040"/>
          </a:xfrm>
          <a:prstGeom prst="rect">
            <a:avLst/>
          </a:prstGeom>
          <a:noFill/>
          <a:ln/>
        </p:spPr>
        <p:txBody>
          <a:bodyPr wrap="square" lIns="0" tIns="0" rIns="0" bIns="0" rtlCol="0" anchor="ctr"/>
          <a:lstStyle/>
          <a:p>
            <a:pPr indent="0" marL="0">
              <a:buNone/>
            </a:pPr>
            <a:r>
              <a:rPr lang="en-US" sz="1500" b="1" dirty="0">
                <a:solidFill>
                  <a:srgbClr val="9C6B12"/>
                </a:solidFill>
                <a:latin typeface="Cambria" pitchFamily="34" charset="0"/>
                <a:ea typeface="Cambria" pitchFamily="34" charset="-122"/>
                <a:cs typeface="Cambria" pitchFamily="34" charset="-120"/>
              </a:rPr>
              <a:t>1</a:t>
            </a:r>
            <a:endParaRPr lang="en-US" sz="1500" dirty="0"/>
          </a:p>
        </p:txBody>
      </p:sp>
      <p:sp>
        <p:nvSpPr>
          <p:cNvPr id="26" name="Text 16"/>
          <p:cNvSpPr/>
          <p:nvPr/>
        </p:nvSpPr>
        <p:spPr>
          <a:xfrm>
            <a:off x="7132320" y="2980944"/>
            <a:ext cx="4245559" cy="777240"/>
          </a:xfrm>
          <a:prstGeom prst="rect">
            <a:avLst/>
          </a:prstGeom>
          <a:noFill/>
          <a:ln/>
        </p:spPr>
        <p:txBody>
          <a:bodyPr wrap="square" lIns="0" tIns="0" rIns="0" bIns="0" rtlCol="0" anchor="t"/>
          <a:lstStyle/>
          <a:p>
            <a:pPr indent="0" marL="0">
              <a:lnSpc>
                <a:spcPct val="104000"/>
              </a:lnSpc>
              <a:buNone/>
            </a:pPr>
            <a:r>
              <a:rPr lang="en-US" sz="1200" b="1" dirty="0">
                <a:solidFill>
                  <a:srgbClr val="1C2A3E"/>
                </a:solidFill>
                <a:latin typeface="Calibri" pitchFamily="34" charset="0"/>
                <a:ea typeface="Calibri" pitchFamily="34" charset="-122"/>
                <a:cs typeface="Calibri" pitchFamily="34" charset="-120"/>
              </a:rPr>
              <a:t>AIX/POWER crypto for TDE  </a:t>
            </a:r>
            <a:pPr indent="0" marL="0">
              <a:lnSpc>
                <a:spcPct val="104000"/>
              </a:lnSpc>
              <a:buNone/>
            </a:pPr>
            <a:r>
              <a:rPr lang="en-US" sz="1200" dirty="0">
                <a:solidFill>
                  <a:srgbClr val="44586E"/>
                </a:solidFill>
                <a:latin typeface="Calibri" pitchFamily="34" charset="0"/>
                <a:ea typeface="Calibri" pitchFamily="34" charset="-122"/>
                <a:cs typeface="Calibri" pitchFamily="34" charset="-120"/>
              </a:rPr>
              <a:t>— Don't assume free HW acceleration — benchmark overhead in the pilot</a:t>
            </a:r>
            <a:endParaRPr lang="en-US" sz="1200" dirty="0"/>
          </a:p>
        </p:txBody>
      </p:sp>
      <p:sp>
        <p:nvSpPr>
          <p:cNvPr id="29" name="Text 19"/>
          <p:cNvSpPr/>
          <p:nvPr/>
        </p:nvSpPr>
        <p:spPr>
          <a:xfrm>
            <a:off x="6784848" y="4069080"/>
            <a:ext cx="320040" cy="320040"/>
          </a:xfrm>
          <a:prstGeom prst="rect">
            <a:avLst/>
          </a:prstGeom>
          <a:noFill/>
          <a:ln/>
        </p:spPr>
        <p:txBody>
          <a:bodyPr wrap="square" lIns="0" tIns="0" rIns="0" bIns="0" rtlCol="0" anchor="ctr"/>
          <a:lstStyle/>
          <a:p>
            <a:pPr indent="0" marL="0">
              <a:buNone/>
            </a:pPr>
            <a:r>
              <a:rPr lang="en-US" sz="1500" b="1" dirty="0">
                <a:solidFill>
                  <a:srgbClr val="9C6B12"/>
                </a:solidFill>
                <a:latin typeface="Cambria" pitchFamily="34" charset="0"/>
                <a:ea typeface="Cambria" pitchFamily="34" charset="-122"/>
                <a:cs typeface="Cambria" pitchFamily="34" charset="-120"/>
              </a:rPr>
              <a:t>2</a:t>
            </a:r>
            <a:endParaRPr lang="en-US" sz="1500" dirty="0"/>
          </a:p>
        </p:txBody>
      </p:sp>
      <p:sp>
        <p:nvSpPr>
          <p:cNvPr id="30" name="Text 20"/>
          <p:cNvSpPr/>
          <p:nvPr/>
        </p:nvSpPr>
        <p:spPr>
          <a:xfrm>
            <a:off x="7132320" y="4032504"/>
            <a:ext cx="4245559" cy="777240"/>
          </a:xfrm>
          <a:prstGeom prst="rect">
            <a:avLst/>
          </a:prstGeom>
          <a:noFill/>
          <a:ln/>
        </p:spPr>
        <p:txBody>
          <a:bodyPr wrap="square" lIns="0" tIns="0" rIns="0" bIns="0" rtlCol="0" anchor="t"/>
          <a:lstStyle/>
          <a:p>
            <a:pPr indent="0" marL="0">
              <a:lnSpc>
                <a:spcPct val="104000"/>
              </a:lnSpc>
              <a:buNone/>
            </a:pPr>
            <a:r>
              <a:rPr lang="en-US" sz="1200" b="1" dirty="0">
                <a:solidFill>
                  <a:srgbClr val="1C2A3E"/>
                </a:solidFill>
                <a:latin typeface="Calibri" pitchFamily="34" charset="0"/>
                <a:ea typeface="Calibri" pitchFamily="34" charset="-122"/>
                <a:cs typeface="Calibri" pitchFamily="34" charset="-120"/>
              </a:rPr>
              <a:t>Standby-first sequencing  </a:t>
            </a:r>
            <a:pPr indent="0" marL="0">
              <a:lnSpc>
                <a:spcPct val="104000"/>
              </a:lnSpc>
              <a:buNone/>
            </a:pPr>
            <a:r>
              <a:rPr lang="en-US" sz="1200" dirty="0">
                <a:solidFill>
                  <a:srgbClr val="44586E"/>
                </a:solidFill>
                <a:latin typeface="Calibri" pitchFamily="34" charset="0"/>
                <a:ea typeface="Calibri" pitchFamily="34" charset="-122"/>
                <a:cs typeface="Calibri" pitchFamily="34" charset="-120"/>
              </a:rPr>
              <a:t>— Follow the current MOS note for your exact RU</a:t>
            </a:r>
            <a:endParaRPr lang="en-US" sz="1200" dirty="0"/>
          </a:p>
        </p:txBody>
      </p:sp>
      <p:sp>
        <p:nvSpPr>
          <p:cNvPr id="31" name="Text 21"/>
          <p:cNvSpPr/>
          <p:nvPr/>
        </p:nvSpPr>
        <p:spPr>
          <a:xfrm>
            <a:off x="6784848" y="5120640"/>
            <a:ext cx="320040" cy="320040"/>
          </a:xfrm>
          <a:prstGeom prst="rect">
            <a:avLst/>
          </a:prstGeom>
          <a:noFill/>
          <a:ln/>
        </p:spPr>
        <p:txBody>
          <a:bodyPr wrap="square" lIns="0" tIns="0" rIns="0" bIns="0" rtlCol="0" anchor="ctr"/>
          <a:lstStyle/>
          <a:p>
            <a:pPr indent="0" marL="0">
              <a:buNone/>
            </a:pPr>
            <a:r>
              <a:rPr lang="en-US" sz="1500" b="1" dirty="0">
                <a:solidFill>
                  <a:srgbClr val="9C6B12"/>
                </a:solidFill>
                <a:latin typeface="Cambria" pitchFamily="34" charset="0"/>
                <a:ea typeface="Cambria" pitchFamily="34" charset="-122"/>
                <a:cs typeface="Cambria" pitchFamily="34" charset="-120"/>
              </a:rPr>
              <a:t>3</a:t>
            </a:r>
            <a:endParaRPr lang="en-US" sz="1500" dirty="0"/>
          </a:p>
        </p:txBody>
      </p:sp>
      <p:sp>
        <p:nvSpPr>
          <p:cNvPr id="32" name="Text 22"/>
          <p:cNvSpPr/>
          <p:nvPr/>
        </p:nvSpPr>
        <p:spPr>
          <a:xfrm>
            <a:off x="7132320" y="5084064"/>
            <a:ext cx="4245559" cy="777240"/>
          </a:xfrm>
          <a:prstGeom prst="rect">
            <a:avLst/>
          </a:prstGeom>
          <a:noFill/>
          <a:ln/>
        </p:spPr>
        <p:txBody>
          <a:bodyPr wrap="square" lIns="0" tIns="0" rIns="0" bIns="0" rtlCol="0" anchor="t"/>
          <a:lstStyle/>
          <a:p>
            <a:pPr indent="0" marL="0">
              <a:lnSpc>
                <a:spcPct val="104000"/>
              </a:lnSpc>
              <a:buNone/>
            </a:pPr>
            <a:r>
              <a:rPr lang="en-US" sz="1200" b="1" dirty="0">
                <a:solidFill>
                  <a:srgbClr val="1C2A3E"/>
                </a:solidFill>
                <a:latin typeface="Calibri" pitchFamily="34" charset="0"/>
                <a:ea typeface="Calibri" pitchFamily="34" charset="-122"/>
                <a:cs typeface="Calibri" pitchFamily="34" charset="-120"/>
              </a:rPr>
              <a:t>UNDO encryption path  </a:t>
            </a:r>
            <a:pPr indent="0" marL="0">
              <a:lnSpc>
                <a:spcPct val="104000"/>
              </a:lnSpc>
              <a:buNone/>
            </a:pPr>
            <a:r>
              <a:rPr lang="en-US" sz="1200" dirty="0">
                <a:solidFill>
                  <a:srgbClr val="44586E"/>
                </a:solidFill>
                <a:latin typeface="Calibri" pitchFamily="34" charset="0"/>
                <a:ea typeface="Calibri" pitchFamily="34" charset="-122"/>
                <a:cs typeface="Calibri" pitchFamily="34" charset="-120"/>
              </a:rPr>
              <a:t>— Prefer recreate-and-swap regardless of RU</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WHAT WE NEED TO PROCEED</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TDE — action points</a:t>
            </a:r>
            <a:endParaRPr lang="en-US" sz="2700" dirty="0"/>
          </a:p>
        </p:txBody>
      </p:sp>
      <p:sp>
        <p:nvSpPr>
          <p:cNvPr id="6" name="Shape 3"/>
          <p:cNvSpPr/>
          <p:nvPr/>
        </p:nvSpPr>
        <p:spPr>
          <a:xfrm>
            <a:off x="56692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768096" y="2048256"/>
            <a:ext cx="457200" cy="457200"/>
          </a:xfrm>
          <a:prstGeom prst="ellipse">
            <a:avLst/>
          </a:prstGeom>
          <a:solidFill>
            <a:srgbClr val="C6881B"/>
          </a:solidFill>
          <a:ln/>
        </p:spPr>
        <p:txBody>
          <a:bodyPr/>
          <a:p/>
        </p:txBody>
      </p:sp>
      <p:sp>
        <p:nvSpPr>
          <p:cNvPr id="8" name="Text 5"/>
          <p:cNvSpPr/>
          <p:nvPr/>
        </p:nvSpPr>
        <p:spPr>
          <a:xfrm>
            <a:off x="76809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34416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Key custody &amp; vaulting</a:t>
            </a:r>
            <a:endParaRPr lang="en-US" sz="1550" dirty="0"/>
          </a:p>
        </p:txBody>
      </p:sp>
      <p:sp>
        <p:nvSpPr>
          <p:cNvPr id="10" name="Text 7"/>
          <p:cNvSpPr/>
          <p:nvPr/>
        </p:nvSpPr>
        <p:spPr>
          <a:xfrm>
            <a:off x="134416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Confirm keystore passwords go in the CyberArk-style vault with custody separated from the DBA (PCI/DORA).</a:t>
            </a:r>
            <a:endParaRPr lang="en-US" sz="1180" dirty="0"/>
          </a:p>
        </p:txBody>
      </p:sp>
      <p:sp>
        <p:nvSpPr>
          <p:cNvPr id="11" name="Shape 8"/>
          <p:cNvSpPr/>
          <p:nvPr/>
        </p:nvSpPr>
        <p:spPr>
          <a:xfrm>
            <a:off x="625586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9"/>
          <p:cNvSpPr/>
          <p:nvPr/>
        </p:nvSpPr>
        <p:spPr>
          <a:xfrm>
            <a:off x="6457036" y="2048256"/>
            <a:ext cx="457200" cy="457200"/>
          </a:xfrm>
          <a:prstGeom prst="ellipse">
            <a:avLst/>
          </a:prstGeom>
          <a:solidFill>
            <a:srgbClr val="C6881B"/>
          </a:solidFill>
          <a:ln/>
        </p:spPr>
        <p:txBody>
          <a:bodyPr/>
          <a:p/>
        </p:txBody>
      </p:sp>
      <p:sp>
        <p:nvSpPr>
          <p:cNvPr id="13" name="Text 10"/>
          <p:cNvSpPr/>
          <p:nvPr/>
        </p:nvSpPr>
        <p:spPr>
          <a:xfrm>
            <a:off x="645703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703310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Keystore backup pipeline</a:t>
            </a:r>
            <a:endParaRPr lang="en-US" sz="1550" dirty="0"/>
          </a:p>
        </p:txBody>
      </p:sp>
      <p:sp>
        <p:nvSpPr>
          <p:cNvPr id="15" name="Text 12"/>
          <p:cNvSpPr/>
          <p:nvPr/>
        </p:nvSpPr>
        <p:spPr>
          <a:xfrm>
            <a:off x="703310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Stand up wallet backups stored separately from DB backups; verify a test-restore. Key = data.</a:t>
            </a:r>
            <a:endParaRPr lang="en-US" sz="1180" dirty="0"/>
          </a:p>
        </p:txBody>
      </p:sp>
      <p:sp>
        <p:nvSpPr>
          <p:cNvPr id="16" name="Shape 13"/>
          <p:cNvSpPr/>
          <p:nvPr/>
        </p:nvSpPr>
        <p:spPr>
          <a:xfrm>
            <a:off x="56692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4"/>
          <p:cNvSpPr/>
          <p:nvPr/>
        </p:nvSpPr>
        <p:spPr>
          <a:xfrm>
            <a:off x="768096" y="3465576"/>
            <a:ext cx="457200" cy="457200"/>
          </a:xfrm>
          <a:prstGeom prst="ellipse">
            <a:avLst/>
          </a:prstGeom>
          <a:solidFill>
            <a:srgbClr val="C6881B"/>
          </a:solidFill>
          <a:ln/>
        </p:spPr>
        <p:txBody>
          <a:bodyPr/>
          <a:p/>
        </p:txBody>
      </p:sp>
      <p:sp>
        <p:nvSpPr>
          <p:cNvPr id="18" name="Text 15"/>
          <p:cNvSpPr/>
          <p:nvPr/>
        </p:nvSpPr>
        <p:spPr>
          <a:xfrm>
            <a:off x="76809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134416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Pilot performance baseline</a:t>
            </a:r>
            <a:endParaRPr lang="en-US" sz="1550" dirty="0"/>
          </a:p>
        </p:txBody>
      </p:sp>
      <p:sp>
        <p:nvSpPr>
          <p:cNvPr id="20" name="Text 17"/>
          <p:cNvSpPr/>
          <p:nvPr/>
        </p:nvSpPr>
        <p:spPr>
          <a:xfrm>
            <a:off x="134416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Agree measurements on AIX/POWER: batch elapsed, standby apply rate, RMAN duration, OLTP latency.</a:t>
            </a:r>
            <a:endParaRPr lang="en-US" sz="1180" dirty="0"/>
          </a:p>
        </p:txBody>
      </p:sp>
      <p:sp>
        <p:nvSpPr>
          <p:cNvPr id="21" name="Shape 18"/>
          <p:cNvSpPr/>
          <p:nvPr/>
        </p:nvSpPr>
        <p:spPr>
          <a:xfrm>
            <a:off x="625586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9"/>
          <p:cNvSpPr/>
          <p:nvPr/>
        </p:nvSpPr>
        <p:spPr>
          <a:xfrm>
            <a:off x="6457036" y="3465576"/>
            <a:ext cx="457200" cy="457200"/>
          </a:xfrm>
          <a:prstGeom prst="ellipse">
            <a:avLst/>
          </a:prstGeom>
          <a:solidFill>
            <a:srgbClr val="C6881B"/>
          </a:solidFill>
          <a:ln/>
        </p:spPr>
        <p:txBody>
          <a:bodyPr/>
          <a:p/>
        </p:txBody>
      </p:sp>
      <p:sp>
        <p:nvSpPr>
          <p:cNvPr id="23" name="Text 20"/>
          <p:cNvSpPr/>
          <p:nvPr/>
        </p:nvSpPr>
        <p:spPr>
          <a:xfrm>
            <a:off x="645703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1"/>
          <p:cNvSpPr/>
          <p:nvPr/>
        </p:nvSpPr>
        <p:spPr>
          <a:xfrm>
            <a:off x="703310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OKV business case</a:t>
            </a:r>
            <a:endParaRPr lang="en-US" sz="1550" dirty="0"/>
          </a:p>
        </p:txBody>
      </p:sp>
      <p:sp>
        <p:nvSpPr>
          <p:cNvPr id="25" name="Text 22"/>
          <p:cNvSpPr/>
          <p:nvPr/>
        </p:nvSpPr>
        <p:spPr>
          <a:xfrm>
            <a:off x="703310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Decide timing to license + cluster OKV; until then we run standardised local keystores.</a:t>
            </a:r>
            <a:endParaRPr lang="en-US" sz="1180" dirty="0"/>
          </a:p>
        </p:txBody>
      </p:sp>
      <p:sp>
        <p:nvSpPr>
          <p:cNvPr id="26" name="Shape 23"/>
          <p:cNvSpPr/>
          <p:nvPr/>
        </p:nvSpPr>
        <p:spPr>
          <a:xfrm>
            <a:off x="56692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24"/>
          <p:cNvSpPr/>
          <p:nvPr/>
        </p:nvSpPr>
        <p:spPr>
          <a:xfrm>
            <a:off x="768096" y="4882896"/>
            <a:ext cx="457200" cy="457200"/>
          </a:xfrm>
          <a:prstGeom prst="ellipse">
            <a:avLst/>
          </a:prstGeom>
          <a:solidFill>
            <a:srgbClr val="C6881B"/>
          </a:solidFill>
          <a:ln/>
        </p:spPr>
        <p:txBody>
          <a:bodyPr/>
          <a:p/>
        </p:txBody>
      </p:sp>
      <p:sp>
        <p:nvSpPr>
          <p:cNvPr id="28" name="Text 25"/>
          <p:cNvSpPr/>
          <p:nvPr/>
        </p:nvSpPr>
        <p:spPr>
          <a:xfrm>
            <a:off x="76809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6"/>
          <p:cNvSpPr/>
          <p:nvPr/>
        </p:nvSpPr>
        <p:spPr>
          <a:xfrm>
            <a:off x="134416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Encryption scope sign-off</a:t>
            </a:r>
            <a:endParaRPr lang="en-US" sz="1550" dirty="0"/>
          </a:p>
        </p:txBody>
      </p:sp>
      <p:sp>
        <p:nvSpPr>
          <p:cNvPr id="30" name="Text 27"/>
          <p:cNvSpPr/>
          <p:nvPr/>
        </p:nvSpPr>
        <p:spPr>
          <a:xfrm>
            <a:off x="134416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Confirm we encrypt SYSTEM/SYSAUX/UNDO/TEMP too, and set ENCRYPT_NEW_TABLESPACES=ALWAYS.</a:t>
            </a:r>
            <a:endParaRPr lang="en-US" sz="1180" dirty="0"/>
          </a:p>
        </p:txBody>
      </p:sp>
      <p:sp>
        <p:nvSpPr>
          <p:cNvPr id="31" name="Shape 28"/>
          <p:cNvSpPr/>
          <p:nvPr/>
        </p:nvSpPr>
        <p:spPr>
          <a:xfrm>
            <a:off x="625586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9"/>
          <p:cNvSpPr/>
          <p:nvPr/>
        </p:nvSpPr>
        <p:spPr>
          <a:xfrm>
            <a:off x="6457036" y="4882896"/>
            <a:ext cx="457200" cy="457200"/>
          </a:xfrm>
          <a:prstGeom prst="ellipse">
            <a:avLst/>
          </a:prstGeom>
          <a:solidFill>
            <a:srgbClr val="C6881B"/>
          </a:solidFill>
          <a:ln/>
        </p:spPr>
        <p:txBody>
          <a:bodyPr/>
          <a:p/>
        </p:txBody>
      </p:sp>
      <p:sp>
        <p:nvSpPr>
          <p:cNvPr id="33" name="Text 30"/>
          <p:cNvSpPr/>
          <p:nvPr/>
        </p:nvSpPr>
        <p:spPr>
          <a:xfrm>
            <a:off x="645703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4" name="Text 31"/>
          <p:cNvSpPr/>
          <p:nvPr/>
        </p:nvSpPr>
        <p:spPr>
          <a:xfrm>
            <a:off x="703310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Validate open RU items</a:t>
            </a:r>
            <a:endParaRPr lang="en-US" sz="1550" dirty="0"/>
          </a:p>
        </p:txBody>
      </p:sp>
      <p:sp>
        <p:nvSpPr>
          <p:cNvPr id="35" name="Text 32"/>
          <p:cNvSpPr/>
          <p:nvPr/>
        </p:nvSpPr>
        <p:spPr>
          <a:xfrm>
            <a:off x="703310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Close the four caveats at the fleet's actual RU during pilot before wide rollout.</a:t>
            </a:r>
            <a:endParaRPr lang="en-US" sz="118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2"/>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FREQUENTLY ASKED — TDE TRACK</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TDE FAQ — keys &amp; multitenant</a:t>
            </a:r>
            <a:endParaRPr lang="en-US" sz="2700" dirty="0"/>
          </a:p>
        </p:txBody>
      </p:sp>
      <p:sp>
        <p:nvSpPr>
          <p:cNvPr id="6" name="Shape 3"/>
          <p:cNvSpPr/>
          <p:nvPr/>
        </p:nvSpPr>
        <p:spPr>
          <a:xfrm>
            <a:off x="56692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768096" y="2048256"/>
            <a:ext cx="457200" cy="457200"/>
          </a:xfrm>
          <a:prstGeom prst="ellipse">
            <a:avLst/>
          </a:prstGeom>
          <a:solidFill>
            <a:srgbClr val="C6881B"/>
          </a:solidFill>
          <a:ln/>
        </p:spPr>
        <p:txBody>
          <a:bodyPr/>
          <a:p/>
        </p:txBody>
      </p:sp>
      <p:sp>
        <p:nvSpPr>
          <p:cNvPr id="8" name="Text 5"/>
          <p:cNvSpPr/>
          <p:nvPr/>
        </p:nvSpPr>
        <p:spPr>
          <a:xfrm>
            <a:off x="76809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34416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What if I lose the keystore?</a:t>
            </a:r>
            <a:endParaRPr lang="en-US" sz="1550" dirty="0"/>
          </a:p>
        </p:txBody>
      </p:sp>
      <p:sp>
        <p:nvSpPr>
          <p:cNvPr id="10" name="Text 7"/>
          <p:cNvSpPr/>
          <p:nvPr/>
        </p:nvSpPr>
        <p:spPr>
          <a:xfrm>
            <a:off x="134416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Total, unrecoverable data loss — no back door. Wallet backup with separate custody is the #1 control.</a:t>
            </a:r>
            <a:endParaRPr lang="en-US" sz="1180" dirty="0"/>
          </a:p>
        </p:txBody>
      </p:sp>
      <p:sp>
        <p:nvSpPr>
          <p:cNvPr id="11" name="Shape 8"/>
          <p:cNvSpPr/>
          <p:nvPr/>
        </p:nvSpPr>
        <p:spPr>
          <a:xfrm>
            <a:off x="625586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9"/>
          <p:cNvSpPr/>
          <p:nvPr/>
        </p:nvSpPr>
        <p:spPr>
          <a:xfrm>
            <a:off x="6457036" y="2048256"/>
            <a:ext cx="457200" cy="457200"/>
          </a:xfrm>
          <a:prstGeom prst="ellipse">
            <a:avLst/>
          </a:prstGeom>
          <a:solidFill>
            <a:srgbClr val="C6881B"/>
          </a:solidFill>
          <a:ln/>
        </p:spPr>
        <p:txBody>
          <a:bodyPr/>
          <a:p/>
        </p:txBody>
      </p:sp>
      <p:sp>
        <p:nvSpPr>
          <p:cNvPr id="13" name="Text 10"/>
          <p:cNvSpPr/>
          <p:nvPr/>
        </p:nvSpPr>
        <p:spPr>
          <a:xfrm>
            <a:off x="645703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703310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Does MEK rotation re-encrypt data?</a:t>
            </a:r>
            <a:endParaRPr lang="en-US" sz="1550" dirty="0"/>
          </a:p>
        </p:txBody>
      </p:sp>
      <p:sp>
        <p:nvSpPr>
          <p:cNvPr id="15" name="Text 12"/>
          <p:cNvSpPr/>
          <p:nvPr/>
        </p:nvSpPr>
        <p:spPr>
          <a:xfrm>
            <a:off x="703310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No — it only re-wraps the data keys (fast, low-I/O). And never delete old MEKs.</a:t>
            </a:r>
            <a:endParaRPr lang="en-US" sz="1180" dirty="0"/>
          </a:p>
        </p:txBody>
      </p:sp>
      <p:sp>
        <p:nvSpPr>
          <p:cNvPr id="16" name="Shape 13"/>
          <p:cNvSpPr/>
          <p:nvPr/>
        </p:nvSpPr>
        <p:spPr>
          <a:xfrm>
            <a:off x="56692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4"/>
          <p:cNvSpPr/>
          <p:nvPr/>
        </p:nvSpPr>
        <p:spPr>
          <a:xfrm>
            <a:off x="768096" y="3465576"/>
            <a:ext cx="457200" cy="457200"/>
          </a:xfrm>
          <a:prstGeom prst="ellipse">
            <a:avLst/>
          </a:prstGeom>
          <a:solidFill>
            <a:srgbClr val="C6881B"/>
          </a:solidFill>
          <a:ln/>
        </p:spPr>
        <p:txBody>
          <a:bodyPr/>
          <a:p/>
        </p:txBody>
      </p:sp>
      <p:sp>
        <p:nvSpPr>
          <p:cNvPr id="18" name="Text 15"/>
          <p:cNvSpPr/>
          <p:nvPr/>
        </p:nvSpPr>
        <p:spPr>
          <a:xfrm>
            <a:off x="76809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134416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WALLET_ROOT or sqlnet.ora?</a:t>
            </a:r>
            <a:endParaRPr lang="en-US" sz="1550" dirty="0"/>
          </a:p>
        </p:txBody>
      </p:sp>
      <p:sp>
        <p:nvSpPr>
          <p:cNvPr id="20" name="Text 17"/>
          <p:cNvSpPr/>
          <p:nvPr/>
        </p:nvSpPr>
        <p:spPr>
          <a:xfrm>
            <a:off x="134416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Use WALLET_ROOT (static, restart) + TDE_CONFIGURATION (dynamic). Oracle appends /tde itself.</a:t>
            </a:r>
            <a:endParaRPr lang="en-US" sz="1180" dirty="0"/>
          </a:p>
        </p:txBody>
      </p:sp>
      <p:sp>
        <p:nvSpPr>
          <p:cNvPr id="21" name="Shape 18"/>
          <p:cNvSpPr/>
          <p:nvPr/>
        </p:nvSpPr>
        <p:spPr>
          <a:xfrm>
            <a:off x="625586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9"/>
          <p:cNvSpPr/>
          <p:nvPr/>
        </p:nvSpPr>
        <p:spPr>
          <a:xfrm>
            <a:off x="6457036" y="3465576"/>
            <a:ext cx="457200" cy="457200"/>
          </a:xfrm>
          <a:prstGeom prst="ellipse">
            <a:avLst/>
          </a:prstGeom>
          <a:solidFill>
            <a:srgbClr val="C6881B"/>
          </a:solidFill>
          <a:ln/>
        </p:spPr>
        <p:txBody>
          <a:bodyPr/>
          <a:p/>
        </p:txBody>
      </p:sp>
      <p:sp>
        <p:nvSpPr>
          <p:cNvPr id="23" name="Text 20"/>
          <p:cNvSpPr/>
          <p:nvPr/>
        </p:nvSpPr>
        <p:spPr>
          <a:xfrm>
            <a:off x="645703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1"/>
          <p:cNvSpPr/>
          <p:nvPr/>
        </p:nvSpPr>
        <p:spPr>
          <a:xfrm>
            <a:off x="703310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Which auto-login on Data Guard?</a:t>
            </a:r>
            <a:endParaRPr lang="en-US" sz="1550" dirty="0"/>
          </a:p>
        </p:txBody>
      </p:sp>
      <p:sp>
        <p:nvSpPr>
          <p:cNvPr id="25" name="Text 22"/>
          <p:cNvSpPr/>
          <p:nvPr/>
        </p:nvSpPr>
        <p:spPr>
          <a:xfrm>
            <a:off x="703310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Non-local AUTO_LOGIN. A LOCAL auto-login is host-bound and won't open on the standby.</a:t>
            </a:r>
            <a:endParaRPr lang="en-US" sz="1180" dirty="0"/>
          </a:p>
        </p:txBody>
      </p:sp>
      <p:sp>
        <p:nvSpPr>
          <p:cNvPr id="26" name="Shape 23"/>
          <p:cNvSpPr/>
          <p:nvPr/>
        </p:nvSpPr>
        <p:spPr>
          <a:xfrm>
            <a:off x="56692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24"/>
          <p:cNvSpPr/>
          <p:nvPr/>
        </p:nvSpPr>
        <p:spPr>
          <a:xfrm>
            <a:off x="768096" y="4882896"/>
            <a:ext cx="457200" cy="457200"/>
          </a:xfrm>
          <a:prstGeom prst="ellipse">
            <a:avLst/>
          </a:prstGeom>
          <a:solidFill>
            <a:srgbClr val="C6881B"/>
          </a:solidFill>
          <a:ln/>
        </p:spPr>
        <p:txBody>
          <a:bodyPr/>
          <a:p/>
        </p:txBody>
      </p:sp>
      <p:sp>
        <p:nvSpPr>
          <p:cNvPr id="28" name="Text 25"/>
          <p:cNvSpPr/>
          <p:nvPr/>
        </p:nvSpPr>
        <p:spPr>
          <a:xfrm>
            <a:off x="76809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6"/>
          <p:cNvSpPr/>
          <p:nvPr/>
        </p:nvSpPr>
        <p:spPr>
          <a:xfrm>
            <a:off x="134416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United or isolated keystore?</a:t>
            </a:r>
            <a:endParaRPr lang="en-US" sz="1550" dirty="0"/>
          </a:p>
        </p:txBody>
      </p:sp>
      <p:sp>
        <p:nvSpPr>
          <p:cNvPr id="30" name="Text 27"/>
          <p:cNvSpPr/>
          <p:nvPr/>
        </p:nvSpPr>
        <p:spPr>
          <a:xfrm>
            <a:off x="134416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United, per-PDB MEK — every RU, one wallet to sync. Isolated only for a PDB that truly needs its own.</a:t>
            </a:r>
            <a:endParaRPr lang="en-US" sz="1180" dirty="0"/>
          </a:p>
        </p:txBody>
      </p:sp>
      <p:sp>
        <p:nvSpPr>
          <p:cNvPr id="31" name="Shape 28"/>
          <p:cNvSpPr/>
          <p:nvPr/>
        </p:nvSpPr>
        <p:spPr>
          <a:xfrm>
            <a:off x="625586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9"/>
          <p:cNvSpPr/>
          <p:nvPr/>
        </p:nvSpPr>
        <p:spPr>
          <a:xfrm>
            <a:off x="6457036" y="4882896"/>
            <a:ext cx="457200" cy="457200"/>
          </a:xfrm>
          <a:prstGeom prst="ellipse">
            <a:avLst/>
          </a:prstGeom>
          <a:solidFill>
            <a:srgbClr val="C6881B"/>
          </a:solidFill>
          <a:ln/>
        </p:spPr>
        <p:txBody>
          <a:bodyPr/>
          <a:p/>
        </p:txBody>
      </p:sp>
      <p:sp>
        <p:nvSpPr>
          <p:cNvPr id="33" name="Text 30"/>
          <p:cNvSpPr/>
          <p:nvPr/>
        </p:nvSpPr>
        <p:spPr>
          <a:xfrm>
            <a:off x="645703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4" name="Text 31"/>
          <p:cNvSpPr/>
          <p:nvPr/>
        </p:nvSpPr>
        <p:spPr>
          <a:xfrm>
            <a:off x="703310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Can I isolate a PDB on our RU?</a:t>
            </a:r>
            <a:endParaRPr lang="en-US" sz="1550" dirty="0"/>
          </a:p>
        </p:txBody>
      </p:sp>
      <p:sp>
        <p:nvSpPr>
          <p:cNvPr id="35" name="Text 32"/>
          <p:cNvSpPr/>
          <p:nvPr/>
        </p:nvSpPr>
        <p:spPr>
          <a:xfrm>
            <a:off x="703310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Yes — FORCE ISOLATE / UNITE, native on 19.30 (no patch). Verified on 19.27; isolated has no auto-login.</a:t>
            </a:r>
            <a:endParaRPr lang="en-US" sz="118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hape 0"/>
          <p:cNvSpPr/>
          <p:nvPr/>
        </p:nvSpPr>
        <p:spPr>
          <a:xfrm>
            <a:off x="566928" y="457200"/>
            <a:ext cx="566928" cy="566928"/>
          </a:xfrm>
          <a:prstGeom prst="ellipse">
            <a:avLst/>
          </a:prstGeom>
          <a:solidFill>
            <a:srgbClr val="C6881B"/>
          </a:solidFill>
          <a:ln/>
        </p:spPr>
        <p:txBody>
          <a:bodyPr/>
          <a:p/>
        </p:txBody>
      </p:sp>
      <p:pic>
        <p:nvPicPr>
          <p:cNvPr id="3" name="Image 0" descr="preencoded.png">    </p:cNvPr>
          <p:cNvPicPr>
            <a:picLocks noChangeAspect="1"/>
          </p:cNvPicPr>
          <p:nvPr/>
        </p:nvPicPr>
        <p:blipFill>
          <a:blip r:embed="rId2"/>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C6881B"/>
                </a:solidFill>
                <a:latin typeface="Calibri" pitchFamily="34" charset="0"/>
                <a:ea typeface="Calibri" pitchFamily="34" charset="-122"/>
                <a:cs typeface="Calibri" pitchFamily="34" charset="-120"/>
              </a:rPr>
              <a:t>FREQUENTLY ASKED — TDE TRACK</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TDE FAQ — converting &amp; operating</a:t>
            </a:r>
            <a:endParaRPr lang="en-US" sz="2700" dirty="0"/>
          </a:p>
        </p:txBody>
      </p:sp>
      <p:sp>
        <p:nvSpPr>
          <p:cNvPr id="6" name="Shape 3"/>
          <p:cNvSpPr/>
          <p:nvPr/>
        </p:nvSpPr>
        <p:spPr>
          <a:xfrm>
            <a:off x="56692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7" name="Shape 4"/>
          <p:cNvSpPr/>
          <p:nvPr/>
        </p:nvSpPr>
        <p:spPr>
          <a:xfrm>
            <a:off x="768096" y="2048256"/>
            <a:ext cx="457200" cy="457200"/>
          </a:xfrm>
          <a:prstGeom prst="ellipse">
            <a:avLst/>
          </a:prstGeom>
          <a:solidFill>
            <a:srgbClr val="C6881B"/>
          </a:solidFill>
          <a:ln/>
        </p:spPr>
        <p:txBody>
          <a:bodyPr/>
          <a:p/>
        </p:txBody>
      </p:sp>
      <p:sp>
        <p:nvSpPr>
          <p:cNvPr id="8" name="Text 5"/>
          <p:cNvSpPr/>
          <p:nvPr/>
        </p:nvSpPr>
        <p:spPr>
          <a:xfrm>
            <a:off x="76809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6"/>
          <p:cNvSpPr/>
          <p:nvPr/>
        </p:nvSpPr>
        <p:spPr>
          <a:xfrm>
            <a:off x="134416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Encrypt existing data, least downtime?</a:t>
            </a:r>
            <a:endParaRPr lang="en-US" sz="1550" dirty="0"/>
          </a:p>
        </p:txBody>
      </p:sp>
      <p:sp>
        <p:nvSpPr>
          <p:cNvPr id="10" name="Text 7"/>
          <p:cNvSpPr/>
          <p:nvPr/>
        </p:nvSpPr>
        <p:spPr>
          <a:xfrm>
            <a:off x="134416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Four methods; standby-first is the fleet default for large, DG-protected databases.</a:t>
            </a:r>
            <a:endParaRPr lang="en-US" sz="1180" dirty="0"/>
          </a:p>
        </p:txBody>
      </p:sp>
      <p:sp>
        <p:nvSpPr>
          <p:cNvPr id="11" name="Shape 8"/>
          <p:cNvSpPr/>
          <p:nvPr/>
        </p:nvSpPr>
        <p:spPr>
          <a:xfrm>
            <a:off x="6255868" y="182880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2" name="Shape 9"/>
          <p:cNvSpPr/>
          <p:nvPr/>
        </p:nvSpPr>
        <p:spPr>
          <a:xfrm>
            <a:off x="6457036" y="2048256"/>
            <a:ext cx="457200" cy="457200"/>
          </a:xfrm>
          <a:prstGeom prst="ellipse">
            <a:avLst/>
          </a:prstGeom>
          <a:solidFill>
            <a:srgbClr val="C6881B"/>
          </a:solidFill>
          <a:ln/>
        </p:spPr>
        <p:txBody>
          <a:bodyPr/>
          <a:p/>
        </p:txBody>
      </p:sp>
      <p:sp>
        <p:nvSpPr>
          <p:cNvPr id="13" name="Text 10"/>
          <p:cNvSpPr/>
          <p:nvPr/>
        </p:nvSpPr>
        <p:spPr>
          <a:xfrm>
            <a:off x="6457036" y="204825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4" name="Text 11"/>
          <p:cNvSpPr/>
          <p:nvPr/>
        </p:nvSpPr>
        <p:spPr>
          <a:xfrm>
            <a:off x="7033108" y="197510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FILE_NAME_CONVERT=NONE → ORA-28437?</a:t>
            </a:r>
            <a:endParaRPr lang="en-US" sz="1550" dirty="0"/>
          </a:p>
        </p:txBody>
      </p:sp>
      <p:sp>
        <p:nvSpPr>
          <p:cNvPr id="15" name="Text 12"/>
          <p:cNvSpPr/>
          <p:nvPr/>
        </p:nvSpPr>
        <p:spPr>
          <a:xfrm>
            <a:off x="7033108" y="233172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On OMF, omit it entirely — Oracle makes the converted copy in place. Verified on 19.27.</a:t>
            </a:r>
            <a:endParaRPr lang="en-US" sz="1180" dirty="0"/>
          </a:p>
        </p:txBody>
      </p:sp>
      <p:sp>
        <p:nvSpPr>
          <p:cNvPr id="16" name="Shape 13"/>
          <p:cNvSpPr/>
          <p:nvPr/>
        </p:nvSpPr>
        <p:spPr>
          <a:xfrm>
            <a:off x="56692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7" name="Shape 14"/>
          <p:cNvSpPr/>
          <p:nvPr/>
        </p:nvSpPr>
        <p:spPr>
          <a:xfrm>
            <a:off x="768096" y="3465576"/>
            <a:ext cx="457200" cy="457200"/>
          </a:xfrm>
          <a:prstGeom prst="ellipse">
            <a:avLst/>
          </a:prstGeom>
          <a:solidFill>
            <a:srgbClr val="C6881B"/>
          </a:solidFill>
          <a:ln/>
        </p:spPr>
        <p:txBody>
          <a:bodyPr/>
          <a:p/>
        </p:txBody>
      </p:sp>
      <p:sp>
        <p:nvSpPr>
          <p:cNvPr id="18" name="Text 15"/>
          <p:cNvSpPr/>
          <p:nvPr/>
        </p:nvSpPr>
        <p:spPr>
          <a:xfrm>
            <a:off x="76809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6"/>
          <p:cNvSpPr/>
          <p:nvPr/>
        </p:nvSpPr>
        <p:spPr>
          <a:xfrm>
            <a:off x="134416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DG impact of online encryption?</a:t>
            </a:r>
            <a:endParaRPr lang="en-US" sz="1550" dirty="0"/>
          </a:p>
        </p:txBody>
      </p:sp>
      <p:sp>
        <p:nvSpPr>
          <p:cNvPr id="20" name="Text 17"/>
          <p:cNvSpPr/>
          <p:nvPr/>
        </p:nvSpPr>
        <p:spPr>
          <a:xfrm>
            <a:off x="134416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Redo ≈ the full tablespace size. Pace one tablespace at a time; size archive + network first.</a:t>
            </a:r>
            <a:endParaRPr lang="en-US" sz="1180" dirty="0"/>
          </a:p>
        </p:txBody>
      </p:sp>
      <p:sp>
        <p:nvSpPr>
          <p:cNvPr id="21" name="Shape 18"/>
          <p:cNvSpPr/>
          <p:nvPr/>
        </p:nvSpPr>
        <p:spPr>
          <a:xfrm>
            <a:off x="6255868" y="324612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9"/>
          <p:cNvSpPr/>
          <p:nvPr/>
        </p:nvSpPr>
        <p:spPr>
          <a:xfrm>
            <a:off x="6457036" y="3465576"/>
            <a:ext cx="457200" cy="457200"/>
          </a:xfrm>
          <a:prstGeom prst="ellipse">
            <a:avLst/>
          </a:prstGeom>
          <a:solidFill>
            <a:srgbClr val="C6881B"/>
          </a:solidFill>
          <a:ln/>
        </p:spPr>
        <p:txBody>
          <a:bodyPr/>
          <a:p/>
        </p:txBody>
      </p:sp>
      <p:sp>
        <p:nvSpPr>
          <p:cNvPr id="23" name="Text 20"/>
          <p:cNvSpPr/>
          <p:nvPr/>
        </p:nvSpPr>
        <p:spPr>
          <a:xfrm>
            <a:off x="6457036" y="346557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4" name="Text 21"/>
          <p:cNvSpPr/>
          <p:nvPr/>
        </p:nvSpPr>
        <p:spPr>
          <a:xfrm>
            <a:off x="7033108" y="339242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Standby wallet golden rule?</a:t>
            </a:r>
            <a:endParaRPr lang="en-US" sz="1550" dirty="0"/>
          </a:p>
        </p:txBody>
      </p:sp>
      <p:sp>
        <p:nvSpPr>
          <p:cNvPr id="25" name="Text 22"/>
          <p:cNvSpPr/>
          <p:nvPr/>
        </p:nvSpPr>
        <p:spPr>
          <a:xfrm>
            <a:off x="7033108" y="374904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Wallet on the standby before any MEK op; run key ops on the primary only; re-sync after every op.</a:t>
            </a:r>
            <a:endParaRPr lang="en-US" sz="1180" dirty="0"/>
          </a:p>
        </p:txBody>
      </p:sp>
      <p:sp>
        <p:nvSpPr>
          <p:cNvPr id="26" name="Shape 23"/>
          <p:cNvSpPr/>
          <p:nvPr/>
        </p:nvSpPr>
        <p:spPr>
          <a:xfrm>
            <a:off x="56692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24"/>
          <p:cNvSpPr/>
          <p:nvPr/>
        </p:nvSpPr>
        <p:spPr>
          <a:xfrm>
            <a:off x="768096" y="4882896"/>
            <a:ext cx="457200" cy="457200"/>
          </a:xfrm>
          <a:prstGeom prst="ellipse">
            <a:avLst/>
          </a:prstGeom>
          <a:solidFill>
            <a:srgbClr val="C6881B"/>
          </a:solidFill>
          <a:ln/>
        </p:spPr>
        <p:txBody>
          <a:bodyPr/>
          <a:p/>
        </p:txBody>
      </p:sp>
      <p:sp>
        <p:nvSpPr>
          <p:cNvPr id="28" name="Text 25"/>
          <p:cNvSpPr/>
          <p:nvPr/>
        </p:nvSpPr>
        <p:spPr>
          <a:xfrm>
            <a:off x="76809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9" name="Text 26"/>
          <p:cNvSpPr/>
          <p:nvPr/>
        </p:nvSpPr>
        <p:spPr>
          <a:xfrm>
            <a:off x="134416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Free HW crypto on AIX/POWER?</a:t>
            </a:r>
            <a:endParaRPr lang="en-US" sz="1550" dirty="0"/>
          </a:p>
        </p:txBody>
      </p:sp>
      <p:sp>
        <p:nvSpPr>
          <p:cNvPr id="30" name="Text 27"/>
          <p:cNvSpPr/>
          <p:nvPr/>
        </p:nvSpPr>
        <p:spPr>
          <a:xfrm>
            <a:off x="134416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Don't assume it — it's RU-dependent. Benchmark the encryption overhead in the pilot.</a:t>
            </a:r>
            <a:endParaRPr lang="en-US" sz="1180" dirty="0"/>
          </a:p>
        </p:txBody>
      </p:sp>
      <p:sp>
        <p:nvSpPr>
          <p:cNvPr id="31" name="Shape 28"/>
          <p:cNvSpPr/>
          <p:nvPr/>
        </p:nvSpPr>
        <p:spPr>
          <a:xfrm>
            <a:off x="6255868" y="4663440"/>
            <a:ext cx="5368900" cy="1234440"/>
          </a:xfrm>
          <a:prstGeom prst="roundRect">
            <a:avLst>
              <a:gd name="adj" fmla="val 5926"/>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9"/>
          <p:cNvSpPr/>
          <p:nvPr/>
        </p:nvSpPr>
        <p:spPr>
          <a:xfrm>
            <a:off x="6457036" y="4882896"/>
            <a:ext cx="457200" cy="457200"/>
          </a:xfrm>
          <a:prstGeom prst="ellipse">
            <a:avLst/>
          </a:prstGeom>
          <a:solidFill>
            <a:srgbClr val="C6881B"/>
          </a:solidFill>
          <a:ln/>
        </p:spPr>
        <p:txBody>
          <a:bodyPr/>
          <a:p/>
        </p:txBody>
      </p:sp>
      <p:sp>
        <p:nvSpPr>
          <p:cNvPr id="33" name="Text 30"/>
          <p:cNvSpPr/>
          <p:nvPr/>
        </p:nvSpPr>
        <p:spPr>
          <a:xfrm>
            <a:off x="6457036" y="4882896"/>
            <a:ext cx="45720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34" name="Text 31"/>
          <p:cNvSpPr/>
          <p:nvPr/>
        </p:nvSpPr>
        <p:spPr>
          <a:xfrm>
            <a:off x="7033108" y="4809744"/>
            <a:ext cx="4408780" cy="365760"/>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Are new tablespaces auto-encrypted?</a:t>
            </a:r>
            <a:endParaRPr lang="en-US" sz="1550" dirty="0"/>
          </a:p>
        </p:txBody>
      </p:sp>
      <p:sp>
        <p:nvSpPr>
          <p:cNvPr id="35" name="Text 32"/>
          <p:cNvSpPr/>
          <p:nvPr/>
        </p:nvSpPr>
        <p:spPr>
          <a:xfrm>
            <a:off x="7033108" y="5166360"/>
            <a:ext cx="4408780" cy="658368"/>
          </a:xfrm>
          <a:prstGeom prst="rect">
            <a:avLst/>
          </a:prstGeom>
          <a:noFill/>
          <a:ln/>
        </p:spPr>
        <p:txBody>
          <a:bodyPr wrap="square" lIns="0" tIns="0" rIns="0" bIns="0" rtlCol="0" anchor="t"/>
          <a:lstStyle/>
          <a:p>
            <a:pPr indent="0" marL="0">
              <a:lnSpc>
                <a:spcPct val="103000"/>
              </a:lnSpc>
              <a:buNone/>
            </a:pPr>
            <a:r>
              <a:rPr lang="en-US" sz="1180" dirty="0">
                <a:solidFill>
                  <a:srgbClr val="44586E"/>
                </a:solidFill>
                <a:latin typeface="Calibri" pitchFamily="34" charset="0"/>
                <a:ea typeface="Calibri" pitchFamily="34" charset="-122"/>
                <a:cs typeface="Calibri" pitchFamily="34" charset="-120"/>
              </a:rPr>
              <a:t>Set ENCRYPT_NEW_TABLESPACES=ALWAYS. Note: encrypted blocks don't compress — re-size RMAN backups.</a:t>
            </a:r>
            <a:endParaRPr lang="en-US" sz="11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457200"/>
            <a:ext cx="566928" cy="566928"/>
          </a:xfrm>
          <a:prstGeom prst="ellipse">
            <a:avLst/>
          </a:prstGeom>
          <a:solidFill>
            <a:srgbClr val="12223F"/>
          </a:solidFill>
          <a:ln/>
        </p:spPr>
        <p:txBody>
          <a:bodyPr/>
          <a:p/>
        </p:txBody>
      </p:sp>
      <p:pic>
        <p:nvPicPr>
          <p:cNvPr id="3" name="Image 0" descr="preencoded.png">    </p:cNvPr>
          <p:cNvPicPr>
            <a:picLocks noChangeAspect="1"/>
          </p:cNvPicPr>
          <p:nvPr/>
        </p:nvPicPr>
        <p:blipFill>
          <a:blip r:embed="rId1"/>
          <a:stretch>
            <a:fillRect/>
          </a:stretch>
        </p:blipFill>
        <p:spPr>
          <a:xfrm>
            <a:off x="714329" y="604601"/>
            <a:ext cx="272125" cy="272125"/>
          </a:xfrm>
          <a:prstGeom prst="rect">
            <a:avLst/>
          </a:prstGeom>
        </p:spPr>
      </p:pic>
      <p:sp>
        <p:nvSpPr>
          <p:cNvPr id="4" name="Text 1"/>
          <p:cNvSpPr/>
          <p:nvPr/>
        </p:nvSpPr>
        <p:spPr>
          <a:xfrm>
            <a:off x="1298448" y="457200"/>
            <a:ext cx="10326319" cy="274320"/>
          </a:xfrm>
          <a:prstGeom prst="rect">
            <a:avLst/>
          </a:prstGeom>
          <a:noFill/>
          <a:ln/>
        </p:spPr>
        <p:txBody>
          <a:bodyPr wrap="square" lIns="0" tIns="0" rIns="0" bIns="0" rtlCol="0" anchor="ctr"/>
          <a:lstStyle/>
          <a:p>
            <a:pPr algn="l" indent="0" marL="0">
              <a:buNone/>
            </a:pPr>
            <a:r>
              <a:rPr lang="en-US" sz="1250" b="1" spc="200" kern="0" dirty="0">
                <a:solidFill>
                  <a:srgbClr val="12223F"/>
                </a:solidFill>
                <a:latin typeface="Calibri" pitchFamily="34" charset="0"/>
                <a:ea typeface="Calibri" pitchFamily="34" charset="-122"/>
                <a:cs typeface="Calibri" pitchFamily="34" charset="-120"/>
              </a:rPr>
              <a:t>HOW WE TAKE IT TO THE FLEET</a:t>
            </a:r>
            <a:endParaRPr lang="en-US" sz="1250" dirty="0"/>
          </a:p>
        </p:txBody>
      </p:sp>
      <p:sp>
        <p:nvSpPr>
          <p:cNvPr id="5" name="Text 2"/>
          <p:cNvSpPr/>
          <p:nvPr/>
        </p:nvSpPr>
        <p:spPr>
          <a:xfrm>
            <a:off x="1298448" y="731520"/>
            <a:ext cx="10326319" cy="566928"/>
          </a:xfrm>
          <a:prstGeom prst="rect">
            <a:avLst/>
          </a:prstGeom>
          <a:noFill/>
          <a:ln/>
        </p:spPr>
        <p:txBody>
          <a:bodyPr wrap="square" lIns="0" tIns="0" rIns="0" bIns="0" rtlCol="0" anchor="ctr"/>
          <a:lstStyle/>
          <a:p>
            <a:pPr algn="l" indent="0" marL="0">
              <a:buNone/>
            </a:pPr>
            <a:r>
              <a:rPr lang="en-US" sz="2700" b="1" dirty="0">
                <a:solidFill>
                  <a:srgbClr val="1C2A3E"/>
                </a:solidFill>
                <a:latin typeface="Cambria" pitchFamily="34" charset="0"/>
                <a:ea typeface="Cambria" pitchFamily="34" charset="-122"/>
                <a:cs typeface="Cambria" pitchFamily="34" charset="-120"/>
              </a:rPr>
              <a:t>Rollout: pilot-first, in waves</a:t>
            </a:r>
            <a:endParaRPr lang="en-US" sz="2700" dirty="0"/>
          </a:p>
        </p:txBody>
      </p:sp>
      <p:sp>
        <p:nvSpPr>
          <p:cNvPr id="6" name="Shape 3"/>
          <p:cNvSpPr/>
          <p:nvPr/>
        </p:nvSpPr>
        <p:spPr>
          <a:xfrm>
            <a:off x="566928" y="1874520"/>
            <a:ext cx="1809232" cy="868680"/>
          </a:xfrm>
          <a:prstGeom prst="roundRect">
            <a:avLst>
              <a:gd name="adj" fmla="val 7368"/>
            </a:avLst>
          </a:prstGeom>
          <a:solidFill>
            <a:srgbClr val="12223F"/>
          </a:solidFill>
          <a:ln w="12700">
            <a:solidFill>
              <a:srgbClr val="12223F"/>
            </a:solidFill>
            <a:prstDash val="solid"/>
          </a:ln>
          <a:effectLst>
            <a:outerShdw sx="100000" sy="100000" kx="0" ky="0" algn="bl" rotWithShape="0" blurRad="88900" dist="38100" dir="5400000">
              <a:srgbClr val="1C2A3E">
                <a:alpha val="13000"/>
              </a:srgbClr>
            </a:outerShdw>
          </a:effectLst>
        </p:spPr>
        <p:txBody>
          <a:bodyPr/>
          <a:p/>
        </p:txBody>
      </p:sp>
      <p:sp>
        <p:nvSpPr>
          <p:cNvPr id="7" name="Text 4"/>
          <p:cNvSpPr/>
          <p:nvPr/>
        </p:nvSpPr>
        <p:spPr>
          <a:xfrm>
            <a:off x="566928" y="1874520"/>
            <a:ext cx="1809232" cy="86868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Pilot</a:t>
            </a:r>
            <a:endParaRPr lang="en-US" sz="1700" dirty="0"/>
          </a:p>
        </p:txBody>
      </p:sp>
      <p:pic>
        <p:nvPicPr>
          <p:cNvPr id="8" name="Image 1" descr="preencoded.png">    </p:cNvPr>
          <p:cNvPicPr>
            <a:picLocks noChangeAspect="1"/>
          </p:cNvPicPr>
          <p:nvPr/>
        </p:nvPicPr>
        <p:blipFill>
          <a:blip r:embed="rId2"/>
          <a:stretch>
            <a:fillRect/>
          </a:stretch>
        </p:blipFill>
        <p:spPr>
          <a:xfrm>
            <a:off x="2522464" y="2208276"/>
            <a:ext cx="201168" cy="201168"/>
          </a:xfrm>
          <a:prstGeom prst="rect">
            <a:avLst/>
          </a:prstGeom>
        </p:spPr>
      </p:pic>
      <p:sp>
        <p:nvSpPr>
          <p:cNvPr id="9" name="Shape 5"/>
          <p:cNvSpPr/>
          <p:nvPr/>
        </p:nvSpPr>
        <p:spPr>
          <a:xfrm>
            <a:off x="2879080" y="1874520"/>
            <a:ext cx="1809232" cy="868680"/>
          </a:xfrm>
          <a:prstGeom prst="roundRect">
            <a:avLst>
              <a:gd name="adj" fmla="val 7368"/>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0" name="Text 6"/>
          <p:cNvSpPr/>
          <p:nvPr/>
        </p:nvSpPr>
        <p:spPr>
          <a:xfrm>
            <a:off x="2879080" y="1874520"/>
            <a:ext cx="1809232" cy="868680"/>
          </a:xfrm>
          <a:prstGeom prst="rect">
            <a:avLst/>
          </a:prstGeom>
          <a:noFill/>
          <a:ln/>
        </p:spPr>
        <p:txBody>
          <a:bodyPr wrap="square" lIns="0" tIns="0" rIns="0" bIns="0" rtlCol="0" anchor="ctr"/>
          <a:lstStyle/>
          <a:p>
            <a:pPr algn="ctr" indent="0" marL="0">
              <a:buNone/>
            </a:pPr>
            <a:r>
              <a:rPr lang="en-US" sz="1700" b="1" dirty="0">
                <a:solidFill>
                  <a:srgbClr val="1C2A3E"/>
                </a:solidFill>
                <a:latin typeface="Cambria" pitchFamily="34" charset="0"/>
                <a:ea typeface="Cambria" pitchFamily="34" charset="-122"/>
                <a:cs typeface="Cambria" pitchFamily="34" charset="-120"/>
              </a:rPr>
              <a:t>DEV</a:t>
            </a:r>
            <a:endParaRPr lang="en-US" sz="1700" dirty="0"/>
          </a:p>
        </p:txBody>
      </p:sp>
      <p:pic>
        <p:nvPicPr>
          <p:cNvPr id="11" name="Image 2" descr="preencoded.png">    </p:cNvPr>
          <p:cNvPicPr>
            <a:picLocks noChangeAspect="1"/>
          </p:cNvPicPr>
          <p:nvPr/>
        </p:nvPicPr>
        <p:blipFill>
          <a:blip r:embed="rId3"/>
          <a:stretch>
            <a:fillRect/>
          </a:stretch>
        </p:blipFill>
        <p:spPr>
          <a:xfrm>
            <a:off x="4834616" y="2208276"/>
            <a:ext cx="201168" cy="201168"/>
          </a:xfrm>
          <a:prstGeom prst="rect">
            <a:avLst/>
          </a:prstGeom>
        </p:spPr>
      </p:pic>
      <p:sp>
        <p:nvSpPr>
          <p:cNvPr id="12" name="Shape 7"/>
          <p:cNvSpPr/>
          <p:nvPr/>
        </p:nvSpPr>
        <p:spPr>
          <a:xfrm>
            <a:off x="5191232" y="1874520"/>
            <a:ext cx="1809232" cy="868680"/>
          </a:xfrm>
          <a:prstGeom prst="roundRect">
            <a:avLst>
              <a:gd name="adj" fmla="val 7368"/>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3" name="Text 8"/>
          <p:cNvSpPr/>
          <p:nvPr/>
        </p:nvSpPr>
        <p:spPr>
          <a:xfrm>
            <a:off x="5191232" y="1874520"/>
            <a:ext cx="1809232" cy="868680"/>
          </a:xfrm>
          <a:prstGeom prst="rect">
            <a:avLst/>
          </a:prstGeom>
          <a:noFill/>
          <a:ln/>
        </p:spPr>
        <p:txBody>
          <a:bodyPr wrap="square" lIns="0" tIns="0" rIns="0" bIns="0" rtlCol="0" anchor="ctr"/>
          <a:lstStyle/>
          <a:p>
            <a:pPr algn="ctr" indent="0" marL="0">
              <a:buNone/>
            </a:pPr>
            <a:r>
              <a:rPr lang="en-US" sz="1700" b="1" dirty="0">
                <a:solidFill>
                  <a:srgbClr val="1C2A3E"/>
                </a:solidFill>
                <a:latin typeface="Cambria" pitchFamily="34" charset="0"/>
                <a:ea typeface="Cambria" pitchFamily="34" charset="-122"/>
                <a:cs typeface="Cambria" pitchFamily="34" charset="-120"/>
              </a:rPr>
              <a:t>TEST</a:t>
            </a:r>
            <a:endParaRPr lang="en-US" sz="1700" dirty="0"/>
          </a:p>
        </p:txBody>
      </p:sp>
      <p:pic>
        <p:nvPicPr>
          <p:cNvPr id="14" name="Image 3" descr="preencoded.png">    </p:cNvPr>
          <p:cNvPicPr>
            <a:picLocks noChangeAspect="1"/>
          </p:cNvPicPr>
          <p:nvPr/>
        </p:nvPicPr>
        <p:blipFill>
          <a:blip r:embed="rId4"/>
          <a:stretch>
            <a:fillRect/>
          </a:stretch>
        </p:blipFill>
        <p:spPr>
          <a:xfrm>
            <a:off x="7146768" y="2208276"/>
            <a:ext cx="201168" cy="201168"/>
          </a:xfrm>
          <a:prstGeom prst="rect">
            <a:avLst/>
          </a:prstGeom>
        </p:spPr>
      </p:pic>
      <p:sp>
        <p:nvSpPr>
          <p:cNvPr id="15" name="Shape 9"/>
          <p:cNvSpPr/>
          <p:nvPr/>
        </p:nvSpPr>
        <p:spPr>
          <a:xfrm>
            <a:off x="7503384" y="1874520"/>
            <a:ext cx="1809232" cy="868680"/>
          </a:xfrm>
          <a:prstGeom prst="roundRect">
            <a:avLst>
              <a:gd name="adj" fmla="val 7368"/>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6" name="Text 10"/>
          <p:cNvSpPr/>
          <p:nvPr/>
        </p:nvSpPr>
        <p:spPr>
          <a:xfrm>
            <a:off x="7503384" y="1874520"/>
            <a:ext cx="1809232" cy="868680"/>
          </a:xfrm>
          <a:prstGeom prst="rect">
            <a:avLst/>
          </a:prstGeom>
          <a:noFill/>
          <a:ln/>
        </p:spPr>
        <p:txBody>
          <a:bodyPr wrap="square" lIns="0" tIns="0" rIns="0" bIns="0" rtlCol="0" anchor="ctr"/>
          <a:lstStyle/>
          <a:p>
            <a:pPr algn="ctr" indent="0" marL="0">
              <a:buNone/>
            </a:pPr>
            <a:r>
              <a:rPr lang="en-US" sz="1700" b="1" dirty="0">
                <a:solidFill>
                  <a:srgbClr val="1C2A3E"/>
                </a:solidFill>
                <a:latin typeface="Cambria" pitchFamily="34" charset="0"/>
                <a:ea typeface="Cambria" pitchFamily="34" charset="-122"/>
                <a:cs typeface="Cambria" pitchFamily="34" charset="-120"/>
              </a:rPr>
              <a:t>PREPROD</a:t>
            </a:r>
            <a:endParaRPr lang="en-US" sz="1700" dirty="0"/>
          </a:p>
        </p:txBody>
      </p:sp>
      <p:pic>
        <p:nvPicPr>
          <p:cNvPr id="17" name="Image 4" descr="preencoded.png">    </p:cNvPr>
          <p:cNvPicPr>
            <a:picLocks noChangeAspect="1"/>
          </p:cNvPicPr>
          <p:nvPr/>
        </p:nvPicPr>
        <p:blipFill>
          <a:blip r:embed="rId5"/>
          <a:stretch>
            <a:fillRect/>
          </a:stretch>
        </p:blipFill>
        <p:spPr>
          <a:xfrm>
            <a:off x="9458919" y="2208276"/>
            <a:ext cx="201168" cy="201168"/>
          </a:xfrm>
          <a:prstGeom prst="rect">
            <a:avLst/>
          </a:prstGeom>
        </p:spPr>
      </p:pic>
      <p:sp>
        <p:nvSpPr>
          <p:cNvPr id="18" name="Shape 11"/>
          <p:cNvSpPr/>
          <p:nvPr/>
        </p:nvSpPr>
        <p:spPr>
          <a:xfrm>
            <a:off x="9815535" y="1874520"/>
            <a:ext cx="1809232" cy="868680"/>
          </a:xfrm>
          <a:prstGeom prst="roundRect">
            <a:avLst>
              <a:gd name="adj" fmla="val 7368"/>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9" name="Text 12"/>
          <p:cNvSpPr/>
          <p:nvPr/>
        </p:nvSpPr>
        <p:spPr>
          <a:xfrm>
            <a:off x="9815535" y="1874520"/>
            <a:ext cx="1809232" cy="868680"/>
          </a:xfrm>
          <a:prstGeom prst="rect">
            <a:avLst/>
          </a:prstGeom>
          <a:noFill/>
          <a:ln/>
        </p:spPr>
        <p:txBody>
          <a:bodyPr wrap="square" lIns="0" tIns="0" rIns="0" bIns="0" rtlCol="0" anchor="ctr"/>
          <a:lstStyle/>
          <a:p>
            <a:pPr algn="ctr" indent="0" marL="0">
              <a:buNone/>
            </a:pPr>
            <a:r>
              <a:rPr lang="en-US" sz="1700" b="1" dirty="0">
                <a:solidFill>
                  <a:srgbClr val="1C2A3E"/>
                </a:solidFill>
                <a:latin typeface="Cambria" pitchFamily="34" charset="0"/>
                <a:ea typeface="Cambria" pitchFamily="34" charset="-122"/>
                <a:cs typeface="Cambria" pitchFamily="34" charset="-120"/>
              </a:rPr>
              <a:t>PROD</a:t>
            </a:r>
            <a:endParaRPr lang="en-US" sz="1700" dirty="0"/>
          </a:p>
        </p:txBody>
      </p:sp>
      <p:sp>
        <p:nvSpPr>
          <p:cNvPr id="20" name="Text 13"/>
          <p:cNvSpPr/>
          <p:nvPr/>
        </p:nvSpPr>
        <p:spPr>
          <a:xfrm>
            <a:off x="566928" y="2834640"/>
            <a:ext cx="11057839" cy="320040"/>
          </a:xfrm>
          <a:prstGeom prst="rect">
            <a:avLst/>
          </a:prstGeom>
          <a:noFill/>
          <a:ln/>
        </p:spPr>
        <p:txBody>
          <a:bodyPr wrap="square" lIns="0" tIns="0" rIns="0" bIns="0" rtlCol="0" anchor="ctr"/>
          <a:lstStyle/>
          <a:p>
            <a:pPr algn="ctr" indent="0" marL="0">
              <a:buNone/>
            </a:pPr>
            <a:r>
              <a:rPr lang="en-US" sz="1250" i="1" dirty="0">
                <a:solidFill>
                  <a:srgbClr val="8194A8"/>
                </a:solidFill>
                <a:latin typeface="Calibri" pitchFamily="34" charset="0"/>
                <a:ea typeface="Calibri" pitchFamily="34" charset="-122"/>
                <a:cs typeface="Calibri" pitchFamily="34" charset="-120"/>
              </a:rPr>
              <a:t>Each wave gated by the previous wave's exit criteria · batched 10–20 DBs · TLS and TDE progress independently</a:t>
            </a:r>
            <a:endParaRPr lang="en-US" sz="1250" dirty="0"/>
          </a:p>
        </p:txBody>
      </p:sp>
      <p:sp>
        <p:nvSpPr>
          <p:cNvPr id="21" name="Shape 14"/>
          <p:cNvSpPr/>
          <p:nvPr/>
        </p:nvSpPr>
        <p:spPr>
          <a:xfrm>
            <a:off x="566928" y="3291840"/>
            <a:ext cx="3472586" cy="2926080"/>
          </a:xfrm>
          <a:prstGeom prst="roundRect">
            <a:avLst>
              <a:gd name="adj" fmla="val 2500"/>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2" name="Shape 15"/>
          <p:cNvSpPr/>
          <p:nvPr/>
        </p:nvSpPr>
        <p:spPr>
          <a:xfrm>
            <a:off x="822960" y="3520440"/>
            <a:ext cx="566928" cy="566928"/>
          </a:xfrm>
          <a:prstGeom prst="ellipse">
            <a:avLst/>
          </a:prstGeom>
          <a:solidFill>
            <a:srgbClr val="C6881B"/>
          </a:solidFill>
          <a:ln/>
        </p:spPr>
        <p:txBody>
          <a:bodyPr/>
          <a:p/>
        </p:txBody>
      </p:sp>
      <p:pic>
        <p:nvPicPr>
          <p:cNvPr id="23" name="Image 5" descr="preencoded.png">    </p:cNvPr>
          <p:cNvPicPr>
            <a:picLocks noChangeAspect="1"/>
          </p:cNvPicPr>
          <p:nvPr/>
        </p:nvPicPr>
        <p:blipFill>
          <a:blip r:embed="rId6"/>
          <a:stretch>
            <a:fillRect/>
          </a:stretch>
        </p:blipFill>
        <p:spPr>
          <a:xfrm>
            <a:off x="970361" y="3667841"/>
            <a:ext cx="272125" cy="272125"/>
          </a:xfrm>
          <a:prstGeom prst="rect">
            <a:avLst/>
          </a:prstGeom>
        </p:spPr>
      </p:pic>
      <p:sp>
        <p:nvSpPr>
          <p:cNvPr id="24" name="Text 16"/>
          <p:cNvSpPr/>
          <p:nvPr/>
        </p:nvSpPr>
        <p:spPr>
          <a:xfrm>
            <a:off x="1481328" y="3520440"/>
            <a:ext cx="2421026" cy="566928"/>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Pilot proves &amp; measures</a:t>
            </a:r>
            <a:endParaRPr lang="en-US" sz="1550" dirty="0"/>
          </a:p>
        </p:txBody>
      </p:sp>
      <p:sp>
        <p:nvSpPr>
          <p:cNvPr id="25" name="Text 17"/>
          <p:cNvSpPr/>
          <p:nvPr/>
        </p:nvSpPr>
        <p:spPr>
          <a:xfrm>
            <a:off x="841248" y="4251960"/>
            <a:ext cx="2969666" cy="182880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2–3 representative DBs (CDB, non-CDB, one with DG)</a:t>
            </a:r>
            <a:endParaRPr lang="en-US" sz="1230" dirty="0"/>
          </a:p>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Capture TDE performance baselines on POWER</a:t>
            </a:r>
            <a:endParaRPr lang="en-US" sz="1230" dirty="0"/>
          </a:p>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Prove runbooks and rollback at least once</a:t>
            </a:r>
            <a:endParaRPr lang="en-US" sz="1230" dirty="0"/>
          </a:p>
        </p:txBody>
      </p:sp>
      <p:sp>
        <p:nvSpPr>
          <p:cNvPr id="26" name="Shape 18"/>
          <p:cNvSpPr/>
          <p:nvPr/>
        </p:nvSpPr>
        <p:spPr>
          <a:xfrm>
            <a:off x="4359554" y="3291840"/>
            <a:ext cx="3472586" cy="2926080"/>
          </a:xfrm>
          <a:prstGeom prst="roundRect">
            <a:avLst>
              <a:gd name="adj" fmla="val 2500"/>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27" name="Shape 19"/>
          <p:cNvSpPr/>
          <p:nvPr/>
        </p:nvSpPr>
        <p:spPr>
          <a:xfrm>
            <a:off x="4615586" y="3520440"/>
            <a:ext cx="566928" cy="566928"/>
          </a:xfrm>
          <a:prstGeom prst="ellipse">
            <a:avLst/>
          </a:prstGeom>
          <a:solidFill>
            <a:srgbClr val="0F8B85"/>
          </a:solidFill>
          <a:ln/>
        </p:spPr>
        <p:txBody>
          <a:bodyPr/>
          <a:p/>
        </p:txBody>
      </p:sp>
      <p:pic>
        <p:nvPicPr>
          <p:cNvPr id="28" name="Image 6" descr="preencoded.png">    </p:cNvPr>
          <p:cNvPicPr>
            <a:picLocks noChangeAspect="1"/>
          </p:cNvPicPr>
          <p:nvPr/>
        </p:nvPicPr>
        <p:blipFill>
          <a:blip r:embed="rId7"/>
          <a:stretch>
            <a:fillRect/>
          </a:stretch>
        </p:blipFill>
        <p:spPr>
          <a:xfrm>
            <a:off x="4762988" y="3667841"/>
            <a:ext cx="272125" cy="272125"/>
          </a:xfrm>
          <a:prstGeom prst="rect">
            <a:avLst/>
          </a:prstGeom>
        </p:spPr>
      </p:pic>
      <p:sp>
        <p:nvSpPr>
          <p:cNvPr id="29" name="Text 20"/>
          <p:cNvSpPr/>
          <p:nvPr/>
        </p:nvSpPr>
        <p:spPr>
          <a:xfrm>
            <a:off x="5273954" y="3520440"/>
            <a:ext cx="2421026" cy="566928"/>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The long pole (TLS)</a:t>
            </a:r>
            <a:endParaRPr lang="en-US" sz="1550" dirty="0"/>
          </a:p>
        </p:txBody>
      </p:sp>
      <p:sp>
        <p:nvSpPr>
          <p:cNvPr id="30" name="Text 21"/>
          <p:cNvSpPr/>
          <p:nvPr/>
        </p:nvSpPr>
        <p:spPr>
          <a:xfrm>
            <a:off x="4633874" y="4251960"/>
            <a:ext cx="2969666" cy="182880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App truststore + connect-string migration</a:t>
            </a:r>
            <a:endParaRPr lang="en-US" sz="1230" dirty="0"/>
          </a:p>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Runs in parallel via dual-port coexistence</a:t>
            </a:r>
            <a:endParaRPr lang="en-US" sz="1230" dirty="0"/>
          </a:p>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Start early — it sets the PROD timeline</a:t>
            </a:r>
            <a:endParaRPr lang="en-US" sz="1230" dirty="0"/>
          </a:p>
        </p:txBody>
      </p:sp>
      <p:sp>
        <p:nvSpPr>
          <p:cNvPr id="31" name="Shape 22"/>
          <p:cNvSpPr/>
          <p:nvPr/>
        </p:nvSpPr>
        <p:spPr>
          <a:xfrm>
            <a:off x="8152181" y="3291840"/>
            <a:ext cx="3472586" cy="2926080"/>
          </a:xfrm>
          <a:prstGeom prst="roundRect">
            <a:avLst>
              <a:gd name="adj" fmla="val 2500"/>
            </a:avLst>
          </a:prstGeom>
          <a:solidFill>
            <a:srgbClr val="F3F6FA"/>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32" name="Shape 23"/>
          <p:cNvSpPr/>
          <p:nvPr/>
        </p:nvSpPr>
        <p:spPr>
          <a:xfrm>
            <a:off x="8408213" y="3520440"/>
            <a:ext cx="566928" cy="566928"/>
          </a:xfrm>
          <a:prstGeom prst="ellipse">
            <a:avLst/>
          </a:prstGeom>
          <a:solidFill>
            <a:srgbClr val="12223F"/>
          </a:solidFill>
          <a:ln/>
        </p:spPr>
        <p:txBody>
          <a:bodyPr/>
          <a:p/>
        </p:txBody>
      </p:sp>
      <p:pic>
        <p:nvPicPr>
          <p:cNvPr id="33" name="Image 7" descr="preencoded.png">    </p:cNvPr>
          <p:cNvPicPr>
            <a:picLocks noChangeAspect="1"/>
          </p:cNvPicPr>
          <p:nvPr/>
        </p:nvPicPr>
        <p:blipFill>
          <a:blip r:embed="rId8"/>
          <a:stretch>
            <a:fillRect/>
          </a:stretch>
        </p:blipFill>
        <p:spPr>
          <a:xfrm>
            <a:off x="8555614" y="3667841"/>
            <a:ext cx="272125" cy="272125"/>
          </a:xfrm>
          <a:prstGeom prst="rect">
            <a:avLst/>
          </a:prstGeom>
        </p:spPr>
      </p:pic>
      <p:sp>
        <p:nvSpPr>
          <p:cNvPr id="34" name="Text 24"/>
          <p:cNvSpPr/>
          <p:nvPr/>
        </p:nvSpPr>
        <p:spPr>
          <a:xfrm>
            <a:off x="9066581" y="3520440"/>
            <a:ext cx="2421026" cy="566928"/>
          </a:xfrm>
          <a:prstGeom prst="rect">
            <a:avLst/>
          </a:prstGeom>
          <a:noFill/>
          <a:ln/>
        </p:spPr>
        <p:txBody>
          <a:bodyPr wrap="square" lIns="0" tIns="0" rIns="0" bIns="0" rtlCol="0" anchor="ctr"/>
          <a:lstStyle/>
          <a:p>
            <a:pPr indent="0" marL="0">
              <a:buNone/>
            </a:pPr>
            <a:r>
              <a:rPr lang="en-US" sz="1550" b="1" dirty="0">
                <a:solidFill>
                  <a:srgbClr val="1C2A3E"/>
                </a:solidFill>
                <a:latin typeface="Cambria" pitchFamily="34" charset="0"/>
                <a:ea typeface="Cambria" pitchFamily="34" charset="-122"/>
                <a:cs typeface="Cambria" pitchFamily="34" charset="-120"/>
              </a:rPr>
              <a:t>Cross-cutting gates</a:t>
            </a:r>
            <a:endParaRPr lang="en-US" sz="1550" dirty="0"/>
          </a:p>
        </p:txBody>
      </p:sp>
      <p:sp>
        <p:nvSpPr>
          <p:cNvPr id="35" name="Text 25"/>
          <p:cNvSpPr/>
          <p:nvPr/>
        </p:nvSpPr>
        <p:spPr>
          <a:xfrm>
            <a:off x="8426501" y="4251960"/>
            <a:ext cx="2969666" cy="1828800"/>
          </a:xfrm>
          <a:prstGeom prst="rect">
            <a:avLst/>
          </a:prstGeom>
          <a:noFill/>
          <a:ln/>
        </p:spPr>
        <p:txBody>
          <a:bodyPr wrap="square" lIns="0" tIns="0" rIns="0" bIns="0" rtlCol="0" anchor="ctr"/>
          <a:lstStyle/>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Data Guard health green before &amp; after</a:t>
            </a:r>
            <a:endParaRPr lang="en-US" sz="1230" dirty="0"/>
          </a:p>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Keystore backup verified after every key op</a:t>
            </a:r>
            <a:endParaRPr lang="en-US" sz="1230" dirty="0"/>
          </a:p>
          <a:p>
            <a:pPr marL="342900" indent="-342900">
              <a:lnSpc>
                <a:spcPct val="105000"/>
              </a:lnSpc>
              <a:spcAft>
                <a:spcPts val="800"/>
              </a:spcAft>
              <a:buSzPct val="100000"/>
              <a:buChar char="•"/>
            </a:pPr>
            <a:r>
              <a:rPr lang="en-US" sz="1230" dirty="0">
                <a:solidFill>
                  <a:srgbClr val="44586E"/>
                </a:solidFill>
                <a:latin typeface="Calibri" pitchFamily="34" charset="0"/>
                <a:ea typeface="Calibri" pitchFamily="34" charset="-122"/>
                <a:cs typeface="Calibri" pitchFamily="34" charset="-120"/>
              </a:rPr>
              <a:t>Cert expiry monitoring live before TCPS</a:t>
            </a:r>
            <a:endParaRPr lang="en-US" sz="12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bg>
      <p:bgPr>
        <a:solidFill>
          <a:srgbClr val="12223F"/>
        </a:solidFill>
      </p:bgPr>
    </p:bg>
    <p:spTree>
      <p:nvGrpSpPr>
        <p:cNvPr id="1" name=""/>
        <p:cNvGrpSpPr/>
        <p:nvPr/>
      </p:nvGrpSpPr>
      <p:grpSpPr>
        <a:xfrm>
          <a:off x="0" y="0"/>
          <a:ext cx="0" cy="0"/>
          <a:chOff x="0" y="0"/>
          <a:chExt cx="0" cy="0"/>
        </a:xfrm>
      </p:grpSpPr>
      <p:sp>
        <p:nvSpPr>
          <p:cNvPr id="2" name="Text 0"/>
          <p:cNvSpPr/>
          <p:nvPr/>
        </p:nvSpPr>
        <p:spPr>
          <a:xfrm>
            <a:off x="566928" y="548640"/>
            <a:ext cx="7315200" cy="320040"/>
          </a:xfrm>
          <a:prstGeom prst="rect">
            <a:avLst/>
          </a:prstGeom>
          <a:noFill/>
          <a:ln/>
        </p:spPr>
        <p:txBody>
          <a:bodyPr wrap="square" lIns="0" tIns="0" rIns="0" bIns="0" rtlCol="0" anchor="ctr"/>
          <a:lstStyle/>
          <a:p>
            <a:pPr indent="0" marL="0">
              <a:buNone/>
            </a:pPr>
            <a:r>
              <a:rPr lang="en-US" sz="1300" b="1" spc="300" kern="0" dirty="0">
                <a:solidFill>
                  <a:srgbClr val="8194A8"/>
                </a:solidFill>
                <a:latin typeface="Calibri" pitchFamily="34" charset="0"/>
                <a:ea typeface="Calibri" pitchFamily="34" charset="-122"/>
                <a:cs typeface="Calibri" pitchFamily="34" charset="-120"/>
              </a:rPr>
              <a:t>IN SUMMARY</a:t>
            </a:r>
            <a:endParaRPr lang="en-US" sz="1300" dirty="0"/>
          </a:p>
        </p:txBody>
      </p:sp>
      <p:sp>
        <p:nvSpPr>
          <p:cNvPr id="3" name="Text 1"/>
          <p:cNvSpPr/>
          <p:nvPr/>
        </p:nvSpPr>
        <p:spPr>
          <a:xfrm>
            <a:off x="566928" y="841248"/>
            <a:ext cx="11057839"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Two controls, two tracks, one disciplined rollout</a:t>
            </a:r>
            <a:endParaRPr lang="en-US" sz="2800" dirty="0"/>
          </a:p>
        </p:txBody>
      </p:sp>
      <p:sp>
        <p:nvSpPr>
          <p:cNvPr id="4" name="Shape 2"/>
          <p:cNvSpPr/>
          <p:nvPr/>
        </p:nvSpPr>
        <p:spPr>
          <a:xfrm>
            <a:off x="566928" y="1783080"/>
            <a:ext cx="5346040" cy="1371600"/>
          </a:xfrm>
          <a:prstGeom prst="roundRect">
            <a:avLst>
              <a:gd name="adj" fmla="val 5333"/>
            </a:avLst>
          </a:prstGeom>
          <a:solidFill>
            <a:srgbClr val="1B3357"/>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5" name="Shape 3"/>
          <p:cNvSpPr/>
          <p:nvPr/>
        </p:nvSpPr>
        <p:spPr>
          <a:xfrm>
            <a:off x="841248" y="2011680"/>
            <a:ext cx="566928" cy="566928"/>
          </a:xfrm>
          <a:prstGeom prst="ellipse">
            <a:avLst/>
          </a:prstGeom>
          <a:solidFill>
            <a:srgbClr val="0F8B85"/>
          </a:solidFill>
          <a:ln/>
        </p:spPr>
        <p:txBody>
          <a:bodyPr/>
          <a:p/>
        </p:txBody>
      </p:sp>
      <p:pic>
        <p:nvPicPr>
          <p:cNvPr id="6" name="Image 0" descr="preencoded.png">    </p:cNvPr>
          <p:cNvPicPr>
            <a:picLocks noChangeAspect="1"/>
          </p:cNvPicPr>
          <p:nvPr/>
        </p:nvPicPr>
        <p:blipFill>
          <a:blip r:embed="rId1"/>
          <a:stretch>
            <a:fillRect/>
          </a:stretch>
        </p:blipFill>
        <p:spPr>
          <a:xfrm>
            <a:off x="988649" y="2159081"/>
            <a:ext cx="272125" cy="272125"/>
          </a:xfrm>
          <a:prstGeom prst="rect">
            <a:avLst/>
          </a:prstGeom>
        </p:spPr>
      </p:pic>
      <p:sp>
        <p:nvSpPr>
          <p:cNvPr id="7" name="Text 4"/>
          <p:cNvSpPr/>
          <p:nvPr/>
        </p:nvSpPr>
        <p:spPr>
          <a:xfrm>
            <a:off x="1499616" y="2011680"/>
            <a:ext cx="4248760" cy="566928"/>
          </a:xfrm>
          <a:prstGeom prst="rect">
            <a:avLst/>
          </a:prstGeom>
          <a:noFill/>
          <a:ln/>
        </p:spPr>
        <p:txBody>
          <a:bodyPr wrap="square" lIns="0" tIns="0" rIns="0" bIns="0" rtlCol="0" anchor="ctr"/>
          <a:lstStyle/>
          <a:p>
            <a:pPr indent="0" marL="0">
              <a:buNone/>
            </a:pPr>
            <a:r>
              <a:rPr lang="en-US" sz="1400" b="1" dirty="0">
                <a:solidFill>
                  <a:srgbClr val="0F8B85"/>
                </a:solidFill>
                <a:latin typeface="Calibri" pitchFamily="34" charset="0"/>
                <a:ea typeface="Calibri" pitchFamily="34" charset="-122"/>
                <a:cs typeface="Calibri" pitchFamily="34" charset="-120"/>
              </a:rPr>
              <a:t>TLS  </a:t>
            </a:r>
            <a:pPr indent="0" marL="0">
              <a:buNone/>
            </a:pPr>
            <a:r>
              <a:rPr lang="en-US" sz="1400" dirty="0">
                <a:solidFill>
                  <a:srgbClr val="C7D2E0"/>
                </a:solidFill>
                <a:latin typeface="Calibri" pitchFamily="34" charset="0"/>
                <a:ea typeface="Calibri" pitchFamily="34" charset="-122"/>
                <a:cs typeface="Calibri" pitchFamily="34" charset="-120"/>
              </a:rPr>
              <a:t>runbook + scripts complete; verified live</a:t>
            </a:r>
            <a:endParaRPr lang="en-US" sz="1400" dirty="0"/>
          </a:p>
        </p:txBody>
      </p:sp>
      <p:sp>
        <p:nvSpPr>
          <p:cNvPr id="8" name="Text 5"/>
          <p:cNvSpPr/>
          <p:nvPr/>
        </p:nvSpPr>
        <p:spPr>
          <a:xfrm>
            <a:off x="841248" y="2606040"/>
            <a:ext cx="4797400" cy="457200"/>
          </a:xfrm>
          <a:prstGeom prst="rect">
            <a:avLst/>
          </a:prstGeom>
          <a:noFill/>
          <a:ln/>
        </p:spPr>
        <p:txBody>
          <a:bodyPr wrap="square" lIns="0" tIns="0" rIns="0" bIns="0" rtlCol="0" anchor="ctr"/>
          <a:lstStyle/>
          <a:p>
            <a:pPr indent="0" marL="0">
              <a:buNone/>
            </a:pPr>
            <a:r>
              <a:rPr lang="en-US" sz="1200" i="1" dirty="0">
                <a:solidFill>
                  <a:srgbClr val="8194A8"/>
                </a:solidFill>
                <a:latin typeface="Calibri" pitchFamily="34" charset="0"/>
                <a:ea typeface="Calibri" pitchFamily="34" charset="-122"/>
                <a:cs typeface="Calibri" pitchFamily="34" charset="-120"/>
              </a:rPr>
              <a:t>Reversible · dual-port coexistence · app migration is the long pole</a:t>
            </a:r>
            <a:endParaRPr lang="en-US" sz="1200" dirty="0"/>
          </a:p>
        </p:txBody>
      </p:sp>
      <p:sp>
        <p:nvSpPr>
          <p:cNvPr id="9" name="Shape 6"/>
          <p:cNvSpPr/>
          <p:nvPr/>
        </p:nvSpPr>
        <p:spPr>
          <a:xfrm>
            <a:off x="6278728" y="1783080"/>
            <a:ext cx="5346040" cy="1371600"/>
          </a:xfrm>
          <a:prstGeom prst="roundRect">
            <a:avLst>
              <a:gd name="adj" fmla="val 5333"/>
            </a:avLst>
          </a:prstGeom>
          <a:solidFill>
            <a:srgbClr val="1B3357"/>
          </a:solidFill>
          <a:ln w="12700">
            <a:solidFill>
              <a:srgbClr val="D8E0EA"/>
            </a:solidFill>
            <a:prstDash val="solid"/>
          </a:ln>
          <a:effectLst>
            <a:outerShdw sx="100000" sy="100000" kx="0" ky="0" algn="bl" rotWithShape="0" blurRad="88900" dist="38100" dir="5400000">
              <a:srgbClr val="1C2A3E">
                <a:alpha val="13000"/>
              </a:srgbClr>
            </a:outerShdw>
          </a:effectLst>
        </p:spPr>
        <p:txBody>
          <a:bodyPr/>
          <a:p/>
        </p:txBody>
      </p:sp>
      <p:sp>
        <p:nvSpPr>
          <p:cNvPr id="10" name="Shape 7"/>
          <p:cNvSpPr/>
          <p:nvPr/>
        </p:nvSpPr>
        <p:spPr>
          <a:xfrm>
            <a:off x="6553048" y="2011680"/>
            <a:ext cx="566928" cy="566928"/>
          </a:xfrm>
          <a:prstGeom prst="ellipse">
            <a:avLst/>
          </a:prstGeom>
          <a:solidFill>
            <a:srgbClr val="C6881B"/>
          </a:solidFill>
          <a:ln/>
        </p:spPr>
        <p:txBody>
          <a:bodyPr/>
          <a:p/>
        </p:txBody>
      </p:sp>
      <p:pic>
        <p:nvPicPr>
          <p:cNvPr id="11" name="Image 1" descr="preencoded.png">    </p:cNvPr>
          <p:cNvPicPr>
            <a:picLocks noChangeAspect="1"/>
          </p:cNvPicPr>
          <p:nvPr/>
        </p:nvPicPr>
        <p:blipFill>
          <a:blip r:embed="rId2"/>
          <a:stretch>
            <a:fillRect/>
          </a:stretch>
        </p:blipFill>
        <p:spPr>
          <a:xfrm>
            <a:off x="6700449" y="2159081"/>
            <a:ext cx="272125" cy="272125"/>
          </a:xfrm>
          <a:prstGeom prst="rect">
            <a:avLst/>
          </a:prstGeom>
        </p:spPr>
      </p:pic>
      <p:sp>
        <p:nvSpPr>
          <p:cNvPr id="12" name="Text 8"/>
          <p:cNvSpPr/>
          <p:nvPr/>
        </p:nvSpPr>
        <p:spPr>
          <a:xfrm>
            <a:off x="7211416" y="2011680"/>
            <a:ext cx="4248760" cy="566928"/>
          </a:xfrm>
          <a:prstGeom prst="rect">
            <a:avLst/>
          </a:prstGeom>
          <a:noFill/>
          <a:ln/>
        </p:spPr>
        <p:txBody>
          <a:bodyPr wrap="square" lIns="0" tIns="0" rIns="0" bIns="0" rtlCol="0" anchor="ctr"/>
          <a:lstStyle/>
          <a:p>
            <a:pPr indent="0" marL="0">
              <a:buNone/>
            </a:pPr>
            <a:r>
              <a:rPr lang="en-US" sz="1400" b="1" dirty="0">
                <a:solidFill>
                  <a:srgbClr val="C6881B"/>
                </a:solidFill>
                <a:latin typeface="Calibri" pitchFamily="34" charset="0"/>
                <a:ea typeface="Calibri" pitchFamily="34" charset="-122"/>
                <a:cs typeface="Calibri" pitchFamily="34" charset="-120"/>
              </a:rPr>
              <a:t>TDE  </a:t>
            </a:r>
            <a:pPr indent="0" marL="0">
              <a:buNone/>
            </a:pPr>
            <a:r>
              <a:rPr lang="en-US" sz="1400" dirty="0">
                <a:solidFill>
                  <a:srgbClr val="C7D2E0"/>
                </a:solidFill>
                <a:latin typeface="Calibri" pitchFamily="34" charset="0"/>
                <a:ea typeface="Calibri" pitchFamily="34" charset="-122"/>
                <a:cs typeface="Calibri" pitchFamily="34" charset="-120"/>
              </a:rPr>
              <a:t>chain verified on 19.27; AIX items open</a:t>
            </a:r>
            <a:endParaRPr lang="en-US" sz="1400" dirty="0"/>
          </a:p>
        </p:txBody>
      </p:sp>
      <p:sp>
        <p:nvSpPr>
          <p:cNvPr id="13" name="Text 9"/>
          <p:cNvSpPr/>
          <p:nvPr/>
        </p:nvSpPr>
        <p:spPr>
          <a:xfrm>
            <a:off x="6553048" y="2606040"/>
            <a:ext cx="4797400" cy="457200"/>
          </a:xfrm>
          <a:prstGeom prst="rect">
            <a:avLst/>
          </a:prstGeom>
          <a:noFill/>
          <a:ln/>
        </p:spPr>
        <p:txBody>
          <a:bodyPr wrap="square" lIns="0" tIns="0" rIns="0" bIns="0" rtlCol="0" anchor="ctr"/>
          <a:lstStyle/>
          <a:p>
            <a:pPr indent="0" marL="0">
              <a:buNone/>
            </a:pPr>
            <a:r>
              <a:rPr lang="en-US" sz="1200" i="1" dirty="0">
                <a:solidFill>
                  <a:srgbClr val="8194A8"/>
                </a:solidFill>
                <a:latin typeface="Calibri" pitchFamily="34" charset="0"/>
                <a:ea typeface="Calibri" pitchFamily="34" charset="-122"/>
                <a:cs typeface="Calibri" pitchFamily="34" charset="-120"/>
              </a:rPr>
              <a:t>Forward-only · start local → OKV · keys are the crown jewels</a:t>
            </a:r>
            <a:endParaRPr lang="en-US" sz="1200" dirty="0"/>
          </a:p>
        </p:txBody>
      </p:sp>
      <p:sp>
        <p:nvSpPr>
          <p:cNvPr id="14" name="Text 10"/>
          <p:cNvSpPr/>
          <p:nvPr/>
        </p:nvSpPr>
        <p:spPr>
          <a:xfrm>
            <a:off x="566928" y="3383280"/>
            <a:ext cx="7315200" cy="274320"/>
          </a:xfrm>
          <a:prstGeom prst="rect">
            <a:avLst/>
          </a:prstGeom>
          <a:noFill/>
          <a:ln/>
        </p:spPr>
        <p:txBody>
          <a:bodyPr wrap="square" lIns="0" tIns="0" rIns="0" bIns="0" rtlCol="0" anchor="ctr"/>
          <a:lstStyle/>
          <a:p>
            <a:pPr indent="0" marL="0">
              <a:buNone/>
            </a:pPr>
            <a:r>
              <a:rPr lang="en-US" sz="1200" b="1" spc="200" kern="0" dirty="0">
                <a:solidFill>
                  <a:srgbClr val="C6881B"/>
                </a:solidFill>
                <a:latin typeface="Calibri" pitchFamily="34" charset="0"/>
                <a:ea typeface="Calibri" pitchFamily="34" charset="-122"/>
                <a:cs typeface="Calibri" pitchFamily="34" charset="-120"/>
              </a:rPr>
              <a:t>IMMEDIATE NEXT STEPS</a:t>
            </a:r>
            <a:endParaRPr lang="en-US" sz="1200" dirty="0"/>
          </a:p>
        </p:txBody>
      </p:sp>
      <p:sp>
        <p:nvSpPr>
          <p:cNvPr id="15" name="Shape 11"/>
          <p:cNvSpPr/>
          <p:nvPr/>
        </p:nvSpPr>
        <p:spPr>
          <a:xfrm>
            <a:off x="566928" y="3749040"/>
            <a:ext cx="457200" cy="457200"/>
          </a:xfrm>
          <a:prstGeom prst="ellipse">
            <a:avLst/>
          </a:prstGeom>
          <a:solidFill>
            <a:srgbClr val="C6881B"/>
          </a:solidFill>
          <a:ln/>
        </p:spPr>
        <p:txBody>
          <a:bodyPr/>
          <a:p/>
        </p:txBody>
      </p:sp>
      <p:sp>
        <p:nvSpPr>
          <p:cNvPr id="16" name="Text 12"/>
          <p:cNvSpPr/>
          <p:nvPr/>
        </p:nvSpPr>
        <p:spPr>
          <a:xfrm>
            <a:off x="566928" y="3749040"/>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17" name="Text 13"/>
          <p:cNvSpPr/>
          <p:nvPr/>
        </p:nvSpPr>
        <p:spPr>
          <a:xfrm>
            <a:off x="1207008" y="3721608"/>
            <a:ext cx="10234879"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Select &amp; schedule the pilot   </a:t>
            </a:r>
            <a:pPr indent="0" marL="0">
              <a:buNone/>
            </a:pPr>
            <a:r>
              <a:rPr lang="en-US" sz="1400" dirty="0">
                <a:solidFill>
                  <a:srgbClr val="9FB0C4"/>
                </a:solidFill>
                <a:latin typeface="Calibri" pitchFamily="34" charset="0"/>
                <a:ea typeface="Calibri" pitchFamily="34" charset="-122"/>
                <a:cs typeface="Calibri" pitchFamily="34" charset="-120"/>
              </a:rPr>
              <a:t>— 2–3 representative DBs on prod-class POWER hardware</a:t>
            </a:r>
            <a:endParaRPr lang="en-US" sz="1400" dirty="0"/>
          </a:p>
        </p:txBody>
      </p:sp>
      <p:sp>
        <p:nvSpPr>
          <p:cNvPr id="18" name="Shape 14"/>
          <p:cNvSpPr/>
          <p:nvPr/>
        </p:nvSpPr>
        <p:spPr>
          <a:xfrm>
            <a:off x="566928" y="4352544"/>
            <a:ext cx="457200" cy="457200"/>
          </a:xfrm>
          <a:prstGeom prst="ellipse">
            <a:avLst/>
          </a:prstGeom>
          <a:solidFill>
            <a:srgbClr val="0F8B85"/>
          </a:solidFill>
          <a:ln/>
        </p:spPr>
        <p:txBody>
          <a:bodyPr/>
          <a:p/>
        </p:txBody>
      </p:sp>
      <p:sp>
        <p:nvSpPr>
          <p:cNvPr id="19" name="Text 15"/>
          <p:cNvSpPr/>
          <p:nvPr/>
        </p:nvSpPr>
        <p:spPr>
          <a:xfrm>
            <a:off x="566928" y="4352544"/>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20" name="Text 16"/>
          <p:cNvSpPr/>
          <p:nvPr/>
        </p:nvSpPr>
        <p:spPr>
          <a:xfrm>
            <a:off x="1207008" y="4325112"/>
            <a:ext cx="10234879"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Confirm CA SAN process   </a:t>
            </a:r>
            <a:pPr indent="0" marL="0">
              <a:buNone/>
            </a:pPr>
            <a:r>
              <a:rPr lang="en-US" sz="1400" dirty="0">
                <a:solidFill>
                  <a:srgbClr val="9FB0C4"/>
                </a:solidFill>
                <a:latin typeface="Calibri" pitchFamily="34" charset="0"/>
                <a:ea typeface="Calibri" pitchFamily="34" charset="-122"/>
                <a:cs typeface="Calibri" pitchFamily="34" charset="-120"/>
              </a:rPr>
              <a:t>— Template that stamps CN=FQDN + DNS SANs; agree CSR SLA</a:t>
            </a:r>
            <a:endParaRPr lang="en-US" sz="1400" dirty="0"/>
          </a:p>
        </p:txBody>
      </p:sp>
      <p:sp>
        <p:nvSpPr>
          <p:cNvPr id="21" name="Shape 17"/>
          <p:cNvSpPr/>
          <p:nvPr/>
        </p:nvSpPr>
        <p:spPr>
          <a:xfrm>
            <a:off x="566928" y="4956048"/>
            <a:ext cx="457200" cy="457200"/>
          </a:xfrm>
          <a:prstGeom prst="ellipse">
            <a:avLst/>
          </a:prstGeom>
          <a:solidFill>
            <a:srgbClr val="1B3357"/>
          </a:solidFill>
          <a:ln/>
        </p:spPr>
        <p:txBody>
          <a:bodyPr/>
          <a:p/>
        </p:txBody>
      </p:sp>
      <p:sp>
        <p:nvSpPr>
          <p:cNvPr id="22" name="Text 18"/>
          <p:cNvSpPr/>
          <p:nvPr/>
        </p:nvSpPr>
        <p:spPr>
          <a:xfrm>
            <a:off x="566928" y="495604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3" name="Text 19"/>
          <p:cNvSpPr/>
          <p:nvPr/>
        </p:nvSpPr>
        <p:spPr>
          <a:xfrm>
            <a:off x="1207008" y="4928616"/>
            <a:ext cx="10234879"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Decide ANO interim &amp; OKV   </a:t>
            </a:r>
            <a:pPr indent="0" marL="0">
              <a:buNone/>
            </a:pPr>
            <a:r>
              <a:rPr lang="en-US" sz="1400" dirty="0">
                <a:solidFill>
                  <a:srgbClr val="9FB0C4"/>
                </a:solidFill>
                <a:latin typeface="Calibri" pitchFamily="34" charset="0"/>
                <a:ea typeface="Calibri" pitchFamily="34" charset="-122"/>
                <a:cs typeface="Calibri" pitchFamily="34" charset="-120"/>
              </a:rPr>
              <a:t>— Sponsor calls: quick-win native encryption; OKV licensing</a:t>
            </a:r>
            <a:endParaRPr lang="en-US" sz="1400" dirty="0"/>
          </a:p>
        </p:txBody>
      </p:sp>
      <p:sp>
        <p:nvSpPr>
          <p:cNvPr id="24" name="Shape 20"/>
          <p:cNvSpPr/>
          <p:nvPr/>
        </p:nvSpPr>
        <p:spPr>
          <a:xfrm>
            <a:off x="566928" y="5559552"/>
            <a:ext cx="457200" cy="457200"/>
          </a:xfrm>
          <a:prstGeom prst="ellipse">
            <a:avLst/>
          </a:prstGeom>
          <a:solidFill>
            <a:srgbClr val="0F8B85"/>
          </a:solidFill>
          <a:ln/>
        </p:spPr>
        <p:txBody>
          <a:bodyPr/>
          <a:p/>
        </p:txBody>
      </p:sp>
      <p:sp>
        <p:nvSpPr>
          <p:cNvPr id="25" name="Text 21"/>
          <p:cNvSpPr/>
          <p:nvPr/>
        </p:nvSpPr>
        <p:spPr>
          <a:xfrm>
            <a:off x="566928" y="5559552"/>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6" name="Text 22"/>
          <p:cNvSpPr/>
          <p:nvPr/>
        </p:nvSpPr>
        <p:spPr>
          <a:xfrm>
            <a:off x="1207008" y="5532120"/>
            <a:ext cx="10234879" cy="512064"/>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Engage app teams now   </a:t>
            </a:r>
            <a:pPr indent="0" marL="0">
              <a:buNone/>
            </a:pPr>
            <a:r>
              <a:rPr lang="en-US" sz="1400" dirty="0">
                <a:solidFill>
                  <a:srgbClr val="9FB0C4"/>
                </a:solidFill>
                <a:latin typeface="Calibri" pitchFamily="34" charset="0"/>
                <a:ea typeface="Calibri" pitchFamily="34" charset="-122"/>
                <a:cs typeface="Calibri" pitchFamily="34" charset="-120"/>
              </a:rPr>
              <a:t>— Kick off truststore + connect-string migration — the long pole</a:t>
            </a:r>
            <a:endParaRPr lang="en-US" sz="1400" dirty="0"/>
          </a:p>
        </p:txBody>
      </p:sp>
      <p:sp>
        <p:nvSpPr>
          <p:cNvPr id="27" name="Text 23"/>
          <p:cNvSpPr/>
          <p:nvPr/>
        </p:nvSpPr>
        <p:spPr>
          <a:xfrm>
            <a:off x="566928" y="6355080"/>
            <a:ext cx="11057839" cy="320040"/>
          </a:xfrm>
          <a:prstGeom prst="rect">
            <a:avLst/>
          </a:prstGeom>
          <a:noFill/>
          <a:ln/>
        </p:spPr>
        <p:txBody>
          <a:bodyPr wrap="square" lIns="0" tIns="0" rIns="0" bIns="0" rtlCol="0" anchor="ctr"/>
          <a:lstStyle/>
          <a:p>
            <a:pPr indent="0" marL="0">
              <a:buNone/>
            </a:pPr>
            <a:r>
              <a:rPr lang="en-US" sz="1150" dirty="0">
                <a:solidFill>
                  <a:srgbClr val="8194A8"/>
                </a:solidFill>
                <a:latin typeface="Consolas" pitchFamily="34" charset="0"/>
                <a:ea typeface="Consolas" pitchFamily="34" charset="-122"/>
                <a:cs typeface="Consolas" pitchFamily="34" charset="-120"/>
              </a:rPr>
              <a:t>Documentation: docs/00–04  ·  Scripts: scripts/tls · scripts/tde · scripts/dg</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Oracle Fleet Encryption — TLS &amp; TDE</dc:title>
  <dc:subject>PptxGenJS Presentation</dc:subject>
  <dc:creator>CSOB DBA / Engineering</dc:creator>
  <cp:lastModifiedBy>CSOB DBA / Engineering</cp:lastModifiedBy>
  <cp:revision>1</cp:revision>
  <dcterms:created xsi:type="dcterms:W3CDTF">2026-07-07T08:14:35Z</dcterms:created>
  <dcterms:modified xsi:type="dcterms:W3CDTF">2026-07-07T08:14:35Z</dcterms:modified>
</cp:coreProperties>
</file>